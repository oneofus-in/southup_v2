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rimo" panose="020B0604020202020204" charset="0"/>
      <p:regular r:id="rId21"/>
    </p:embeddedFont>
    <p:embeddedFont>
      <p:font typeface="Arimo Bold" panose="020B0604020202020204" charset="0"/>
      <p:regular r:id="rId22"/>
    </p:embeddedFont>
    <p:embeddedFont>
      <p:font typeface="Caldina" panose="020B0604020202020204" charset="0"/>
      <p:regular r:id="rId23"/>
    </p:embeddedFont>
    <p:embeddedFont>
      <p:font typeface="Caldina Bold" panose="020B0604020202020204" charset="0"/>
      <p:regular r:id="rId24"/>
    </p:embeddedFont>
    <p:embeddedFont>
      <p:font typeface="Calibri (MS)" panose="020B0604020202020204" charset="0"/>
      <p:regular r:id="rId25"/>
    </p:embeddedFont>
    <p:embeddedFont>
      <p:font typeface="Calibri (MS) Bold" panose="020B0604020202020204" charset="0"/>
      <p:regular r:id="rId26"/>
    </p:embeddedFont>
    <p:embeddedFont>
      <p:font typeface="Open Sa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hyperlink" Target="https://www.linkedin.com/in/gil-shwarsman-304290212/" TargetMode="External"/><Relationship Id="rId3" Type="http://schemas.openxmlformats.org/officeDocument/2006/relationships/image" Target="../media/image13.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www.linkedin.com/in/yaarit-wainberg-947b2783/" TargetMode="External"/><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hyperlink" Target="https://www.linkedin.com/in/shahar-belkin-0b01079/"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svg"/><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sv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5.png"/><Relationship Id="rId2"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svg"/><Relationship Id="rId7" Type="http://schemas.openxmlformats.org/officeDocument/2006/relationships/image" Target="../media/image51.png"/><Relationship Id="rId2"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39.svg"/><Relationship Id="rId7" Type="http://schemas.openxmlformats.org/officeDocument/2006/relationships/image" Target="../media/image55.png"/><Relationship Id="rId2"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57.png"/></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hyperlink" Target="https://www.mako.co.il/news-n12_magazine/7c2e4b3aeab21910/Article-104d2a0006b1291026.htm" TargetMode="External"/><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hyperlink" Target="https://www.themarker.com/weekend/2025-04-11/ty-article-magazine/.highlight/00000196-157b-d294-ad97-bf7f59450000" TargetMode="External"/><Relationship Id="rId5" Type="http://schemas.openxmlformats.org/officeDocument/2006/relationships/hyperlink" Target="https://www.israeldefense.co.il/node/67609" TargetMode="External"/><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8" Type="http://schemas.openxmlformats.org/officeDocument/2006/relationships/hyperlink" Target="https://www.linkedin.com/posts/southup1_%D7%92%D7%99%D7%9C-%D7%A9%D7%95%D7%95%D7%A8%D7%A6%D7%9E%D7%9F-%D7%9E%D7%A0%D7%9B%D7%9C-southup-%D7%94%D7%AA%D7%A8%D7%90%D7%99%D7%99%D7%9F-%D7%90%D7%A6%D7%9C-%D7%93%D7%A0%D7%99-ugcPost-7330180397256929283-IuLr?utm_source=share&amp;utm_medium=member_desktop&amp;rcm=ACoAAADJLBAB1D0To0nQrEC8_Bbe7soiSFUxsZ4" TargetMode="External"/><Relationship Id="rId13" Type="http://schemas.openxmlformats.org/officeDocument/2006/relationships/hyperlink" Target="https://www.ynet.co.il/digital/technology/article/hkoyn1dg6" TargetMode="External"/><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hyperlink" Target="https://www.youtube.com/watch?v=6_mCQBbvBjA" TargetMode="External"/><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hyperlink" Target="https://www.globes.co.il/news/article.aspx?did=1001476059" TargetMode="External"/><Relationship Id="rId5" Type="http://schemas.openxmlformats.org/officeDocument/2006/relationships/image" Target="../media/image67.png"/><Relationship Id="rId10" Type="http://schemas.openxmlformats.org/officeDocument/2006/relationships/hyperlink" Target="https://news.walla.co.il/item/3749321" TargetMode="External"/><Relationship Id="rId4" Type="http://schemas.openxmlformats.org/officeDocument/2006/relationships/image" Target="../media/image66.png"/><Relationship Id="rId9" Type="http://schemas.openxmlformats.org/officeDocument/2006/relationships/hyperlink" Target="https://www.globes.co.il/news/article.aspx?did=1001486154"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drive.google.com/file/d/1bcNBxTnqgv6HmqUVrRwnwEC8WZ8XYUdP/view?usp=sharing" TargetMode="External"/><Relationship Id="rId3" Type="http://schemas.openxmlformats.org/officeDocument/2006/relationships/image" Target="../media/image71.png"/><Relationship Id="rId7" Type="http://schemas.openxmlformats.org/officeDocument/2006/relationships/hyperlink" Target="https://drive.google.com/file/d/1sdxzvuWBxSBYqv-jyUi3rWVzdwAJAHip/view?usp=sharing" TargetMode="External"/><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hyperlink" Target="https://mailchi.mp/3374abd174db/southup-newsletter-jan-17615889" TargetMode="External"/><Relationship Id="rId5" Type="http://schemas.openxmlformats.org/officeDocument/2006/relationships/hyperlink" Target="https://mailchi.mp/0363f4ed156e/southup-newsletter-jan-17613554" TargetMode="External"/><Relationship Id="rId4" Type="http://schemas.openxmlformats.org/officeDocument/2006/relationships/hyperlink" Target="https://mailchi.mp/88ec3a37fc3f/southup-newsletter-jan-2025"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hyperlink" Target="https://ofirsouthup.vc"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902393"/>
            <a:ext cx="18230704" cy="10247124"/>
          </a:xfrm>
          <a:custGeom>
            <a:avLst/>
            <a:gdLst/>
            <a:ahLst/>
            <a:cxnLst/>
            <a:rect l="l" t="t" r="r" b="b"/>
            <a:pathLst>
              <a:path w="18230704" h="10247124">
                <a:moveTo>
                  <a:pt x="0" y="0"/>
                </a:moveTo>
                <a:lnTo>
                  <a:pt x="18230704" y="0"/>
                </a:lnTo>
                <a:lnTo>
                  <a:pt x="18230704" y="10247124"/>
                </a:lnTo>
                <a:lnTo>
                  <a:pt x="0" y="10247124"/>
                </a:lnTo>
                <a:lnTo>
                  <a:pt x="0" y="0"/>
                </a:lnTo>
                <a:close/>
              </a:path>
            </a:pathLst>
          </a:custGeom>
          <a:blipFill>
            <a:blip r:embed="rId3"/>
            <a:stretch>
              <a:fillRect/>
            </a:stretch>
          </a:blipFill>
        </p:spPr>
        <p:txBody>
          <a:bodyPr/>
          <a:lstStyle/>
          <a:p>
            <a:endParaRPr lang="he-IL"/>
          </a:p>
        </p:txBody>
      </p:sp>
      <p:grpSp>
        <p:nvGrpSpPr>
          <p:cNvPr id="3" name="Group 3"/>
          <p:cNvGrpSpPr/>
          <p:nvPr/>
        </p:nvGrpSpPr>
        <p:grpSpPr>
          <a:xfrm>
            <a:off x="529876" y="5802778"/>
            <a:ext cx="3128483" cy="902839"/>
            <a:chOff x="0" y="0"/>
            <a:chExt cx="635000" cy="183253"/>
          </a:xfrm>
        </p:grpSpPr>
        <p:sp>
          <p:nvSpPr>
            <p:cNvPr id="4" name="Freeform 4"/>
            <p:cNvSpPr/>
            <p:nvPr/>
          </p:nvSpPr>
          <p:spPr>
            <a:xfrm>
              <a:off x="0" y="0"/>
              <a:ext cx="635000" cy="183253"/>
            </a:xfrm>
            <a:custGeom>
              <a:avLst/>
              <a:gdLst/>
              <a:ahLst/>
              <a:cxnLst/>
              <a:rect l="l" t="t" r="r" b="b"/>
              <a:pathLst>
                <a:path w="635000" h="183253">
                  <a:moveTo>
                    <a:pt x="48333" y="0"/>
                  </a:moveTo>
                  <a:lnTo>
                    <a:pt x="586667" y="0"/>
                  </a:lnTo>
                  <a:cubicBezTo>
                    <a:pt x="599486" y="0"/>
                    <a:pt x="611779" y="5092"/>
                    <a:pt x="620844" y="14156"/>
                  </a:cubicBezTo>
                  <a:cubicBezTo>
                    <a:pt x="629908" y="23221"/>
                    <a:pt x="635000" y="35514"/>
                    <a:pt x="635000" y="48333"/>
                  </a:cubicBezTo>
                  <a:lnTo>
                    <a:pt x="635000" y="134920"/>
                  </a:lnTo>
                  <a:cubicBezTo>
                    <a:pt x="635000" y="161613"/>
                    <a:pt x="613361" y="183253"/>
                    <a:pt x="586667" y="183253"/>
                  </a:cubicBezTo>
                  <a:lnTo>
                    <a:pt x="48333" y="183253"/>
                  </a:lnTo>
                  <a:cubicBezTo>
                    <a:pt x="35514" y="183253"/>
                    <a:pt x="23221" y="178160"/>
                    <a:pt x="14156" y="169096"/>
                  </a:cubicBezTo>
                  <a:cubicBezTo>
                    <a:pt x="5092" y="160032"/>
                    <a:pt x="0" y="147738"/>
                    <a:pt x="0" y="134920"/>
                  </a:cubicBezTo>
                  <a:lnTo>
                    <a:pt x="0" y="48333"/>
                  </a:lnTo>
                  <a:cubicBezTo>
                    <a:pt x="0" y="35514"/>
                    <a:pt x="5092" y="23221"/>
                    <a:pt x="14156" y="14156"/>
                  </a:cubicBezTo>
                  <a:cubicBezTo>
                    <a:pt x="23221" y="5092"/>
                    <a:pt x="35514" y="0"/>
                    <a:pt x="48333" y="0"/>
                  </a:cubicBezTo>
                  <a:close/>
                </a:path>
              </a:pathLst>
            </a:custGeom>
            <a:ln w="19050" cap="rnd">
              <a:solidFill>
                <a:srgbClr val="FFFFFF"/>
              </a:solidFill>
              <a:prstDash val="dash"/>
              <a:round/>
            </a:ln>
          </p:spPr>
          <p:txBody>
            <a:bodyPr/>
            <a:lstStyle/>
            <a:p>
              <a:endParaRPr lang="he-IL"/>
            </a:p>
          </p:txBody>
        </p:sp>
        <p:sp>
          <p:nvSpPr>
            <p:cNvPr id="5" name="TextBox 5"/>
            <p:cNvSpPr txBox="1"/>
            <p:nvPr/>
          </p:nvSpPr>
          <p:spPr>
            <a:xfrm>
              <a:off x="0" y="-123825"/>
              <a:ext cx="635000" cy="307078"/>
            </a:xfrm>
            <a:prstGeom prst="rect">
              <a:avLst/>
            </a:prstGeom>
          </p:spPr>
          <p:txBody>
            <a:bodyPr lIns="50800" tIns="50800" rIns="50800" bIns="50800" rtlCol="0" anchor="ctr"/>
            <a:lstStyle/>
            <a:p>
              <a:pPr algn="ctr">
                <a:lnSpc>
                  <a:spcPts val="4202"/>
                </a:lnSpc>
              </a:pPr>
              <a:endParaRPr/>
            </a:p>
          </p:txBody>
        </p:sp>
      </p:grpSp>
      <p:grpSp>
        <p:nvGrpSpPr>
          <p:cNvPr id="6" name="Group 6"/>
          <p:cNvGrpSpPr/>
          <p:nvPr/>
        </p:nvGrpSpPr>
        <p:grpSpPr>
          <a:xfrm>
            <a:off x="0" y="7016789"/>
            <a:ext cx="18433042" cy="1930488"/>
            <a:chOff x="0" y="0"/>
            <a:chExt cx="4854793" cy="508441"/>
          </a:xfrm>
        </p:grpSpPr>
        <p:sp>
          <p:nvSpPr>
            <p:cNvPr id="7" name="Freeform 7"/>
            <p:cNvSpPr/>
            <p:nvPr/>
          </p:nvSpPr>
          <p:spPr>
            <a:xfrm>
              <a:off x="0" y="0"/>
              <a:ext cx="4854793" cy="508441"/>
            </a:xfrm>
            <a:custGeom>
              <a:avLst/>
              <a:gdLst/>
              <a:ahLst/>
              <a:cxnLst/>
              <a:rect l="l" t="t" r="r" b="b"/>
              <a:pathLst>
                <a:path w="4854793" h="508441">
                  <a:moveTo>
                    <a:pt x="0" y="0"/>
                  </a:moveTo>
                  <a:lnTo>
                    <a:pt x="4854793" y="0"/>
                  </a:lnTo>
                  <a:lnTo>
                    <a:pt x="4854793" y="508441"/>
                  </a:lnTo>
                  <a:lnTo>
                    <a:pt x="0" y="508441"/>
                  </a:lnTo>
                  <a:close/>
                </a:path>
              </a:pathLst>
            </a:custGeom>
            <a:solidFill>
              <a:srgbClr val="767883"/>
            </a:solidFill>
          </p:spPr>
          <p:txBody>
            <a:bodyPr/>
            <a:lstStyle/>
            <a:p>
              <a:endParaRPr lang="he-IL"/>
            </a:p>
          </p:txBody>
        </p:sp>
        <p:sp>
          <p:nvSpPr>
            <p:cNvPr id="8" name="TextBox 8"/>
            <p:cNvSpPr txBox="1"/>
            <p:nvPr/>
          </p:nvSpPr>
          <p:spPr>
            <a:xfrm>
              <a:off x="0" y="-123825"/>
              <a:ext cx="4854793" cy="632266"/>
            </a:xfrm>
            <a:prstGeom prst="rect">
              <a:avLst/>
            </a:prstGeom>
          </p:spPr>
          <p:txBody>
            <a:bodyPr lIns="50800" tIns="50800" rIns="50800" bIns="50800" rtlCol="0" anchor="ctr"/>
            <a:lstStyle/>
            <a:p>
              <a:pPr algn="ctr">
                <a:lnSpc>
                  <a:spcPts val="4202"/>
                </a:lnSpc>
              </a:pPr>
              <a:endParaRPr/>
            </a:p>
          </p:txBody>
        </p:sp>
      </p:grpSp>
      <p:grpSp>
        <p:nvGrpSpPr>
          <p:cNvPr id="9" name="Group 9"/>
          <p:cNvGrpSpPr/>
          <p:nvPr/>
        </p:nvGrpSpPr>
        <p:grpSpPr>
          <a:xfrm rot="-174907">
            <a:off x="2457539" y="676306"/>
            <a:ext cx="2169900" cy="763419"/>
            <a:chOff x="0" y="0"/>
            <a:chExt cx="2893200" cy="1017892"/>
          </a:xfrm>
        </p:grpSpPr>
        <p:sp>
          <p:nvSpPr>
            <p:cNvPr id="10" name="Freeform 10"/>
            <p:cNvSpPr/>
            <p:nvPr/>
          </p:nvSpPr>
          <p:spPr>
            <a:xfrm>
              <a:off x="0" y="0"/>
              <a:ext cx="2893187" cy="1017905"/>
            </a:xfrm>
            <a:custGeom>
              <a:avLst/>
              <a:gdLst/>
              <a:ahLst/>
              <a:cxnLst/>
              <a:rect l="l" t="t" r="r" b="b"/>
              <a:pathLst>
                <a:path w="2893187" h="1017905">
                  <a:moveTo>
                    <a:pt x="0" y="0"/>
                  </a:moveTo>
                  <a:lnTo>
                    <a:pt x="2893187" y="0"/>
                  </a:lnTo>
                  <a:lnTo>
                    <a:pt x="2893187" y="1017905"/>
                  </a:lnTo>
                  <a:lnTo>
                    <a:pt x="0" y="1017905"/>
                  </a:lnTo>
                  <a:close/>
                </a:path>
              </a:pathLst>
            </a:custGeom>
            <a:blipFill>
              <a:blip r:embed="rId4">
                <a:alphaModFix amt="0"/>
              </a:blip>
              <a:stretch>
                <a:fillRect t="-5344" b="-5342"/>
              </a:stretch>
            </a:blipFill>
          </p:spPr>
          <p:txBody>
            <a:bodyPr/>
            <a:lstStyle/>
            <a:p>
              <a:endParaRPr lang="he-IL"/>
            </a:p>
          </p:txBody>
        </p:sp>
      </p:grpSp>
      <p:grpSp>
        <p:nvGrpSpPr>
          <p:cNvPr id="11" name="Group 11"/>
          <p:cNvGrpSpPr/>
          <p:nvPr/>
        </p:nvGrpSpPr>
        <p:grpSpPr>
          <a:xfrm>
            <a:off x="0" y="1021631"/>
            <a:ext cx="3940451" cy="1516077"/>
            <a:chOff x="0" y="0"/>
            <a:chExt cx="2893200" cy="1113150"/>
          </a:xfrm>
        </p:grpSpPr>
        <p:sp>
          <p:nvSpPr>
            <p:cNvPr id="12" name="Freeform 12"/>
            <p:cNvSpPr/>
            <p:nvPr/>
          </p:nvSpPr>
          <p:spPr>
            <a:xfrm>
              <a:off x="0" y="0"/>
              <a:ext cx="2893200" cy="1113145"/>
            </a:xfrm>
            <a:custGeom>
              <a:avLst/>
              <a:gdLst/>
              <a:ahLst/>
              <a:cxnLst/>
              <a:rect l="l" t="t" r="r" b="b"/>
              <a:pathLst>
                <a:path w="2893200" h="1113145">
                  <a:moveTo>
                    <a:pt x="0" y="0"/>
                  </a:moveTo>
                  <a:lnTo>
                    <a:pt x="2893200" y="0"/>
                  </a:lnTo>
                  <a:lnTo>
                    <a:pt x="2893200" y="1113145"/>
                  </a:lnTo>
                  <a:lnTo>
                    <a:pt x="0" y="1113145"/>
                  </a:lnTo>
                  <a:close/>
                </a:path>
              </a:pathLst>
            </a:custGeom>
            <a:blipFill>
              <a:blip r:embed="rId3">
                <a:alphaModFix amt="0"/>
              </a:blip>
              <a:stretch>
                <a:fillRect t="-36284" r="-2174" b="-12983"/>
              </a:stretch>
            </a:blipFill>
          </p:spPr>
          <p:txBody>
            <a:bodyPr/>
            <a:lstStyle/>
            <a:p>
              <a:endParaRPr lang="he-IL"/>
            </a:p>
          </p:txBody>
        </p:sp>
        <p:sp>
          <p:nvSpPr>
            <p:cNvPr id="13" name="TextBox 13"/>
            <p:cNvSpPr txBox="1"/>
            <p:nvPr/>
          </p:nvSpPr>
          <p:spPr>
            <a:xfrm>
              <a:off x="0" y="-95250"/>
              <a:ext cx="2893200" cy="1208400"/>
            </a:xfrm>
            <a:prstGeom prst="rect">
              <a:avLst/>
            </a:prstGeom>
          </p:spPr>
          <p:txBody>
            <a:bodyPr lIns="0" tIns="0" rIns="0" bIns="0" rtlCol="0" anchor="ctr"/>
            <a:lstStyle/>
            <a:p>
              <a:pPr algn="ctr">
                <a:lnSpc>
                  <a:spcPts val="3526"/>
                </a:lnSpc>
              </a:pPr>
              <a:r>
                <a:rPr lang="en-US" sz="2099" b="1">
                  <a:solidFill>
                    <a:srgbClr val="6C6C6C"/>
                  </a:solidFill>
                  <a:latin typeface="Open Sans Bold"/>
                  <a:ea typeface="Open Sans Bold"/>
                  <a:cs typeface="Open Sans Bold"/>
                  <a:sym typeface="Open Sans Bold"/>
                </a:rPr>
                <a:t>ENGISH/</a:t>
              </a:r>
              <a:r>
                <a:rPr lang="he-IL" sz="2099" b="1">
                  <a:solidFill>
                    <a:srgbClr val="6C6C6C"/>
                  </a:solidFill>
                  <a:latin typeface="Open Sans Bold"/>
                  <a:ea typeface="Open Sans Bold"/>
                  <a:cs typeface="Open Sans Bold"/>
                  <a:sym typeface="Open Sans Bold"/>
                  <a:rtl/>
                </a:rPr>
                <a:t>עברית</a:t>
              </a:r>
            </a:p>
          </p:txBody>
        </p:sp>
      </p:grpSp>
      <p:sp>
        <p:nvSpPr>
          <p:cNvPr id="14" name="AutoShape 14"/>
          <p:cNvSpPr/>
          <p:nvPr/>
        </p:nvSpPr>
        <p:spPr>
          <a:xfrm flipV="1">
            <a:off x="13626533" y="7311558"/>
            <a:ext cx="0" cy="1125623"/>
          </a:xfrm>
          <a:prstGeom prst="line">
            <a:avLst/>
          </a:prstGeom>
          <a:ln w="38100" cap="flat">
            <a:solidFill>
              <a:srgbClr val="FF8700"/>
            </a:solidFill>
            <a:prstDash val="solid"/>
            <a:headEnd type="none" w="sm" len="sm"/>
            <a:tailEnd type="none" w="sm" len="sm"/>
          </a:ln>
        </p:spPr>
        <p:txBody>
          <a:bodyPr/>
          <a:lstStyle/>
          <a:p>
            <a:endParaRPr lang="he-IL"/>
          </a:p>
        </p:txBody>
      </p:sp>
      <p:sp>
        <p:nvSpPr>
          <p:cNvPr id="15" name="AutoShape 15"/>
          <p:cNvSpPr/>
          <p:nvPr/>
        </p:nvSpPr>
        <p:spPr>
          <a:xfrm flipV="1">
            <a:off x="9314896" y="7321083"/>
            <a:ext cx="0" cy="1125623"/>
          </a:xfrm>
          <a:prstGeom prst="line">
            <a:avLst/>
          </a:prstGeom>
          <a:ln w="38100" cap="flat">
            <a:solidFill>
              <a:srgbClr val="FF8700"/>
            </a:solidFill>
            <a:prstDash val="solid"/>
            <a:headEnd type="none" w="sm" len="sm"/>
            <a:tailEnd type="none" w="sm" len="sm"/>
          </a:ln>
        </p:spPr>
        <p:txBody>
          <a:bodyPr/>
          <a:lstStyle/>
          <a:p>
            <a:endParaRPr lang="he-IL"/>
          </a:p>
        </p:txBody>
      </p:sp>
      <p:sp>
        <p:nvSpPr>
          <p:cNvPr id="16" name="AutoShape 16"/>
          <p:cNvSpPr/>
          <p:nvPr/>
        </p:nvSpPr>
        <p:spPr>
          <a:xfrm flipV="1">
            <a:off x="4937858" y="7311558"/>
            <a:ext cx="0" cy="1125623"/>
          </a:xfrm>
          <a:prstGeom prst="line">
            <a:avLst/>
          </a:prstGeom>
          <a:ln w="38100" cap="flat">
            <a:solidFill>
              <a:srgbClr val="FF8700"/>
            </a:solidFill>
            <a:prstDash val="solid"/>
            <a:headEnd type="none" w="sm" len="sm"/>
            <a:tailEnd type="none" w="sm" len="sm"/>
          </a:ln>
        </p:spPr>
        <p:txBody>
          <a:bodyPr/>
          <a:lstStyle/>
          <a:p>
            <a:endParaRPr lang="he-IL"/>
          </a:p>
        </p:txBody>
      </p:sp>
      <p:sp>
        <p:nvSpPr>
          <p:cNvPr id="17" name="AutoShape 17"/>
          <p:cNvSpPr/>
          <p:nvPr/>
        </p:nvSpPr>
        <p:spPr>
          <a:xfrm flipH="1">
            <a:off x="1168212" y="1002839"/>
            <a:ext cx="3058361" cy="4799939"/>
          </a:xfrm>
          <a:prstGeom prst="line">
            <a:avLst/>
          </a:prstGeom>
          <a:ln w="38100" cap="flat">
            <a:solidFill>
              <a:srgbClr val="767883"/>
            </a:solidFill>
            <a:prstDash val="solid"/>
            <a:headEnd type="none" w="sm" len="sm"/>
            <a:tailEnd type="triangle" w="lg" len="med"/>
          </a:ln>
        </p:spPr>
        <p:txBody>
          <a:bodyPr/>
          <a:lstStyle/>
          <a:p>
            <a:endParaRPr lang="he-IL"/>
          </a:p>
        </p:txBody>
      </p:sp>
      <p:grpSp>
        <p:nvGrpSpPr>
          <p:cNvPr id="18" name="Group 18"/>
          <p:cNvGrpSpPr/>
          <p:nvPr/>
        </p:nvGrpSpPr>
        <p:grpSpPr>
          <a:xfrm>
            <a:off x="-1311369" y="-2323192"/>
            <a:ext cx="20186163" cy="9339982"/>
            <a:chOff x="0" y="0"/>
            <a:chExt cx="5316520" cy="2459913"/>
          </a:xfrm>
        </p:grpSpPr>
        <p:sp>
          <p:nvSpPr>
            <p:cNvPr id="19" name="Freeform 19"/>
            <p:cNvSpPr/>
            <p:nvPr/>
          </p:nvSpPr>
          <p:spPr>
            <a:xfrm>
              <a:off x="0" y="0"/>
              <a:ext cx="5316520" cy="2459913"/>
            </a:xfrm>
            <a:custGeom>
              <a:avLst/>
              <a:gdLst/>
              <a:ahLst/>
              <a:cxnLst/>
              <a:rect l="l" t="t" r="r" b="b"/>
              <a:pathLst>
                <a:path w="5316520" h="2459913">
                  <a:moveTo>
                    <a:pt x="0" y="0"/>
                  </a:moveTo>
                  <a:lnTo>
                    <a:pt x="5316520" y="0"/>
                  </a:lnTo>
                  <a:lnTo>
                    <a:pt x="5316520" y="2459913"/>
                  </a:lnTo>
                  <a:lnTo>
                    <a:pt x="0" y="2459913"/>
                  </a:lnTo>
                  <a:close/>
                </a:path>
              </a:pathLst>
            </a:custGeom>
            <a:solidFill>
              <a:srgbClr val="070404">
                <a:alpha val="30980"/>
              </a:srgbClr>
            </a:solidFill>
          </p:spPr>
          <p:txBody>
            <a:bodyPr/>
            <a:lstStyle/>
            <a:p>
              <a:endParaRPr lang="he-IL"/>
            </a:p>
          </p:txBody>
        </p:sp>
        <p:sp>
          <p:nvSpPr>
            <p:cNvPr id="20" name="TextBox 20"/>
            <p:cNvSpPr txBox="1"/>
            <p:nvPr/>
          </p:nvSpPr>
          <p:spPr>
            <a:xfrm>
              <a:off x="0" y="0"/>
              <a:ext cx="5316520" cy="2459913"/>
            </a:xfrm>
            <a:prstGeom prst="rect">
              <a:avLst/>
            </a:prstGeom>
          </p:spPr>
          <p:txBody>
            <a:bodyPr lIns="50800" tIns="50800" rIns="50800" bIns="50800" rtlCol="0" anchor="ctr"/>
            <a:lstStyle/>
            <a:p>
              <a:pPr algn="ctr">
                <a:lnSpc>
                  <a:spcPts val="2497"/>
                </a:lnSpc>
              </a:pPr>
              <a:endParaRPr/>
            </a:p>
          </p:txBody>
        </p:sp>
      </p:grpSp>
      <p:sp>
        <p:nvSpPr>
          <p:cNvPr id="21" name="Freeform 21"/>
          <p:cNvSpPr/>
          <p:nvPr/>
        </p:nvSpPr>
        <p:spPr>
          <a:xfrm rot="5400000">
            <a:off x="12066385" y="1047724"/>
            <a:ext cx="256374" cy="293278"/>
          </a:xfrm>
          <a:custGeom>
            <a:avLst/>
            <a:gdLst/>
            <a:ahLst/>
            <a:cxnLst/>
            <a:rect l="l" t="t" r="r" b="b"/>
            <a:pathLst>
              <a:path w="256374" h="293278">
                <a:moveTo>
                  <a:pt x="0" y="0"/>
                </a:moveTo>
                <a:lnTo>
                  <a:pt x="256374" y="0"/>
                </a:lnTo>
                <a:lnTo>
                  <a:pt x="256374" y="293278"/>
                </a:lnTo>
                <a:lnTo>
                  <a:pt x="0" y="2932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he-IL"/>
          </a:p>
        </p:txBody>
      </p:sp>
      <p:sp>
        <p:nvSpPr>
          <p:cNvPr id="22" name="Freeform 22"/>
          <p:cNvSpPr/>
          <p:nvPr/>
        </p:nvSpPr>
        <p:spPr>
          <a:xfrm rot="5400000">
            <a:off x="12028285" y="1946343"/>
            <a:ext cx="256374" cy="293278"/>
          </a:xfrm>
          <a:custGeom>
            <a:avLst/>
            <a:gdLst/>
            <a:ahLst/>
            <a:cxnLst/>
            <a:rect l="l" t="t" r="r" b="b"/>
            <a:pathLst>
              <a:path w="256374" h="293278">
                <a:moveTo>
                  <a:pt x="0" y="0"/>
                </a:moveTo>
                <a:lnTo>
                  <a:pt x="256374" y="0"/>
                </a:lnTo>
                <a:lnTo>
                  <a:pt x="256374" y="293278"/>
                </a:lnTo>
                <a:lnTo>
                  <a:pt x="0" y="2932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he-IL"/>
          </a:p>
        </p:txBody>
      </p:sp>
      <p:sp>
        <p:nvSpPr>
          <p:cNvPr id="23" name="Freeform 23"/>
          <p:cNvSpPr/>
          <p:nvPr/>
        </p:nvSpPr>
        <p:spPr>
          <a:xfrm>
            <a:off x="623536" y="311261"/>
            <a:ext cx="3115967" cy="1157492"/>
          </a:xfrm>
          <a:custGeom>
            <a:avLst/>
            <a:gdLst/>
            <a:ahLst/>
            <a:cxnLst/>
            <a:rect l="l" t="t" r="r" b="b"/>
            <a:pathLst>
              <a:path w="3115967" h="1157492">
                <a:moveTo>
                  <a:pt x="0" y="0"/>
                </a:moveTo>
                <a:lnTo>
                  <a:pt x="3115968" y="0"/>
                </a:lnTo>
                <a:lnTo>
                  <a:pt x="3115968" y="1157491"/>
                </a:lnTo>
                <a:lnTo>
                  <a:pt x="0" y="1157491"/>
                </a:lnTo>
                <a:lnTo>
                  <a:pt x="0" y="0"/>
                </a:lnTo>
                <a:close/>
              </a:path>
            </a:pathLst>
          </a:custGeom>
          <a:blipFill>
            <a:blip r:embed="rId6"/>
            <a:stretch>
              <a:fillRect/>
            </a:stretch>
          </a:blipFill>
        </p:spPr>
        <p:txBody>
          <a:bodyPr/>
          <a:lstStyle/>
          <a:p>
            <a:endParaRPr lang="he-IL"/>
          </a:p>
        </p:txBody>
      </p:sp>
      <p:sp>
        <p:nvSpPr>
          <p:cNvPr id="24" name="TextBox 24"/>
          <p:cNvSpPr txBox="1"/>
          <p:nvPr/>
        </p:nvSpPr>
        <p:spPr>
          <a:xfrm>
            <a:off x="861149" y="3298969"/>
            <a:ext cx="15841127" cy="2545904"/>
          </a:xfrm>
          <a:prstGeom prst="rect">
            <a:avLst/>
          </a:prstGeom>
        </p:spPr>
        <p:txBody>
          <a:bodyPr lIns="0" tIns="0" rIns="0" bIns="0" rtlCol="0" anchor="t">
            <a:spAutoFit/>
          </a:bodyPr>
          <a:lstStyle/>
          <a:p>
            <a:pPr algn="ctr" rtl="1">
              <a:lnSpc>
                <a:spcPts val="9647"/>
              </a:lnSpc>
            </a:pPr>
            <a:r>
              <a:rPr lang="he-IL" sz="9745" b="1" spc="-419">
                <a:solidFill>
                  <a:srgbClr val="FFFFFF"/>
                </a:solidFill>
                <a:latin typeface="Arimo Bold"/>
                <a:ea typeface="Arimo Bold"/>
                <a:cs typeface="Arimo Bold"/>
                <a:sym typeface="Arimo Bold"/>
                <a:rtl/>
              </a:rPr>
              <a:t>מצמיחים את החברות הגלובליות של</a:t>
            </a:r>
            <a:r>
              <a:rPr lang="he-IL" sz="9745" b="1" spc="-419">
                <a:solidFill>
                  <a:srgbClr val="FF8C0A"/>
                </a:solidFill>
                <a:latin typeface="Arimo Bold"/>
                <a:ea typeface="Arimo Bold"/>
                <a:cs typeface="Arimo Bold"/>
                <a:sym typeface="Arimo Bold"/>
                <a:rtl/>
              </a:rPr>
              <a:t> המחר </a:t>
            </a:r>
          </a:p>
        </p:txBody>
      </p:sp>
      <p:sp>
        <p:nvSpPr>
          <p:cNvPr id="25" name="Freeform 25"/>
          <p:cNvSpPr/>
          <p:nvPr/>
        </p:nvSpPr>
        <p:spPr>
          <a:xfrm>
            <a:off x="517091" y="8966327"/>
            <a:ext cx="17398861" cy="1004666"/>
          </a:xfrm>
          <a:custGeom>
            <a:avLst/>
            <a:gdLst/>
            <a:ahLst/>
            <a:cxnLst/>
            <a:rect l="l" t="t" r="r" b="b"/>
            <a:pathLst>
              <a:path w="17398861" h="1004666">
                <a:moveTo>
                  <a:pt x="0" y="0"/>
                </a:moveTo>
                <a:lnTo>
                  <a:pt x="17398861" y="0"/>
                </a:lnTo>
                <a:lnTo>
                  <a:pt x="17398861" y="1004666"/>
                </a:lnTo>
                <a:lnTo>
                  <a:pt x="0" y="1004666"/>
                </a:lnTo>
                <a:lnTo>
                  <a:pt x="0" y="0"/>
                </a:lnTo>
                <a:close/>
              </a:path>
            </a:pathLst>
          </a:custGeom>
          <a:blipFill>
            <a:blip r:embed="rId7"/>
            <a:stretch>
              <a:fillRect t="-55332" b="-33001"/>
            </a:stretch>
          </a:blipFill>
        </p:spPr>
        <p:txBody>
          <a:bodyPr/>
          <a:lstStyle/>
          <a:p>
            <a:endParaRPr lang="he-IL"/>
          </a:p>
        </p:txBody>
      </p:sp>
      <p:sp>
        <p:nvSpPr>
          <p:cNvPr id="26" name="TextBox 26"/>
          <p:cNvSpPr txBox="1"/>
          <p:nvPr/>
        </p:nvSpPr>
        <p:spPr>
          <a:xfrm>
            <a:off x="9362521" y="7074027"/>
            <a:ext cx="4292587" cy="2184273"/>
          </a:xfrm>
          <a:prstGeom prst="rect">
            <a:avLst/>
          </a:prstGeom>
        </p:spPr>
        <p:txBody>
          <a:bodyPr lIns="0" tIns="0" rIns="0" bIns="0" rtlCol="0" anchor="t">
            <a:spAutoFit/>
          </a:bodyPr>
          <a:lstStyle/>
          <a:p>
            <a:pPr algn="ctr" rtl="1">
              <a:lnSpc>
                <a:spcPts val="5610"/>
              </a:lnSpc>
            </a:pPr>
            <a:r>
              <a:rPr lang="en-US" sz="3300" b="1" spc="-155">
                <a:solidFill>
                  <a:srgbClr val="FF8700"/>
                </a:solidFill>
                <a:latin typeface="Calibri (MS) Bold"/>
                <a:ea typeface="Calibri (MS) Bold"/>
                <a:cs typeface="Calibri (MS) Bold"/>
                <a:sym typeface="Calibri (MS) Bold"/>
              </a:rPr>
              <a:t>70</a:t>
            </a:r>
            <a:r>
              <a:rPr lang="ar-EG" sz="3300" b="1" spc="-155">
                <a:solidFill>
                  <a:srgbClr val="FF8700"/>
                </a:solidFill>
                <a:latin typeface="Calibri (MS) Bold"/>
                <a:ea typeface="Calibri (MS) Bold"/>
                <a:cs typeface="Calibri (MS) Bold"/>
                <a:sym typeface="Calibri (MS) Bold"/>
                <a:rtl/>
              </a:rPr>
              <a:t> +</a:t>
            </a:r>
          </a:p>
          <a:p>
            <a:pPr algn="ctr" rtl="1">
              <a:lnSpc>
                <a:spcPts val="3611"/>
              </a:lnSpc>
            </a:pPr>
            <a:r>
              <a:rPr lang="he-IL" sz="2799" b="1" spc="-131">
                <a:solidFill>
                  <a:srgbClr val="000000"/>
                </a:solidFill>
                <a:latin typeface="Calibri (MS) Bold"/>
                <a:ea typeface="Calibri (MS) Bold"/>
                <a:cs typeface="Calibri (MS) Bold"/>
                <a:sym typeface="Calibri (MS) Bold"/>
                <a:rtl/>
              </a:rPr>
              <a:t>מספר חברות הסטארט-אפ שצמחו בחממה </a:t>
            </a:r>
          </a:p>
          <a:p>
            <a:pPr algn="ctr" rtl="1">
              <a:lnSpc>
                <a:spcPts val="3611"/>
              </a:lnSpc>
            </a:pPr>
            <a:endParaRPr lang="he-IL" sz="2799" b="1" spc="-131">
              <a:solidFill>
                <a:srgbClr val="000000"/>
              </a:solidFill>
              <a:latin typeface="Calibri (MS) Bold"/>
              <a:ea typeface="Calibri (MS) Bold"/>
              <a:cs typeface="Calibri (MS) Bold"/>
              <a:sym typeface="Calibri (MS) Bold"/>
              <a:rtl/>
            </a:endParaRPr>
          </a:p>
        </p:txBody>
      </p:sp>
      <p:sp>
        <p:nvSpPr>
          <p:cNvPr id="27" name="TextBox 27"/>
          <p:cNvSpPr txBox="1"/>
          <p:nvPr/>
        </p:nvSpPr>
        <p:spPr>
          <a:xfrm>
            <a:off x="236946" y="1494408"/>
            <a:ext cx="3736748" cy="928394"/>
          </a:xfrm>
          <a:prstGeom prst="rect">
            <a:avLst/>
          </a:prstGeom>
        </p:spPr>
        <p:txBody>
          <a:bodyPr lIns="0" tIns="0" rIns="0" bIns="0" rtlCol="0" anchor="t">
            <a:spAutoFit/>
          </a:bodyPr>
          <a:lstStyle/>
          <a:p>
            <a:pPr algn="ctr" rtl="1">
              <a:lnSpc>
                <a:spcPts val="3348"/>
              </a:lnSpc>
            </a:pPr>
            <a:r>
              <a:rPr lang="he-IL" sz="3381" b="1" spc="-145">
                <a:solidFill>
                  <a:srgbClr val="FFFFFF"/>
                </a:solidFill>
                <a:latin typeface="Calibri (MS) Bold"/>
                <a:ea typeface="Calibri (MS) Bold"/>
                <a:cs typeface="Calibri (MS) Bold"/>
                <a:sym typeface="Calibri (MS) Bold"/>
                <a:rtl/>
              </a:rPr>
              <a:t>החממה הטכנולוגית בשער הנגב</a:t>
            </a:r>
          </a:p>
        </p:txBody>
      </p:sp>
      <p:sp>
        <p:nvSpPr>
          <p:cNvPr id="28" name="TextBox 28"/>
          <p:cNvSpPr txBox="1"/>
          <p:nvPr/>
        </p:nvSpPr>
        <p:spPr>
          <a:xfrm>
            <a:off x="13513599" y="7092483"/>
            <a:ext cx="4415138" cy="1269873"/>
          </a:xfrm>
          <a:prstGeom prst="rect">
            <a:avLst/>
          </a:prstGeom>
        </p:spPr>
        <p:txBody>
          <a:bodyPr lIns="0" tIns="0" rIns="0" bIns="0" rtlCol="0" anchor="t">
            <a:spAutoFit/>
          </a:bodyPr>
          <a:lstStyle/>
          <a:p>
            <a:pPr algn="ctr" rtl="1">
              <a:lnSpc>
                <a:spcPts val="5609"/>
              </a:lnSpc>
            </a:pPr>
            <a:r>
              <a:rPr lang="en-US" sz="3299" b="1" spc="-155">
                <a:solidFill>
                  <a:srgbClr val="FF8700"/>
                </a:solidFill>
                <a:latin typeface="Calibri (MS) Bold"/>
                <a:ea typeface="Calibri (MS) Bold"/>
                <a:cs typeface="Calibri (MS) Bold"/>
                <a:sym typeface="Calibri (MS) Bold"/>
              </a:rPr>
              <a:t>2017</a:t>
            </a:r>
          </a:p>
          <a:p>
            <a:pPr algn="ctr" rtl="1">
              <a:lnSpc>
                <a:spcPts val="3612"/>
              </a:lnSpc>
            </a:pPr>
            <a:r>
              <a:rPr lang="he-IL" sz="2800" b="1" spc="-131">
                <a:solidFill>
                  <a:srgbClr val="000000"/>
                </a:solidFill>
                <a:latin typeface="Calibri (MS) Bold"/>
                <a:ea typeface="Calibri (MS) Bold"/>
                <a:cs typeface="Calibri (MS) Bold"/>
                <a:sym typeface="Calibri (MS) Bold"/>
                <a:rtl/>
              </a:rPr>
              <a:t>השנה בה הוקמה החממה </a:t>
            </a:r>
          </a:p>
        </p:txBody>
      </p:sp>
      <p:sp>
        <p:nvSpPr>
          <p:cNvPr id="29" name="TextBox 29"/>
          <p:cNvSpPr txBox="1"/>
          <p:nvPr/>
        </p:nvSpPr>
        <p:spPr>
          <a:xfrm>
            <a:off x="284571" y="7064502"/>
            <a:ext cx="4415138" cy="1339850"/>
          </a:xfrm>
          <a:prstGeom prst="rect">
            <a:avLst/>
          </a:prstGeom>
        </p:spPr>
        <p:txBody>
          <a:bodyPr lIns="0" tIns="0" rIns="0" bIns="0" rtlCol="0" anchor="t">
            <a:spAutoFit/>
          </a:bodyPr>
          <a:lstStyle/>
          <a:p>
            <a:pPr algn="ctr" rtl="1">
              <a:lnSpc>
                <a:spcPts val="5610"/>
              </a:lnSpc>
            </a:pPr>
            <a:r>
              <a:rPr lang="ar-EG" sz="3300" b="1" spc="-155">
                <a:solidFill>
                  <a:srgbClr val="FF8700"/>
                </a:solidFill>
                <a:latin typeface="Calibri (MS) Bold"/>
                <a:ea typeface="Calibri (MS) Bold"/>
                <a:cs typeface="Calibri (MS) Bold"/>
                <a:sym typeface="Calibri (MS) Bold"/>
                <a:rtl/>
              </a:rPr>
              <a:t>&lt; </a:t>
            </a:r>
            <a:r>
              <a:rPr lang="en-US" sz="3300" b="1" spc="-155">
                <a:solidFill>
                  <a:srgbClr val="FF8700"/>
                </a:solidFill>
                <a:latin typeface="Calibri (MS) Bold"/>
                <a:ea typeface="Calibri (MS) Bold"/>
                <a:cs typeface="Calibri (MS) Bold"/>
                <a:sym typeface="Calibri (MS) Bold"/>
              </a:rPr>
              <a:t>300</a:t>
            </a:r>
            <a:r>
              <a:rPr lang="ar-EG" sz="3300" b="1" spc="-155">
                <a:solidFill>
                  <a:srgbClr val="FF8700"/>
                </a:solidFill>
                <a:latin typeface="Calibri (MS) Bold"/>
                <a:ea typeface="Calibri (MS) Bold"/>
                <a:cs typeface="Calibri (MS) Bold"/>
                <a:sym typeface="Calibri (MS) Bold"/>
                <a:rtl/>
              </a:rPr>
              <a:t> </a:t>
            </a:r>
          </a:p>
          <a:p>
            <a:pPr algn="ctr" rtl="1">
              <a:lnSpc>
                <a:spcPts val="4759"/>
              </a:lnSpc>
            </a:pPr>
            <a:r>
              <a:rPr lang="he-IL" sz="2799" b="1" spc="-131">
                <a:solidFill>
                  <a:srgbClr val="000000"/>
                </a:solidFill>
                <a:latin typeface="Calibri (MS) Bold"/>
                <a:ea typeface="Calibri (MS) Bold"/>
                <a:cs typeface="Calibri (MS) Bold"/>
                <a:sym typeface="Calibri (MS) Bold"/>
                <a:rtl/>
              </a:rPr>
              <a:t>היקף המשרות שנוצרו בנגב המערבי </a:t>
            </a:r>
          </a:p>
        </p:txBody>
      </p:sp>
      <p:sp>
        <p:nvSpPr>
          <p:cNvPr id="30" name="TextBox 30"/>
          <p:cNvSpPr txBox="1"/>
          <p:nvPr/>
        </p:nvSpPr>
        <p:spPr>
          <a:xfrm>
            <a:off x="4937858" y="7082958"/>
            <a:ext cx="4415138" cy="1269873"/>
          </a:xfrm>
          <a:prstGeom prst="rect">
            <a:avLst/>
          </a:prstGeom>
        </p:spPr>
        <p:txBody>
          <a:bodyPr lIns="0" tIns="0" rIns="0" bIns="0" rtlCol="0" anchor="t">
            <a:spAutoFit/>
          </a:bodyPr>
          <a:lstStyle/>
          <a:p>
            <a:pPr algn="ctr" rtl="1">
              <a:lnSpc>
                <a:spcPts val="5609"/>
              </a:lnSpc>
            </a:pPr>
            <a:r>
              <a:rPr lang="he-IL" sz="3299" b="1" spc="-155">
                <a:solidFill>
                  <a:srgbClr val="FF8700"/>
                </a:solidFill>
                <a:latin typeface="Calibri (MS) Bold"/>
                <a:ea typeface="Calibri (MS) Bold"/>
                <a:cs typeface="Calibri (MS) Bold"/>
                <a:sym typeface="Calibri (MS) Bold"/>
                <a:rtl/>
              </a:rPr>
              <a:t>כ</a:t>
            </a:r>
            <a:r>
              <a:rPr lang="ar-EG" sz="3299" b="1" spc="-155">
                <a:solidFill>
                  <a:srgbClr val="FF8700"/>
                </a:solidFill>
                <a:latin typeface="Calibri (MS) Bold"/>
                <a:ea typeface="Calibri (MS) Bold"/>
                <a:cs typeface="Calibri (MS) Bold"/>
                <a:sym typeface="Calibri (MS) Bold"/>
                <a:rtl/>
              </a:rPr>
              <a:t> -</a:t>
            </a:r>
            <a:r>
              <a:rPr lang="en-US" sz="3299" b="1" spc="-155">
                <a:solidFill>
                  <a:srgbClr val="FF8700"/>
                </a:solidFill>
                <a:latin typeface="Calibri (MS) Bold"/>
                <a:ea typeface="Calibri (MS) Bold"/>
                <a:cs typeface="Calibri (MS) Bold"/>
                <a:sym typeface="Calibri (MS) Bold"/>
              </a:rPr>
              <a:t>150</a:t>
            </a:r>
            <a:r>
              <a:rPr lang="he-IL" sz="3299" b="1" spc="-155">
                <a:solidFill>
                  <a:srgbClr val="FF8700"/>
                </a:solidFill>
                <a:latin typeface="Calibri (MS) Bold"/>
                <a:ea typeface="Calibri (MS) Bold"/>
                <a:cs typeface="Calibri (MS) Bold"/>
                <a:sym typeface="Calibri (MS) Bold"/>
                <a:rtl/>
              </a:rPr>
              <a:t> מיליון דולר</a:t>
            </a:r>
          </a:p>
          <a:p>
            <a:pPr algn="ctr" rtl="1">
              <a:lnSpc>
                <a:spcPts val="3611"/>
              </a:lnSpc>
            </a:pPr>
            <a:r>
              <a:rPr lang="he-IL" sz="2799" b="1" spc="-131">
                <a:solidFill>
                  <a:srgbClr val="000000"/>
                </a:solidFill>
                <a:latin typeface="Calibri (MS) Bold"/>
                <a:ea typeface="Calibri (MS) Bold"/>
                <a:cs typeface="Calibri (MS) Bold"/>
                <a:sym typeface="Calibri (MS) Bold"/>
                <a:rtl/>
              </a:rPr>
              <a:t>סך גיוסי הון  של חברות החממה</a:t>
            </a:r>
          </a:p>
        </p:txBody>
      </p:sp>
      <p:sp>
        <p:nvSpPr>
          <p:cNvPr id="31" name="TextBox 31"/>
          <p:cNvSpPr txBox="1"/>
          <p:nvPr/>
        </p:nvSpPr>
        <p:spPr>
          <a:xfrm>
            <a:off x="15054761" y="736583"/>
            <a:ext cx="2600208" cy="354473"/>
          </a:xfrm>
          <a:prstGeom prst="rect">
            <a:avLst/>
          </a:prstGeom>
        </p:spPr>
        <p:txBody>
          <a:bodyPr lIns="0" tIns="0" rIns="0" bIns="0" rtlCol="0" anchor="t">
            <a:spAutoFit/>
          </a:bodyPr>
          <a:lstStyle/>
          <a:p>
            <a:pPr algn="r" rtl="1">
              <a:lnSpc>
                <a:spcPts val="2698"/>
              </a:lnSpc>
            </a:pPr>
            <a:r>
              <a:rPr lang="he-IL" sz="2699" b="1">
                <a:solidFill>
                  <a:srgbClr val="EFE3E3"/>
                </a:solidFill>
                <a:latin typeface="Open Sans Bold"/>
                <a:ea typeface="Open Sans Bold"/>
                <a:cs typeface="Open Sans Bold"/>
                <a:sym typeface="Open Sans Bold"/>
                <a:rtl/>
              </a:rPr>
              <a:t>השירותים שלנו </a:t>
            </a:r>
          </a:p>
        </p:txBody>
      </p:sp>
      <p:sp>
        <p:nvSpPr>
          <p:cNvPr id="32" name="TextBox 32"/>
          <p:cNvSpPr txBox="1"/>
          <p:nvPr/>
        </p:nvSpPr>
        <p:spPr>
          <a:xfrm>
            <a:off x="11998691" y="727057"/>
            <a:ext cx="2948403" cy="354473"/>
          </a:xfrm>
          <a:prstGeom prst="rect">
            <a:avLst/>
          </a:prstGeom>
        </p:spPr>
        <p:txBody>
          <a:bodyPr lIns="0" tIns="0" rIns="0" bIns="0" rtlCol="0" anchor="t">
            <a:spAutoFit/>
          </a:bodyPr>
          <a:lstStyle/>
          <a:p>
            <a:pPr algn="r" rtl="1">
              <a:lnSpc>
                <a:spcPts val="2698"/>
              </a:lnSpc>
            </a:pPr>
            <a:r>
              <a:rPr lang="he-IL" sz="2699" b="1">
                <a:solidFill>
                  <a:srgbClr val="EFE3E3"/>
                </a:solidFill>
                <a:latin typeface="Open Sans Bold"/>
                <a:ea typeface="Open Sans Bold"/>
                <a:cs typeface="Open Sans Bold"/>
                <a:sym typeface="Open Sans Bold"/>
                <a:rtl/>
              </a:rPr>
              <a:t> החברות </a:t>
            </a:r>
          </a:p>
        </p:txBody>
      </p:sp>
      <p:sp>
        <p:nvSpPr>
          <p:cNvPr id="33" name="TextBox 33"/>
          <p:cNvSpPr txBox="1"/>
          <p:nvPr/>
        </p:nvSpPr>
        <p:spPr>
          <a:xfrm>
            <a:off x="11247317" y="727057"/>
            <a:ext cx="1894509" cy="354473"/>
          </a:xfrm>
          <a:prstGeom prst="rect">
            <a:avLst/>
          </a:prstGeom>
        </p:spPr>
        <p:txBody>
          <a:bodyPr lIns="0" tIns="0" rIns="0" bIns="0" rtlCol="0" anchor="t">
            <a:spAutoFit/>
          </a:bodyPr>
          <a:lstStyle/>
          <a:p>
            <a:pPr algn="ctr" rtl="1">
              <a:lnSpc>
                <a:spcPts val="2698"/>
              </a:lnSpc>
            </a:pPr>
            <a:r>
              <a:rPr lang="he-IL" sz="2700" b="1">
                <a:solidFill>
                  <a:srgbClr val="EFE3E3"/>
                </a:solidFill>
                <a:latin typeface="Open Sans Bold"/>
                <a:ea typeface="Open Sans Bold"/>
                <a:cs typeface="Open Sans Bold"/>
                <a:sym typeface="Open Sans Bold"/>
                <a:rtl/>
              </a:rPr>
              <a:t>תוכניות</a:t>
            </a:r>
          </a:p>
        </p:txBody>
      </p:sp>
      <p:sp>
        <p:nvSpPr>
          <p:cNvPr id="34" name="TextBox 34"/>
          <p:cNvSpPr txBox="1"/>
          <p:nvPr/>
        </p:nvSpPr>
        <p:spPr>
          <a:xfrm>
            <a:off x="7669799" y="703543"/>
            <a:ext cx="2948403" cy="354473"/>
          </a:xfrm>
          <a:prstGeom prst="rect">
            <a:avLst/>
          </a:prstGeom>
        </p:spPr>
        <p:txBody>
          <a:bodyPr lIns="0" tIns="0" rIns="0" bIns="0" rtlCol="0" anchor="t">
            <a:spAutoFit/>
          </a:bodyPr>
          <a:lstStyle/>
          <a:p>
            <a:pPr algn="r" rtl="1">
              <a:lnSpc>
                <a:spcPts val="2698"/>
              </a:lnSpc>
            </a:pPr>
            <a:r>
              <a:rPr lang="he-IL" sz="2699" b="1">
                <a:solidFill>
                  <a:srgbClr val="EFE3E3"/>
                </a:solidFill>
                <a:latin typeface="Open Sans Bold"/>
                <a:ea typeface="Open Sans Bold"/>
                <a:cs typeface="Open Sans Bold"/>
                <a:sym typeface="Open Sans Bold"/>
                <a:rtl/>
              </a:rPr>
              <a:t>חדשות ואירועים</a:t>
            </a:r>
          </a:p>
        </p:txBody>
      </p:sp>
      <p:sp>
        <p:nvSpPr>
          <p:cNvPr id="35" name="TextBox 35"/>
          <p:cNvSpPr txBox="1"/>
          <p:nvPr/>
        </p:nvSpPr>
        <p:spPr>
          <a:xfrm>
            <a:off x="1087672" y="6081981"/>
            <a:ext cx="1765107" cy="401582"/>
          </a:xfrm>
          <a:prstGeom prst="rect">
            <a:avLst/>
          </a:prstGeom>
        </p:spPr>
        <p:txBody>
          <a:bodyPr lIns="0" tIns="0" rIns="0" bIns="0" rtlCol="0" anchor="t">
            <a:spAutoFit/>
          </a:bodyPr>
          <a:lstStyle/>
          <a:p>
            <a:pPr algn="r" rtl="1">
              <a:lnSpc>
                <a:spcPts val="3052"/>
              </a:lnSpc>
            </a:pPr>
            <a:r>
              <a:rPr lang="he-IL" sz="3053" b="1">
                <a:solidFill>
                  <a:srgbClr val="FF8700"/>
                </a:solidFill>
                <a:latin typeface="Open Sans Bold"/>
                <a:ea typeface="Open Sans Bold"/>
                <a:cs typeface="Open Sans Bold"/>
                <a:sym typeface="Open Sans Bold"/>
                <a:rtl/>
              </a:rPr>
              <a:t>בואו נדבר</a:t>
            </a:r>
          </a:p>
        </p:txBody>
      </p:sp>
      <p:sp>
        <p:nvSpPr>
          <p:cNvPr id="36" name="TextBox 36"/>
          <p:cNvSpPr txBox="1"/>
          <p:nvPr/>
        </p:nvSpPr>
        <p:spPr>
          <a:xfrm>
            <a:off x="11190167" y="1421135"/>
            <a:ext cx="1894509" cy="486511"/>
          </a:xfrm>
          <a:prstGeom prst="rect">
            <a:avLst/>
          </a:prstGeom>
        </p:spPr>
        <p:txBody>
          <a:bodyPr lIns="0" tIns="0" rIns="0" bIns="0" rtlCol="0" anchor="t">
            <a:spAutoFit/>
          </a:bodyPr>
          <a:lstStyle/>
          <a:p>
            <a:pPr algn="ctr" rtl="1">
              <a:lnSpc>
                <a:spcPts val="1899"/>
              </a:lnSpc>
            </a:pPr>
            <a:r>
              <a:rPr lang="he-IL" sz="1900" b="1">
                <a:solidFill>
                  <a:srgbClr val="EFE3E3"/>
                </a:solidFill>
                <a:latin typeface="Open Sans Bold"/>
                <a:ea typeface="Open Sans Bold"/>
                <a:cs typeface="Open Sans Bold"/>
                <a:sym typeface="Open Sans Bold"/>
                <a:rtl/>
              </a:rPr>
              <a:t>החממה הבטחונית</a:t>
            </a:r>
          </a:p>
        </p:txBody>
      </p:sp>
      <p:sp>
        <p:nvSpPr>
          <p:cNvPr id="37" name="TextBox 37"/>
          <p:cNvSpPr txBox="1"/>
          <p:nvPr/>
        </p:nvSpPr>
        <p:spPr>
          <a:xfrm>
            <a:off x="11260606" y="2345733"/>
            <a:ext cx="1894509" cy="248386"/>
          </a:xfrm>
          <a:prstGeom prst="rect">
            <a:avLst/>
          </a:prstGeom>
        </p:spPr>
        <p:txBody>
          <a:bodyPr lIns="0" tIns="0" rIns="0" bIns="0" rtlCol="0" anchor="t">
            <a:spAutoFit/>
          </a:bodyPr>
          <a:lstStyle/>
          <a:p>
            <a:pPr algn="ctr">
              <a:lnSpc>
                <a:spcPts val="1899"/>
              </a:lnSpc>
            </a:pPr>
            <a:r>
              <a:rPr lang="en-US" sz="1900" b="1">
                <a:solidFill>
                  <a:srgbClr val="EFE3E3"/>
                </a:solidFill>
                <a:latin typeface="Open Sans Bold"/>
                <a:ea typeface="Open Sans Bold"/>
                <a:cs typeface="Open Sans Bold"/>
                <a:sym typeface="Open Sans Bold"/>
              </a:rPr>
              <a:t>AgtoTech</a:t>
            </a:r>
          </a:p>
        </p:txBody>
      </p:sp>
      <p:sp>
        <p:nvSpPr>
          <p:cNvPr id="38" name="TextBox 38"/>
          <p:cNvSpPr txBox="1"/>
          <p:nvPr/>
        </p:nvSpPr>
        <p:spPr>
          <a:xfrm>
            <a:off x="5188694" y="727057"/>
            <a:ext cx="3717524" cy="687848"/>
          </a:xfrm>
          <a:prstGeom prst="rect">
            <a:avLst/>
          </a:prstGeom>
        </p:spPr>
        <p:txBody>
          <a:bodyPr lIns="0" tIns="0" rIns="0" bIns="0" rtlCol="0" anchor="t">
            <a:spAutoFit/>
          </a:bodyPr>
          <a:lstStyle/>
          <a:p>
            <a:pPr algn="l">
              <a:lnSpc>
                <a:spcPts val="2698"/>
              </a:lnSpc>
            </a:pPr>
            <a:r>
              <a:rPr lang="en-US" sz="2699" b="1">
                <a:solidFill>
                  <a:srgbClr val="EFE3E3"/>
                </a:solidFill>
                <a:latin typeface="Open Sans Bold"/>
                <a:ea typeface="Open Sans Bold"/>
                <a:cs typeface="Open Sans Bold"/>
                <a:sym typeface="Open Sans Bold"/>
              </a:rPr>
              <a:t>Ofir-SouthUp Ventures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307325"/>
            <a:ext cx="4296107" cy="6402674"/>
          </a:xfrm>
          <a:custGeom>
            <a:avLst/>
            <a:gdLst/>
            <a:ahLst/>
            <a:cxnLst/>
            <a:rect l="l" t="t" r="r" b="b"/>
            <a:pathLst>
              <a:path w="4296107" h="6402674">
                <a:moveTo>
                  <a:pt x="0" y="0"/>
                </a:moveTo>
                <a:lnTo>
                  <a:pt x="4296107" y="0"/>
                </a:lnTo>
                <a:lnTo>
                  <a:pt x="4296107" y="6402674"/>
                </a:lnTo>
                <a:lnTo>
                  <a:pt x="0" y="6402674"/>
                </a:lnTo>
                <a:lnTo>
                  <a:pt x="0" y="0"/>
                </a:lnTo>
                <a:close/>
              </a:path>
            </a:pathLst>
          </a:custGeom>
          <a:blipFill>
            <a:blip r:embed="rId2"/>
            <a:stretch>
              <a:fillRect l="-66703" r="-98214"/>
            </a:stretch>
          </a:blipFill>
        </p:spPr>
        <p:txBody>
          <a:bodyPr/>
          <a:lstStyle/>
          <a:p>
            <a:endParaRPr lang="he-IL"/>
          </a:p>
        </p:txBody>
      </p:sp>
      <p:grpSp>
        <p:nvGrpSpPr>
          <p:cNvPr id="3" name="Group 3"/>
          <p:cNvGrpSpPr/>
          <p:nvPr/>
        </p:nvGrpSpPr>
        <p:grpSpPr>
          <a:xfrm>
            <a:off x="0" y="0"/>
            <a:ext cx="18288000" cy="2307325"/>
            <a:chOff x="0" y="0"/>
            <a:chExt cx="4816593" cy="607690"/>
          </a:xfrm>
        </p:grpSpPr>
        <p:sp>
          <p:nvSpPr>
            <p:cNvPr id="4" name="Freeform 4"/>
            <p:cNvSpPr/>
            <p:nvPr/>
          </p:nvSpPr>
          <p:spPr>
            <a:xfrm>
              <a:off x="0" y="0"/>
              <a:ext cx="4816592" cy="607690"/>
            </a:xfrm>
            <a:custGeom>
              <a:avLst/>
              <a:gdLst/>
              <a:ahLst/>
              <a:cxnLst/>
              <a:rect l="l" t="t" r="r" b="b"/>
              <a:pathLst>
                <a:path w="4816592" h="607690">
                  <a:moveTo>
                    <a:pt x="0" y="0"/>
                  </a:moveTo>
                  <a:lnTo>
                    <a:pt x="4816592" y="0"/>
                  </a:lnTo>
                  <a:lnTo>
                    <a:pt x="4816592" y="607690"/>
                  </a:lnTo>
                  <a:lnTo>
                    <a:pt x="0" y="607690"/>
                  </a:lnTo>
                  <a:close/>
                </a:path>
              </a:pathLst>
            </a:custGeom>
            <a:solidFill>
              <a:srgbClr val="483F2B"/>
            </a:solidFill>
          </p:spPr>
          <p:txBody>
            <a:bodyPr/>
            <a:lstStyle/>
            <a:p>
              <a:endParaRPr lang="he-IL"/>
            </a:p>
          </p:txBody>
        </p:sp>
        <p:sp>
          <p:nvSpPr>
            <p:cNvPr id="5" name="TextBox 5"/>
            <p:cNvSpPr txBox="1"/>
            <p:nvPr/>
          </p:nvSpPr>
          <p:spPr>
            <a:xfrm>
              <a:off x="0" y="-47625"/>
              <a:ext cx="4816593" cy="655315"/>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46276" y="251982"/>
            <a:ext cx="17071648" cy="1571626"/>
          </a:xfrm>
          <a:prstGeom prst="rect">
            <a:avLst/>
          </a:prstGeom>
        </p:spPr>
        <p:txBody>
          <a:bodyPr lIns="0" tIns="0" rIns="0" bIns="0" rtlCol="0" anchor="t">
            <a:spAutoFit/>
          </a:bodyPr>
          <a:lstStyle/>
          <a:p>
            <a:pPr algn="ctr" rtl="1">
              <a:lnSpc>
                <a:spcPts val="6119"/>
              </a:lnSpc>
            </a:pPr>
            <a:r>
              <a:rPr lang="en-US" sz="3599">
                <a:solidFill>
                  <a:srgbClr val="EFE3E3"/>
                </a:solidFill>
                <a:latin typeface="Calibri (MS)"/>
                <a:ea typeface="Calibri (MS)"/>
                <a:cs typeface="Calibri (MS)"/>
                <a:sym typeface="Calibri (MS)"/>
              </a:rPr>
              <a:t>SouthUp</a:t>
            </a:r>
            <a:r>
              <a:rPr lang="he-IL" sz="3599">
                <a:solidFill>
                  <a:srgbClr val="EFE3E3"/>
                </a:solidFill>
                <a:latin typeface="Calibri (MS)"/>
                <a:ea typeface="Calibri (MS)"/>
                <a:cs typeface="Calibri (MS)"/>
                <a:sym typeface="Calibri (MS)"/>
                <a:rtl/>
              </a:rPr>
              <a:t> מספקת מעטפת שירותים ומנועי צמיחה לחברות סטארט-אפ הפועלות הנגב המערבי במטרה להפוך אותן לחברות גלובליות מצליחות </a:t>
            </a:r>
          </a:p>
        </p:txBody>
      </p:sp>
      <p:sp>
        <p:nvSpPr>
          <p:cNvPr id="7" name="TextBox 7"/>
          <p:cNvSpPr txBox="1"/>
          <p:nvPr/>
        </p:nvSpPr>
        <p:spPr>
          <a:xfrm>
            <a:off x="4507059" y="2523638"/>
            <a:ext cx="13393241" cy="6868012"/>
          </a:xfrm>
          <a:prstGeom prst="rect">
            <a:avLst/>
          </a:prstGeom>
        </p:spPr>
        <p:txBody>
          <a:bodyPr lIns="0" tIns="0" rIns="0" bIns="0" rtlCol="0" anchor="t">
            <a:spAutoFit/>
          </a:bodyPr>
          <a:lstStyle/>
          <a:p>
            <a:pPr algn="r" rtl="1">
              <a:lnSpc>
                <a:spcPts val="4557"/>
              </a:lnSpc>
            </a:pPr>
            <a:r>
              <a:rPr lang="en-US" sz="2761" b="1" spc="-69">
                <a:solidFill>
                  <a:srgbClr val="070404"/>
                </a:solidFill>
                <a:latin typeface="Caldina Bold"/>
                <a:ea typeface="Caldina Bold"/>
                <a:cs typeface="Caldina Bold"/>
                <a:sym typeface="Caldina Bold"/>
              </a:rPr>
              <a:t>SouthUp</a:t>
            </a:r>
            <a:r>
              <a:rPr lang="he-IL" sz="2761" b="1" spc="-69">
                <a:solidFill>
                  <a:srgbClr val="070404"/>
                </a:solidFill>
                <a:latin typeface="Caldina Bold"/>
                <a:ea typeface="Caldina Bold"/>
                <a:cs typeface="Caldina Bold"/>
                <a:sym typeface="Caldina Bold"/>
                <a:rtl/>
              </a:rPr>
              <a:t> הוקמה מתוך חזון שהפך למציאות.</a:t>
            </a:r>
          </a:p>
          <a:p>
            <a:pPr algn="r" rtl="1">
              <a:lnSpc>
                <a:spcPts val="4557"/>
              </a:lnSpc>
            </a:pPr>
            <a:r>
              <a:rPr lang="en-US" sz="2761" spc="-69">
                <a:solidFill>
                  <a:srgbClr val="070404"/>
                </a:solidFill>
                <a:latin typeface="Caldina"/>
                <a:ea typeface="Caldina"/>
                <a:cs typeface="Caldina"/>
                <a:sym typeface="Caldina"/>
              </a:rPr>
              <a:t>SouthUp</a:t>
            </a:r>
            <a:r>
              <a:rPr lang="he-IL" sz="2761" spc="-69">
                <a:solidFill>
                  <a:srgbClr val="070404"/>
                </a:solidFill>
                <a:latin typeface="Caldina"/>
                <a:ea typeface="Caldina"/>
                <a:cs typeface="Caldina"/>
                <a:sym typeface="Caldina"/>
                <a:rtl/>
              </a:rPr>
              <a:t> נוסדה בשנת </a:t>
            </a:r>
            <a:r>
              <a:rPr lang="en-US" sz="2761" spc="-69">
                <a:solidFill>
                  <a:srgbClr val="070404"/>
                </a:solidFill>
                <a:latin typeface="Caldina"/>
                <a:ea typeface="Caldina"/>
                <a:cs typeface="Caldina"/>
                <a:sym typeface="Caldina"/>
              </a:rPr>
              <a:t>2017</a:t>
            </a:r>
            <a:r>
              <a:rPr lang="he-IL" sz="2761" spc="-69">
                <a:solidFill>
                  <a:srgbClr val="070404"/>
                </a:solidFill>
                <a:latin typeface="Caldina"/>
                <a:ea typeface="Caldina"/>
                <a:cs typeface="Caldina"/>
                <a:sym typeface="Caldina"/>
                <a:rtl/>
              </a:rPr>
              <a:t> על ידי קבוצה של יזמים ואנשי אקדמיה מהנגב המערבי, ובעידודו של ראש המועצה, אופיר ליבשטיין ז״ל, מתוך הבנה כי צורך בהקמת חממה אזורית שתספק מעטפת מקצועית ותשתית לצמיחת סטארט-אפים בנגב המערבי - ובמקביל תמשוך יזמים מכל רחבי הארץ להתפתח ולפעול מהאזור.</a:t>
            </a:r>
          </a:p>
          <a:p>
            <a:pPr algn="r" rtl="1">
              <a:lnSpc>
                <a:spcPts val="4557"/>
              </a:lnSpc>
            </a:pPr>
            <a:endParaRPr lang="he-IL" sz="2761" spc="-69">
              <a:solidFill>
                <a:srgbClr val="070404"/>
              </a:solidFill>
              <a:latin typeface="Caldina"/>
              <a:ea typeface="Caldina"/>
              <a:cs typeface="Caldina"/>
              <a:sym typeface="Caldina"/>
              <a:rtl/>
            </a:endParaRPr>
          </a:p>
          <a:p>
            <a:pPr algn="r" rtl="1">
              <a:lnSpc>
                <a:spcPts val="4557"/>
              </a:lnSpc>
            </a:pPr>
            <a:r>
              <a:rPr lang="en-US" sz="2761" spc="-69">
                <a:solidFill>
                  <a:srgbClr val="070404"/>
                </a:solidFill>
                <a:latin typeface="Caldina"/>
                <a:ea typeface="Caldina"/>
                <a:cs typeface="Caldina"/>
                <a:sym typeface="Caldina"/>
              </a:rPr>
              <a:t>SouthUp</a:t>
            </a:r>
            <a:r>
              <a:rPr lang="he-IL" sz="2761" spc="-69">
                <a:solidFill>
                  <a:srgbClr val="070404"/>
                </a:solidFill>
                <a:latin typeface="Caldina"/>
                <a:ea typeface="Caldina"/>
                <a:cs typeface="Caldina"/>
                <a:sym typeface="Caldina"/>
                <a:rtl/>
              </a:rPr>
              <a:t> היא חממה הפועלת כמלכ״ר ואינה לוקחת אחוזי בעלות (</a:t>
            </a:r>
            <a:r>
              <a:rPr lang="en-US" sz="2761" spc="-69">
                <a:solidFill>
                  <a:srgbClr val="070404"/>
                </a:solidFill>
                <a:latin typeface="Caldina"/>
                <a:ea typeface="Caldina"/>
                <a:cs typeface="Caldina"/>
                <a:sym typeface="Caldina"/>
              </a:rPr>
              <a:t>equity</a:t>
            </a:r>
            <a:r>
              <a:rPr lang="he-IL" sz="2761" spc="-69">
                <a:solidFill>
                  <a:srgbClr val="070404"/>
                </a:solidFill>
                <a:latin typeface="Caldina"/>
                <a:ea typeface="Caldina"/>
                <a:cs typeface="Caldina"/>
                <a:sym typeface="Caldina"/>
                <a:rtl/>
              </a:rPr>
              <a:t>) מהחברות הפועלות בה.</a:t>
            </a:r>
          </a:p>
          <a:p>
            <a:pPr algn="r" rtl="1">
              <a:lnSpc>
                <a:spcPts val="4557"/>
              </a:lnSpc>
            </a:pPr>
            <a:endParaRPr lang="he-IL" sz="2761" spc="-69">
              <a:solidFill>
                <a:srgbClr val="070404"/>
              </a:solidFill>
              <a:latin typeface="Caldina"/>
              <a:ea typeface="Caldina"/>
              <a:cs typeface="Caldina"/>
              <a:sym typeface="Caldina"/>
              <a:rtl/>
            </a:endParaRPr>
          </a:p>
          <a:p>
            <a:pPr algn="r" rtl="1">
              <a:lnSpc>
                <a:spcPts val="4557"/>
              </a:lnSpc>
            </a:pPr>
            <a:r>
              <a:rPr lang="he-IL" sz="2761" spc="-69">
                <a:solidFill>
                  <a:srgbClr val="070404"/>
                </a:solidFill>
                <a:latin typeface="Caldina"/>
                <a:ea typeface="Caldina"/>
                <a:cs typeface="Caldina"/>
                <a:sym typeface="Caldina"/>
                <a:rtl/>
              </a:rPr>
              <a:t>מאז הקמתה, הפכה </a:t>
            </a:r>
            <a:r>
              <a:rPr lang="en-US" sz="2761" spc="-69">
                <a:solidFill>
                  <a:srgbClr val="070404"/>
                </a:solidFill>
                <a:latin typeface="Caldina"/>
                <a:ea typeface="Caldina"/>
                <a:cs typeface="Caldina"/>
                <a:sym typeface="Caldina"/>
              </a:rPr>
              <a:t>SouthUp</a:t>
            </a:r>
            <a:r>
              <a:rPr lang="he-IL" sz="2761" spc="-69">
                <a:solidFill>
                  <a:srgbClr val="070404"/>
                </a:solidFill>
                <a:latin typeface="Caldina"/>
                <a:ea typeface="Caldina"/>
                <a:cs typeface="Caldina"/>
                <a:sym typeface="Caldina"/>
                <a:rtl/>
              </a:rPr>
              <a:t> לאחת החממות הטכנולוגיות המובילות בישראל המהווה מנוע כלכלי מוביל בנגב המערבי תוך שהיא הצמיחה עד היום למעלה מ־</a:t>
            </a:r>
            <a:r>
              <a:rPr lang="en-US" sz="2761" spc="-69">
                <a:solidFill>
                  <a:srgbClr val="070404"/>
                </a:solidFill>
                <a:latin typeface="Caldina"/>
                <a:ea typeface="Caldina"/>
                <a:cs typeface="Caldina"/>
                <a:sym typeface="Caldina"/>
              </a:rPr>
              <a:t>70</a:t>
            </a:r>
            <a:r>
              <a:rPr lang="he-IL" sz="2761" spc="-69">
                <a:solidFill>
                  <a:srgbClr val="070404"/>
                </a:solidFill>
                <a:latin typeface="Caldina"/>
                <a:ea typeface="Caldina"/>
                <a:cs typeface="Caldina"/>
                <a:sym typeface="Caldina"/>
                <a:rtl/>
              </a:rPr>
              <a:t> חברות סטארט-אפ שסיפקו מאות אפשרויות תעסוקה איכותיות לתושבי האזור.</a:t>
            </a:r>
          </a:p>
          <a:p>
            <a:pPr algn="r" rtl="1">
              <a:lnSpc>
                <a:spcPts val="5153"/>
              </a:lnSpc>
            </a:pPr>
            <a:endParaRPr lang="he-IL" sz="2761" spc="-69">
              <a:solidFill>
                <a:srgbClr val="070404"/>
              </a:solidFill>
              <a:latin typeface="Caldina"/>
              <a:ea typeface="Caldina"/>
              <a:cs typeface="Caldina"/>
              <a:sym typeface="Caldina"/>
              <a:rt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566721" y="3164569"/>
            <a:ext cx="4316311" cy="426894"/>
          </a:xfrm>
          <a:prstGeom prst="rect">
            <a:avLst/>
          </a:prstGeom>
        </p:spPr>
        <p:txBody>
          <a:bodyPr lIns="0" tIns="0" rIns="0" bIns="0" rtlCol="0" anchor="t">
            <a:spAutoFit/>
          </a:bodyPr>
          <a:lstStyle/>
          <a:p>
            <a:pPr algn="ctr">
              <a:lnSpc>
                <a:spcPts val="3298"/>
              </a:lnSpc>
            </a:pPr>
            <a:r>
              <a:rPr lang="he-IL" sz="3299" b="1">
                <a:solidFill>
                  <a:srgbClr val="FF8700"/>
                </a:solidFill>
                <a:latin typeface="Open Sans Bold"/>
                <a:ea typeface="Open Sans Bold"/>
                <a:cs typeface="Open Sans Bold"/>
                <a:sym typeface="Open Sans Bold"/>
                <a:rtl/>
              </a:rPr>
              <a:t>ליווי אסטרטגי ומנטורינג</a:t>
            </a:r>
          </a:p>
        </p:txBody>
      </p:sp>
      <p:sp>
        <p:nvSpPr>
          <p:cNvPr id="3" name="TextBox 3"/>
          <p:cNvSpPr txBox="1"/>
          <p:nvPr/>
        </p:nvSpPr>
        <p:spPr>
          <a:xfrm>
            <a:off x="7033470" y="7530138"/>
            <a:ext cx="4316311" cy="363993"/>
          </a:xfrm>
          <a:prstGeom prst="rect">
            <a:avLst/>
          </a:prstGeom>
        </p:spPr>
        <p:txBody>
          <a:bodyPr lIns="0" tIns="0" rIns="0" bIns="0" rtlCol="0" anchor="t">
            <a:spAutoFit/>
          </a:bodyPr>
          <a:lstStyle/>
          <a:p>
            <a:pPr algn="r">
              <a:lnSpc>
                <a:spcPts val="2728"/>
              </a:lnSpc>
            </a:pPr>
            <a:endParaRPr/>
          </a:p>
        </p:txBody>
      </p:sp>
      <p:sp>
        <p:nvSpPr>
          <p:cNvPr id="4" name="TextBox 4"/>
          <p:cNvSpPr txBox="1"/>
          <p:nvPr/>
        </p:nvSpPr>
        <p:spPr>
          <a:xfrm>
            <a:off x="6406435" y="3534313"/>
            <a:ext cx="4942726" cy="2693104"/>
          </a:xfrm>
          <a:prstGeom prst="rect">
            <a:avLst/>
          </a:prstGeom>
        </p:spPr>
        <p:txBody>
          <a:bodyPr lIns="0" tIns="0" rIns="0" bIns="0" rtlCol="0" anchor="t">
            <a:spAutoFit/>
          </a:bodyPr>
          <a:lstStyle/>
          <a:p>
            <a:pPr algn="r" rtl="1">
              <a:lnSpc>
                <a:spcPts val="3120"/>
              </a:lnSpc>
            </a:pPr>
            <a:r>
              <a:rPr lang="he-IL" sz="2600">
                <a:solidFill>
                  <a:srgbClr val="000000"/>
                </a:solidFill>
                <a:latin typeface="Calibri (MS)"/>
                <a:ea typeface="Calibri (MS)"/>
                <a:cs typeface="Calibri (MS)"/>
                <a:sym typeface="Calibri (MS)"/>
                <a:rtl/>
              </a:rPr>
              <a:t>ליווי מלא מול רשות החדשנות ותכניות האצה אזוריות.</a:t>
            </a:r>
          </a:p>
          <a:p>
            <a:pPr algn="r" rtl="1">
              <a:lnSpc>
                <a:spcPts val="2858"/>
              </a:lnSpc>
            </a:pPr>
            <a:r>
              <a:rPr lang="he-IL" sz="2600">
                <a:solidFill>
                  <a:srgbClr val="000000"/>
                </a:solidFill>
                <a:latin typeface="Calibri (MS)"/>
                <a:ea typeface="Calibri (MS)"/>
                <a:cs typeface="Calibri (MS)"/>
                <a:sym typeface="Calibri (MS)"/>
                <a:rtl/>
              </a:rPr>
              <a:t>גישה למענק מוגדל של עד </a:t>
            </a:r>
            <a:r>
              <a:rPr lang="en-US" sz="2600">
                <a:solidFill>
                  <a:srgbClr val="000000"/>
                </a:solidFill>
                <a:latin typeface="Calibri (MS)"/>
                <a:ea typeface="Calibri (MS)"/>
                <a:cs typeface="Calibri (MS)"/>
                <a:sym typeface="Calibri (MS)"/>
              </a:rPr>
              <a:t>72%</a:t>
            </a:r>
            <a:r>
              <a:rPr lang="he-IL" sz="2600">
                <a:solidFill>
                  <a:srgbClr val="000000"/>
                </a:solidFill>
                <a:latin typeface="Calibri (MS)"/>
                <a:ea typeface="Calibri (MS)"/>
                <a:cs typeface="Calibri (MS)"/>
                <a:sym typeface="Calibri (MS)"/>
                <a:rtl/>
              </a:rPr>
              <a:t> ומהוצאות המו”פ בשלבים הראשוניים של הצמיחה.</a:t>
            </a:r>
          </a:p>
          <a:p>
            <a:pPr algn="r" rtl="1">
              <a:lnSpc>
                <a:spcPts val="3120"/>
              </a:lnSpc>
            </a:pPr>
            <a:r>
              <a:rPr lang="he-IL" sz="2600" b="1">
                <a:solidFill>
                  <a:srgbClr val="000000"/>
                </a:solidFill>
                <a:latin typeface="Calibri (MS) Bold"/>
                <a:ea typeface="Calibri (MS) Bold"/>
                <a:cs typeface="Calibri (MS) Bold"/>
                <a:sym typeface="Calibri (MS) Bold"/>
                <a:rtl/>
              </a:rPr>
              <a:t>קרא עוד ›</a:t>
            </a:r>
          </a:p>
          <a:p>
            <a:pPr algn="l" rtl="1">
              <a:lnSpc>
                <a:spcPts val="2858"/>
              </a:lnSpc>
            </a:pPr>
            <a:endParaRPr lang="he-IL" sz="2600" b="1">
              <a:solidFill>
                <a:srgbClr val="000000"/>
              </a:solidFill>
              <a:latin typeface="Calibri (MS) Bold"/>
              <a:ea typeface="Calibri (MS) Bold"/>
              <a:cs typeface="Calibri (MS) Bold"/>
              <a:sym typeface="Calibri (MS) Bold"/>
              <a:rtl/>
            </a:endParaRPr>
          </a:p>
        </p:txBody>
      </p:sp>
      <p:sp>
        <p:nvSpPr>
          <p:cNvPr id="5" name="TextBox 5"/>
          <p:cNvSpPr txBox="1"/>
          <p:nvPr/>
        </p:nvSpPr>
        <p:spPr>
          <a:xfrm>
            <a:off x="288421" y="7453938"/>
            <a:ext cx="5242621" cy="1969135"/>
          </a:xfrm>
          <a:prstGeom prst="rect">
            <a:avLst/>
          </a:prstGeom>
        </p:spPr>
        <p:txBody>
          <a:bodyPr lIns="0" tIns="0" rIns="0" bIns="0" rtlCol="0" anchor="t">
            <a:spAutoFit/>
          </a:bodyPr>
          <a:lstStyle/>
          <a:p>
            <a:pPr algn="r" rtl="1">
              <a:lnSpc>
                <a:spcPts val="3120"/>
              </a:lnSpc>
            </a:pPr>
            <a:r>
              <a:rPr lang="he-IL" sz="2600">
                <a:solidFill>
                  <a:srgbClr val="070404"/>
                </a:solidFill>
                <a:latin typeface="Calibri (MS)"/>
                <a:ea typeface="Calibri (MS)"/>
                <a:cs typeface="Calibri (MS)"/>
                <a:sym typeface="Calibri (MS)"/>
                <a:rtl/>
              </a:rPr>
              <a:t>יצירת חיבור למשקיעים, קרנות הון סיכון והכוונה ממוקדת ליצירת תשתית לגיוס הון.</a:t>
            </a:r>
          </a:p>
          <a:p>
            <a:pPr algn="l" rtl="1">
              <a:lnSpc>
                <a:spcPts val="2860"/>
              </a:lnSpc>
            </a:pPr>
            <a:endParaRPr lang="he-IL" sz="2600">
              <a:solidFill>
                <a:srgbClr val="070404"/>
              </a:solidFill>
              <a:latin typeface="Calibri (MS)"/>
              <a:ea typeface="Calibri (MS)"/>
              <a:cs typeface="Calibri (MS)"/>
              <a:sym typeface="Calibri (MS)"/>
              <a:rtl/>
            </a:endParaRPr>
          </a:p>
          <a:p>
            <a:pPr algn="just" rtl="1">
              <a:lnSpc>
                <a:spcPts val="3120"/>
              </a:lnSpc>
            </a:pPr>
            <a:r>
              <a:rPr lang="he-IL" sz="2600" b="1">
                <a:solidFill>
                  <a:srgbClr val="070404"/>
                </a:solidFill>
                <a:latin typeface="Calibri (MS) Bold"/>
                <a:ea typeface="Calibri (MS) Bold"/>
                <a:cs typeface="Calibri (MS) Bold"/>
                <a:sym typeface="Calibri (MS) Bold"/>
                <a:rtl/>
              </a:rPr>
              <a:t>קרא עוד ›</a:t>
            </a:r>
          </a:p>
          <a:p>
            <a:pPr algn="l" rtl="1">
              <a:lnSpc>
                <a:spcPts val="2860"/>
              </a:lnSpc>
            </a:pPr>
            <a:endParaRPr lang="he-IL" sz="2600" b="1">
              <a:solidFill>
                <a:srgbClr val="070404"/>
              </a:solidFill>
              <a:latin typeface="Calibri (MS) Bold"/>
              <a:ea typeface="Calibri (MS) Bold"/>
              <a:cs typeface="Calibri (MS) Bold"/>
              <a:sym typeface="Calibri (MS) Bold"/>
              <a:rtl/>
            </a:endParaRPr>
          </a:p>
        </p:txBody>
      </p:sp>
      <p:sp>
        <p:nvSpPr>
          <p:cNvPr id="6" name="TextBox 6"/>
          <p:cNvSpPr txBox="1"/>
          <p:nvPr/>
        </p:nvSpPr>
        <p:spPr>
          <a:xfrm>
            <a:off x="-330061" y="3543838"/>
            <a:ext cx="5512860" cy="2329815"/>
          </a:xfrm>
          <a:prstGeom prst="rect">
            <a:avLst/>
          </a:prstGeom>
        </p:spPr>
        <p:txBody>
          <a:bodyPr lIns="0" tIns="0" rIns="0" bIns="0" rtlCol="0" anchor="t">
            <a:spAutoFit/>
          </a:bodyPr>
          <a:lstStyle/>
          <a:p>
            <a:pPr algn="r" rtl="1">
              <a:lnSpc>
                <a:spcPts val="3120"/>
              </a:lnSpc>
            </a:pPr>
            <a:r>
              <a:rPr lang="en-US" sz="2600">
                <a:solidFill>
                  <a:srgbClr val="070404"/>
                </a:solidFill>
                <a:latin typeface="Calibri (MS)"/>
                <a:ea typeface="Calibri (MS)"/>
                <a:cs typeface="Calibri (MS)"/>
                <a:sym typeface="Calibri (MS)"/>
              </a:rPr>
              <a:t>3,000</a:t>
            </a:r>
            <a:r>
              <a:rPr lang="he-IL" sz="2600">
                <a:solidFill>
                  <a:srgbClr val="070404"/>
                </a:solidFill>
                <a:latin typeface="Calibri (MS)"/>
                <a:ea typeface="Calibri (MS)"/>
                <a:cs typeface="Calibri (MS)"/>
                <a:sym typeface="Calibri (MS)"/>
                <a:rtl/>
              </a:rPr>
              <a:t> מ"ר של משרדים, מעבדות ותשתיות עבודה מתקדמות בשני מתחבמי פעילות - בקיבוץ ניר עם ובאזור מועצה אזורית שער הנגב. </a:t>
            </a:r>
          </a:p>
          <a:p>
            <a:pPr algn="r" rtl="1">
              <a:lnSpc>
                <a:spcPts val="2730"/>
              </a:lnSpc>
            </a:pPr>
            <a:endParaRPr lang="he-IL" sz="2600">
              <a:solidFill>
                <a:srgbClr val="070404"/>
              </a:solidFill>
              <a:latin typeface="Calibri (MS)"/>
              <a:ea typeface="Calibri (MS)"/>
              <a:cs typeface="Calibri (MS)"/>
              <a:sym typeface="Calibri (MS)"/>
              <a:rtl/>
            </a:endParaRPr>
          </a:p>
          <a:p>
            <a:pPr algn="r" rtl="1">
              <a:lnSpc>
                <a:spcPts val="2730"/>
              </a:lnSpc>
            </a:pPr>
            <a:r>
              <a:rPr lang="he-IL" sz="2600" b="1">
                <a:solidFill>
                  <a:srgbClr val="070404"/>
                </a:solidFill>
                <a:latin typeface="Calibri (MS) Bold"/>
                <a:ea typeface="Calibri (MS) Bold"/>
                <a:cs typeface="Calibri (MS) Bold"/>
                <a:sym typeface="Calibri (MS) Bold"/>
                <a:rtl/>
              </a:rPr>
              <a:t>קרא עוד &gt;</a:t>
            </a:r>
          </a:p>
        </p:txBody>
      </p:sp>
      <p:sp>
        <p:nvSpPr>
          <p:cNvPr id="7" name="TextBox 7"/>
          <p:cNvSpPr txBox="1"/>
          <p:nvPr/>
        </p:nvSpPr>
        <p:spPr>
          <a:xfrm>
            <a:off x="12843469" y="7444413"/>
            <a:ext cx="4983940" cy="3101340"/>
          </a:xfrm>
          <a:prstGeom prst="rect">
            <a:avLst/>
          </a:prstGeom>
        </p:spPr>
        <p:txBody>
          <a:bodyPr lIns="0" tIns="0" rIns="0" bIns="0" rtlCol="0" anchor="t">
            <a:spAutoFit/>
          </a:bodyPr>
          <a:lstStyle/>
          <a:p>
            <a:pPr algn="r" rtl="1">
              <a:lnSpc>
                <a:spcPts val="3120"/>
              </a:lnSpc>
            </a:pPr>
            <a:r>
              <a:rPr lang="he-IL" sz="2600">
                <a:solidFill>
                  <a:srgbClr val="000000"/>
                </a:solidFill>
                <a:latin typeface="Calibri (MS)"/>
                <a:ea typeface="Calibri (MS)"/>
                <a:cs typeface="Calibri (MS)"/>
                <a:sym typeface="Calibri (MS)"/>
                <a:rtl/>
              </a:rPr>
              <a:t>חיבור לקהילה ותמיכה בגיוס לכוח אדם איכותי בנגב המערבי.</a:t>
            </a:r>
          </a:p>
          <a:p>
            <a:pPr algn="r" rtl="1">
              <a:lnSpc>
                <a:spcPts val="3120"/>
              </a:lnSpc>
            </a:pPr>
            <a:r>
              <a:rPr lang="he-IL" sz="2600">
                <a:solidFill>
                  <a:srgbClr val="000000"/>
                </a:solidFill>
                <a:latin typeface="Calibri (MS)"/>
                <a:ea typeface="Calibri (MS)"/>
                <a:cs typeface="Calibri (MS)"/>
                <a:sym typeface="Calibri (MS)"/>
                <a:rtl/>
              </a:rPr>
              <a:t>בניית צוותים חזקים מתוך אקוסיסטם צומח ודינמי.</a:t>
            </a:r>
          </a:p>
          <a:p>
            <a:pPr algn="r" rtl="1">
              <a:lnSpc>
                <a:spcPts val="2858"/>
              </a:lnSpc>
            </a:pPr>
            <a:endParaRPr lang="he-IL" sz="2600">
              <a:solidFill>
                <a:srgbClr val="000000"/>
              </a:solidFill>
              <a:latin typeface="Calibri (MS)"/>
              <a:ea typeface="Calibri (MS)"/>
              <a:cs typeface="Calibri (MS)"/>
              <a:sym typeface="Calibri (MS)"/>
              <a:rtl/>
            </a:endParaRPr>
          </a:p>
          <a:p>
            <a:pPr algn="r" rtl="1">
              <a:lnSpc>
                <a:spcPts val="2858"/>
              </a:lnSpc>
            </a:pPr>
            <a:endParaRPr lang="he-IL" sz="2600">
              <a:solidFill>
                <a:srgbClr val="000000"/>
              </a:solidFill>
              <a:latin typeface="Calibri (MS)"/>
              <a:ea typeface="Calibri (MS)"/>
              <a:cs typeface="Calibri (MS)"/>
              <a:sym typeface="Calibri (MS)"/>
              <a:rtl/>
            </a:endParaRPr>
          </a:p>
          <a:p>
            <a:pPr algn="r" rtl="1">
              <a:lnSpc>
                <a:spcPts val="3120"/>
              </a:lnSpc>
            </a:pPr>
            <a:r>
              <a:rPr lang="he-IL" sz="2600" b="1">
                <a:solidFill>
                  <a:srgbClr val="000000"/>
                </a:solidFill>
                <a:latin typeface="Calibri (MS) Bold"/>
                <a:ea typeface="Calibri (MS) Bold"/>
                <a:cs typeface="Calibri (MS) Bold"/>
                <a:sym typeface="Calibri (MS) Bold"/>
                <a:rtl/>
              </a:rPr>
              <a:t>קרא עוד ›</a:t>
            </a:r>
          </a:p>
          <a:p>
            <a:pPr algn="r" rtl="1">
              <a:lnSpc>
                <a:spcPts val="2730"/>
              </a:lnSpc>
            </a:pPr>
            <a:endParaRPr lang="he-IL" sz="2600" b="1">
              <a:solidFill>
                <a:srgbClr val="000000"/>
              </a:solidFill>
              <a:latin typeface="Calibri (MS) Bold"/>
              <a:ea typeface="Calibri (MS) Bold"/>
              <a:cs typeface="Calibri (MS) Bold"/>
              <a:sym typeface="Calibri (MS) Bold"/>
              <a:rtl/>
            </a:endParaRPr>
          </a:p>
        </p:txBody>
      </p:sp>
      <p:grpSp>
        <p:nvGrpSpPr>
          <p:cNvPr id="8" name="Group 8"/>
          <p:cNvGrpSpPr/>
          <p:nvPr/>
        </p:nvGrpSpPr>
        <p:grpSpPr>
          <a:xfrm>
            <a:off x="0" y="0"/>
            <a:ext cx="18288000" cy="1856042"/>
            <a:chOff x="0" y="0"/>
            <a:chExt cx="4816593" cy="488834"/>
          </a:xfrm>
        </p:grpSpPr>
        <p:sp>
          <p:nvSpPr>
            <p:cNvPr id="9" name="Freeform 9"/>
            <p:cNvSpPr/>
            <p:nvPr/>
          </p:nvSpPr>
          <p:spPr>
            <a:xfrm>
              <a:off x="0" y="0"/>
              <a:ext cx="4816592" cy="488834"/>
            </a:xfrm>
            <a:custGeom>
              <a:avLst/>
              <a:gdLst/>
              <a:ahLst/>
              <a:cxnLst/>
              <a:rect l="l" t="t" r="r" b="b"/>
              <a:pathLst>
                <a:path w="4816592" h="488834">
                  <a:moveTo>
                    <a:pt x="0" y="0"/>
                  </a:moveTo>
                  <a:lnTo>
                    <a:pt x="4816592" y="0"/>
                  </a:lnTo>
                  <a:lnTo>
                    <a:pt x="4816592" y="488834"/>
                  </a:lnTo>
                  <a:lnTo>
                    <a:pt x="0" y="488834"/>
                  </a:lnTo>
                  <a:close/>
                </a:path>
              </a:pathLst>
            </a:custGeom>
            <a:solidFill>
              <a:srgbClr val="483F2B"/>
            </a:solidFill>
          </p:spPr>
          <p:txBody>
            <a:bodyPr/>
            <a:lstStyle/>
            <a:p>
              <a:endParaRPr lang="he-IL"/>
            </a:p>
          </p:txBody>
        </p:sp>
        <p:sp>
          <p:nvSpPr>
            <p:cNvPr id="10" name="TextBox 10"/>
            <p:cNvSpPr txBox="1"/>
            <p:nvPr/>
          </p:nvSpPr>
          <p:spPr>
            <a:xfrm>
              <a:off x="0" y="-47625"/>
              <a:ext cx="4816593" cy="536459"/>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979366" y="206025"/>
            <a:ext cx="13649782" cy="1438274"/>
          </a:xfrm>
          <a:prstGeom prst="rect">
            <a:avLst/>
          </a:prstGeom>
        </p:spPr>
        <p:txBody>
          <a:bodyPr lIns="0" tIns="0" rIns="0" bIns="0" rtlCol="0" anchor="t">
            <a:spAutoFit/>
          </a:bodyPr>
          <a:lstStyle/>
          <a:p>
            <a:pPr algn="r" rtl="1">
              <a:lnSpc>
                <a:spcPts val="6480"/>
              </a:lnSpc>
            </a:pPr>
            <a:r>
              <a:rPr lang="he-IL" sz="4800" b="1" spc="-124">
                <a:solidFill>
                  <a:srgbClr val="FF8700"/>
                </a:solidFill>
                <a:latin typeface="Calibri (MS) Bold"/>
                <a:ea typeface="Calibri (MS) Bold"/>
                <a:cs typeface="Calibri (MS) Bold"/>
                <a:sym typeface="Calibri (MS) Bold"/>
                <a:rtl/>
              </a:rPr>
              <a:t>מעטפת כלים שהופכים סטארט-אפ לחברה גלובלית </a:t>
            </a:r>
          </a:p>
          <a:p>
            <a:pPr algn="r" rtl="1">
              <a:lnSpc>
                <a:spcPts val="4320"/>
              </a:lnSpc>
            </a:pPr>
            <a:r>
              <a:rPr lang="he-IL" sz="3200" b="1" spc="-83">
                <a:solidFill>
                  <a:srgbClr val="FFFFFF"/>
                </a:solidFill>
                <a:latin typeface="Calibri (MS) Bold"/>
                <a:ea typeface="Calibri (MS) Bold"/>
                <a:cs typeface="Calibri (MS) Bold"/>
                <a:sym typeface="Calibri (MS) Bold"/>
                <a:rtl/>
              </a:rPr>
              <a:t>הצטרפו לעשרות סטארטאפים שכבר בנו את עתידם איתנו.</a:t>
            </a:r>
          </a:p>
        </p:txBody>
      </p:sp>
      <p:sp>
        <p:nvSpPr>
          <p:cNvPr id="12" name="TextBox 12"/>
          <p:cNvSpPr txBox="1"/>
          <p:nvPr/>
        </p:nvSpPr>
        <p:spPr>
          <a:xfrm>
            <a:off x="12843469" y="3610513"/>
            <a:ext cx="5046522" cy="2184091"/>
          </a:xfrm>
          <a:prstGeom prst="rect">
            <a:avLst/>
          </a:prstGeom>
        </p:spPr>
        <p:txBody>
          <a:bodyPr lIns="0" tIns="0" rIns="0" bIns="0" rtlCol="0" anchor="t">
            <a:spAutoFit/>
          </a:bodyPr>
          <a:lstStyle/>
          <a:p>
            <a:pPr algn="r" rtl="1">
              <a:lnSpc>
                <a:spcPts val="2782"/>
              </a:lnSpc>
            </a:pPr>
            <a:r>
              <a:rPr lang="he-IL" sz="2650">
                <a:solidFill>
                  <a:srgbClr val="000000"/>
                </a:solidFill>
                <a:latin typeface="Calibri (MS)"/>
                <a:ea typeface="Calibri (MS)"/>
                <a:cs typeface="Calibri (MS)"/>
                <a:sym typeface="Calibri (MS)"/>
                <a:rtl/>
              </a:rPr>
              <a:t>ליווי מותאם אישית ממייסדים, מנכ"לים   ומומחי תעשייה ואקדמיה בארץ ובעולם החל מבניית אסטרטגיה ותוכנית עסקית, בניית מהלכי שיווק ויציאה לשוק (</a:t>
            </a:r>
            <a:r>
              <a:rPr lang="en-US" sz="2650">
                <a:solidFill>
                  <a:srgbClr val="000000"/>
                </a:solidFill>
                <a:latin typeface="Calibri (MS)"/>
                <a:ea typeface="Calibri (MS)"/>
                <a:cs typeface="Calibri (MS)"/>
                <a:sym typeface="Calibri (MS)"/>
              </a:rPr>
              <a:t>GTM</a:t>
            </a:r>
            <a:r>
              <a:rPr lang="ar-EG" sz="2650">
                <a:solidFill>
                  <a:srgbClr val="000000"/>
                </a:solidFill>
                <a:latin typeface="Calibri (MS)"/>
                <a:ea typeface="Calibri (MS)"/>
                <a:cs typeface="Calibri (MS)"/>
                <a:sym typeface="Calibri (MS)"/>
                <a:rtl/>
              </a:rPr>
              <a:t>).</a:t>
            </a:r>
          </a:p>
          <a:p>
            <a:pPr algn="r" rtl="1">
              <a:lnSpc>
                <a:spcPts val="2782"/>
              </a:lnSpc>
            </a:pPr>
            <a:endParaRPr lang="ar-EG" sz="2650">
              <a:solidFill>
                <a:srgbClr val="000000"/>
              </a:solidFill>
              <a:latin typeface="Calibri (MS)"/>
              <a:ea typeface="Calibri (MS)"/>
              <a:cs typeface="Calibri (MS)"/>
              <a:sym typeface="Calibri (MS)"/>
              <a:rtl/>
            </a:endParaRPr>
          </a:p>
          <a:p>
            <a:pPr algn="r" rtl="1">
              <a:lnSpc>
                <a:spcPts val="2782"/>
              </a:lnSpc>
            </a:pPr>
            <a:r>
              <a:rPr lang="he-IL" sz="2650" b="1">
                <a:solidFill>
                  <a:srgbClr val="000000"/>
                </a:solidFill>
                <a:latin typeface="Calibri (MS) Bold"/>
                <a:ea typeface="Calibri (MS) Bold"/>
                <a:cs typeface="Calibri (MS) Bold"/>
                <a:sym typeface="Calibri (MS) Bold"/>
                <a:rtl/>
              </a:rPr>
              <a:t>קרא עוד ›</a:t>
            </a:r>
            <a:r>
              <a:rPr lang="ar-EG" sz="2650" b="1">
                <a:solidFill>
                  <a:srgbClr val="000000"/>
                </a:solidFill>
                <a:latin typeface="Calibri (MS) Bold"/>
                <a:ea typeface="Calibri (MS) Bold"/>
                <a:cs typeface="Calibri (MS) Bold"/>
                <a:sym typeface="Calibri (MS) Bold"/>
                <a:rtl/>
              </a:rPr>
              <a:t> </a:t>
            </a:r>
          </a:p>
        </p:txBody>
      </p:sp>
      <p:sp>
        <p:nvSpPr>
          <p:cNvPr id="13" name="Freeform 13"/>
          <p:cNvSpPr/>
          <p:nvPr/>
        </p:nvSpPr>
        <p:spPr>
          <a:xfrm>
            <a:off x="15414733" y="2030518"/>
            <a:ext cx="972578" cy="1038802"/>
          </a:xfrm>
          <a:custGeom>
            <a:avLst/>
            <a:gdLst/>
            <a:ahLst/>
            <a:cxnLst/>
            <a:rect l="l" t="t" r="r" b="b"/>
            <a:pathLst>
              <a:path w="972578" h="1038802">
                <a:moveTo>
                  <a:pt x="0" y="0"/>
                </a:moveTo>
                <a:lnTo>
                  <a:pt x="972578" y="0"/>
                </a:lnTo>
                <a:lnTo>
                  <a:pt x="972578" y="1038801"/>
                </a:lnTo>
                <a:lnTo>
                  <a:pt x="0" y="10388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14" name="TextBox 14"/>
          <p:cNvSpPr txBox="1"/>
          <p:nvPr/>
        </p:nvSpPr>
        <p:spPr>
          <a:xfrm>
            <a:off x="7366729" y="2981482"/>
            <a:ext cx="4316311" cy="524256"/>
          </a:xfrm>
          <a:prstGeom prst="rect">
            <a:avLst/>
          </a:prstGeom>
        </p:spPr>
        <p:txBody>
          <a:bodyPr lIns="0" tIns="0" rIns="0" bIns="0" rtlCol="0" anchor="t">
            <a:spAutoFit/>
          </a:bodyPr>
          <a:lstStyle/>
          <a:p>
            <a:pPr algn="ctr" rtl="1">
              <a:lnSpc>
                <a:spcPts val="4257"/>
              </a:lnSpc>
              <a:spcBef>
                <a:spcPct val="0"/>
              </a:spcBef>
            </a:pPr>
            <a:r>
              <a:rPr lang="he-IL" sz="3300" b="1" spc="-155">
                <a:solidFill>
                  <a:srgbClr val="FF8700"/>
                </a:solidFill>
                <a:latin typeface="Open Sans Bold"/>
                <a:ea typeface="Open Sans Bold"/>
                <a:cs typeface="Open Sans Bold"/>
                <a:sym typeface="Open Sans Bold"/>
                <a:rtl/>
              </a:rPr>
              <a:t>מימון ותמיכה פיננסית</a:t>
            </a:r>
          </a:p>
        </p:txBody>
      </p:sp>
      <p:sp>
        <p:nvSpPr>
          <p:cNvPr id="15" name="Freeform 15"/>
          <p:cNvSpPr/>
          <p:nvPr/>
        </p:nvSpPr>
        <p:spPr>
          <a:xfrm>
            <a:off x="8705309" y="2078738"/>
            <a:ext cx="934532" cy="922851"/>
          </a:xfrm>
          <a:custGeom>
            <a:avLst/>
            <a:gdLst/>
            <a:ahLst/>
            <a:cxnLst/>
            <a:rect l="l" t="t" r="r" b="b"/>
            <a:pathLst>
              <a:path w="934532" h="922851">
                <a:moveTo>
                  <a:pt x="0" y="0"/>
                </a:moveTo>
                <a:lnTo>
                  <a:pt x="934532" y="0"/>
                </a:lnTo>
                <a:lnTo>
                  <a:pt x="934532" y="922850"/>
                </a:lnTo>
                <a:lnTo>
                  <a:pt x="0" y="92285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he-IL"/>
          </a:p>
        </p:txBody>
      </p:sp>
      <p:sp>
        <p:nvSpPr>
          <p:cNvPr id="16" name="TextBox 16"/>
          <p:cNvSpPr txBox="1"/>
          <p:nvPr/>
        </p:nvSpPr>
        <p:spPr>
          <a:xfrm>
            <a:off x="1173993" y="2963488"/>
            <a:ext cx="4316311" cy="524256"/>
          </a:xfrm>
          <a:prstGeom prst="rect">
            <a:avLst/>
          </a:prstGeom>
        </p:spPr>
        <p:txBody>
          <a:bodyPr lIns="0" tIns="0" rIns="0" bIns="0" rtlCol="0" anchor="t">
            <a:spAutoFit/>
          </a:bodyPr>
          <a:lstStyle/>
          <a:p>
            <a:pPr algn="ctr" rtl="1">
              <a:lnSpc>
                <a:spcPts val="4257"/>
              </a:lnSpc>
              <a:spcBef>
                <a:spcPct val="0"/>
              </a:spcBef>
            </a:pPr>
            <a:r>
              <a:rPr lang="he-IL" sz="3300" b="1" spc="-155">
                <a:solidFill>
                  <a:srgbClr val="FF8700"/>
                </a:solidFill>
                <a:latin typeface="Open Sans Bold"/>
                <a:ea typeface="Open Sans Bold"/>
                <a:cs typeface="Open Sans Bold"/>
                <a:sym typeface="Open Sans Bold"/>
                <a:rtl/>
              </a:rPr>
              <a:t>קמפוס חדשנות מתקדם</a:t>
            </a:r>
          </a:p>
        </p:txBody>
      </p:sp>
      <p:sp>
        <p:nvSpPr>
          <p:cNvPr id="17" name="Freeform 17"/>
          <p:cNvSpPr/>
          <p:nvPr/>
        </p:nvSpPr>
        <p:spPr>
          <a:xfrm>
            <a:off x="2585056" y="1951292"/>
            <a:ext cx="974999" cy="840937"/>
          </a:xfrm>
          <a:custGeom>
            <a:avLst/>
            <a:gdLst/>
            <a:ahLst/>
            <a:cxnLst/>
            <a:rect l="l" t="t" r="r" b="b"/>
            <a:pathLst>
              <a:path w="974999" h="840937">
                <a:moveTo>
                  <a:pt x="0" y="0"/>
                </a:moveTo>
                <a:lnTo>
                  <a:pt x="974999" y="0"/>
                </a:lnTo>
                <a:lnTo>
                  <a:pt x="974999" y="840937"/>
                </a:lnTo>
                <a:lnTo>
                  <a:pt x="0" y="8409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8" name="Freeform 18"/>
          <p:cNvSpPr/>
          <p:nvPr/>
        </p:nvSpPr>
        <p:spPr>
          <a:xfrm>
            <a:off x="2866177" y="5929538"/>
            <a:ext cx="804968" cy="907006"/>
          </a:xfrm>
          <a:custGeom>
            <a:avLst/>
            <a:gdLst/>
            <a:ahLst/>
            <a:cxnLst/>
            <a:rect l="l" t="t" r="r" b="b"/>
            <a:pathLst>
              <a:path w="804968" h="907006">
                <a:moveTo>
                  <a:pt x="0" y="0"/>
                </a:moveTo>
                <a:lnTo>
                  <a:pt x="804968" y="0"/>
                </a:lnTo>
                <a:lnTo>
                  <a:pt x="804968" y="907006"/>
                </a:lnTo>
                <a:lnTo>
                  <a:pt x="0" y="90700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he-IL"/>
          </a:p>
        </p:txBody>
      </p:sp>
      <p:sp>
        <p:nvSpPr>
          <p:cNvPr id="19" name="Freeform 19"/>
          <p:cNvSpPr/>
          <p:nvPr/>
        </p:nvSpPr>
        <p:spPr>
          <a:xfrm>
            <a:off x="15452833" y="6032459"/>
            <a:ext cx="768353" cy="785035"/>
          </a:xfrm>
          <a:custGeom>
            <a:avLst/>
            <a:gdLst/>
            <a:ahLst/>
            <a:cxnLst/>
            <a:rect l="l" t="t" r="r" b="b"/>
            <a:pathLst>
              <a:path w="768353" h="785035">
                <a:moveTo>
                  <a:pt x="0" y="0"/>
                </a:moveTo>
                <a:lnTo>
                  <a:pt x="768352" y="0"/>
                </a:lnTo>
                <a:lnTo>
                  <a:pt x="768352" y="785035"/>
                </a:lnTo>
                <a:lnTo>
                  <a:pt x="0" y="78503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he-IL"/>
          </a:p>
        </p:txBody>
      </p:sp>
      <p:sp>
        <p:nvSpPr>
          <p:cNvPr id="20" name="TextBox 20"/>
          <p:cNvSpPr txBox="1"/>
          <p:nvPr/>
        </p:nvSpPr>
        <p:spPr>
          <a:xfrm>
            <a:off x="12687312" y="6979419"/>
            <a:ext cx="5531042" cy="426894"/>
          </a:xfrm>
          <a:prstGeom prst="rect">
            <a:avLst/>
          </a:prstGeom>
        </p:spPr>
        <p:txBody>
          <a:bodyPr lIns="0" tIns="0" rIns="0" bIns="0" rtlCol="0" anchor="t">
            <a:spAutoFit/>
          </a:bodyPr>
          <a:lstStyle/>
          <a:p>
            <a:pPr algn="ctr">
              <a:lnSpc>
                <a:spcPts val="3298"/>
              </a:lnSpc>
            </a:pPr>
            <a:r>
              <a:rPr lang="he-IL" sz="3299" b="1">
                <a:solidFill>
                  <a:srgbClr val="FF8700"/>
                </a:solidFill>
                <a:latin typeface="Open Sans Bold"/>
                <a:ea typeface="Open Sans Bold"/>
                <a:cs typeface="Open Sans Bold"/>
                <a:sym typeface="Open Sans Bold"/>
                <a:rtl/>
              </a:rPr>
              <a:t>הון אנושי ואקו-סיסטם תומך</a:t>
            </a:r>
          </a:p>
        </p:txBody>
      </p:sp>
      <p:sp>
        <p:nvSpPr>
          <p:cNvPr id="21" name="TextBox 21"/>
          <p:cNvSpPr txBox="1"/>
          <p:nvPr/>
        </p:nvSpPr>
        <p:spPr>
          <a:xfrm>
            <a:off x="6623191" y="7000189"/>
            <a:ext cx="5531042" cy="426894"/>
          </a:xfrm>
          <a:prstGeom prst="rect">
            <a:avLst/>
          </a:prstGeom>
        </p:spPr>
        <p:txBody>
          <a:bodyPr lIns="0" tIns="0" rIns="0" bIns="0" rtlCol="0" anchor="t">
            <a:spAutoFit/>
          </a:bodyPr>
          <a:lstStyle/>
          <a:p>
            <a:pPr algn="ctr">
              <a:lnSpc>
                <a:spcPts val="3298"/>
              </a:lnSpc>
            </a:pPr>
            <a:r>
              <a:rPr lang="he-IL" sz="3299" b="1">
                <a:solidFill>
                  <a:srgbClr val="FF8700"/>
                </a:solidFill>
                <a:latin typeface="Open Sans Bold"/>
                <a:ea typeface="Open Sans Bold"/>
                <a:cs typeface="Open Sans Bold"/>
                <a:sym typeface="Open Sans Bold"/>
                <a:rtl/>
              </a:rPr>
              <a:t>חיבורים שמייצרים צמיחה</a:t>
            </a:r>
          </a:p>
        </p:txBody>
      </p:sp>
      <p:sp>
        <p:nvSpPr>
          <p:cNvPr id="22" name="Freeform 22"/>
          <p:cNvSpPr/>
          <p:nvPr/>
        </p:nvSpPr>
        <p:spPr>
          <a:xfrm>
            <a:off x="8877798" y="5987398"/>
            <a:ext cx="850379" cy="815301"/>
          </a:xfrm>
          <a:custGeom>
            <a:avLst/>
            <a:gdLst/>
            <a:ahLst/>
            <a:cxnLst/>
            <a:rect l="l" t="t" r="r" b="b"/>
            <a:pathLst>
              <a:path w="850379" h="815301">
                <a:moveTo>
                  <a:pt x="0" y="0"/>
                </a:moveTo>
                <a:lnTo>
                  <a:pt x="850379" y="0"/>
                </a:lnTo>
                <a:lnTo>
                  <a:pt x="850379" y="815300"/>
                </a:lnTo>
                <a:lnTo>
                  <a:pt x="0" y="8153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he-IL"/>
          </a:p>
        </p:txBody>
      </p:sp>
      <p:sp>
        <p:nvSpPr>
          <p:cNvPr id="23" name="TextBox 23"/>
          <p:cNvSpPr txBox="1"/>
          <p:nvPr/>
        </p:nvSpPr>
        <p:spPr>
          <a:xfrm>
            <a:off x="503140" y="6974856"/>
            <a:ext cx="5531042" cy="426894"/>
          </a:xfrm>
          <a:prstGeom prst="rect">
            <a:avLst/>
          </a:prstGeom>
        </p:spPr>
        <p:txBody>
          <a:bodyPr lIns="0" tIns="0" rIns="0" bIns="0" rtlCol="0" anchor="t">
            <a:spAutoFit/>
          </a:bodyPr>
          <a:lstStyle/>
          <a:p>
            <a:pPr algn="ctr" rtl="1">
              <a:lnSpc>
                <a:spcPts val="3298"/>
              </a:lnSpc>
            </a:pPr>
            <a:r>
              <a:rPr lang="he-IL" sz="3299" b="1">
                <a:solidFill>
                  <a:srgbClr val="FF8700"/>
                </a:solidFill>
                <a:latin typeface="Open Sans Bold"/>
                <a:ea typeface="Open Sans Bold"/>
                <a:cs typeface="Open Sans Bold"/>
                <a:sym typeface="Open Sans Bold"/>
                <a:rtl/>
              </a:rPr>
              <a:t>קידום השקעות וגיוסי הון</a:t>
            </a:r>
          </a:p>
        </p:txBody>
      </p:sp>
      <p:sp>
        <p:nvSpPr>
          <p:cNvPr id="24" name="TextBox 24"/>
          <p:cNvSpPr txBox="1"/>
          <p:nvPr/>
        </p:nvSpPr>
        <p:spPr>
          <a:xfrm>
            <a:off x="6151998" y="7453938"/>
            <a:ext cx="5531042" cy="3140710"/>
          </a:xfrm>
          <a:prstGeom prst="rect">
            <a:avLst/>
          </a:prstGeom>
        </p:spPr>
        <p:txBody>
          <a:bodyPr lIns="0" tIns="0" rIns="0" bIns="0" rtlCol="0" anchor="t">
            <a:spAutoFit/>
          </a:bodyPr>
          <a:lstStyle/>
          <a:p>
            <a:pPr algn="r" rtl="1">
              <a:lnSpc>
                <a:spcPts val="3120"/>
              </a:lnSpc>
            </a:pPr>
            <a:r>
              <a:rPr lang="he-IL" sz="2600">
                <a:solidFill>
                  <a:srgbClr val="070404"/>
                </a:solidFill>
                <a:latin typeface="Calibri (MS)"/>
                <a:ea typeface="Calibri (MS)"/>
                <a:cs typeface="Calibri (MS)"/>
                <a:sym typeface="Calibri (MS)"/>
                <a:rtl/>
              </a:rPr>
              <a:t>גישה ישירה לתעשייה, לשותפים אסטרטגיים ומנטורים בעלי ניסיון.</a:t>
            </a:r>
          </a:p>
          <a:p>
            <a:pPr algn="r">
              <a:lnSpc>
                <a:spcPts val="3120"/>
              </a:lnSpc>
            </a:pPr>
            <a:r>
              <a:rPr lang="he-IL" sz="2600">
                <a:solidFill>
                  <a:srgbClr val="070404"/>
                </a:solidFill>
                <a:latin typeface="Calibri (MS)"/>
                <a:ea typeface="Calibri (MS)"/>
                <a:cs typeface="Calibri (MS)"/>
                <a:sym typeface="Calibri (MS)"/>
                <a:rtl/>
              </a:rPr>
              <a:t>מפגשי עבודה, פיילוטים ושיתופי פעולה שמובילים להזדמנויות עסקיות אמיתיות</a:t>
            </a:r>
            <a:r>
              <a:rPr lang="en-US" sz="2600">
                <a:solidFill>
                  <a:srgbClr val="070404"/>
                </a:solidFill>
                <a:latin typeface="Calibri (MS)"/>
                <a:ea typeface="Calibri (MS)"/>
                <a:cs typeface="Calibri (MS)"/>
                <a:sym typeface="Calibri (MS)"/>
              </a:rPr>
              <a:t>.</a:t>
            </a:r>
          </a:p>
          <a:p>
            <a:pPr algn="r">
              <a:lnSpc>
                <a:spcPts val="3120"/>
              </a:lnSpc>
            </a:pPr>
            <a:endParaRPr lang="en-US" sz="2600">
              <a:solidFill>
                <a:srgbClr val="070404"/>
              </a:solidFill>
              <a:latin typeface="Calibri (MS)"/>
              <a:ea typeface="Calibri (MS)"/>
              <a:cs typeface="Calibri (MS)"/>
              <a:sym typeface="Calibri (MS)"/>
            </a:endParaRPr>
          </a:p>
          <a:p>
            <a:pPr algn="l" rtl="1">
              <a:lnSpc>
                <a:spcPts val="2860"/>
              </a:lnSpc>
            </a:pPr>
            <a:endParaRPr lang="en-US" sz="2600">
              <a:solidFill>
                <a:srgbClr val="070404"/>
              </a:solidFill>
              <a:latin typeface="Calibri (MS)"/>
              <a:ea typeface="Calibri (MS)"/>
              <a:cs typeface="Calibri (MS)"/>
              <a:sym typeface="Calibri (MS)"/>
            </a:endParaRPr>
          </a:p>
          <a:p>
            <a:pPr algn="just" rtl="1">
              <a:lnSpc>
                <a:spcPts val="3120"/>
              </a:lnSpc>
            </a:pPr>
            <a:r>
              <a:rPr lang="he-IL" sz="2600" b="1">
                <a:solidFill>
                  <a:srgbClr val="070404"/>
                </a:solidFill>
                <a:latin typeface="Calibri (MS) Bold"/>
                <a:ea typeface="Calibri (MS) Bold"/>
                <a:cs typeface="Calibri (MS) Bold"/>
                <a:sym typeface="Calibri (MS) Bold"/>
                <a:rtl/>
              </a:rPr>
              <a:t>קרא עוד ›</a:t>
            </a:r>
          </a:p>
          <a:p>
            <a:pPr algn="l" rtl="1">
              <a:lnSpc>
                <a:spcPts val="2860"/>
              </a:lnSpc>
            </a:pPr>
            <a:endParaRPr lang="he-IL" sz="2600" b="1">
              <a:solidFill>
                <a:srgbClr val="070404"/>
              </a:solidFill>
              <a:latin typeface="Calibri (MS) Bold"/>
              <a:ea typeface="Calibri (MS) Bold"/>
              <a:cs typeface="Calibri (MS) Bold"/>
              <a:sym typeface="Calibri (MS) Bold"/>
              <a:rt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66402" y="1416787"/>
            <a:ext cx="1747752" cy="1747508"/>
            <a:chOff x="0" y="0"/>
            <a:chExt cx="1822069" cy="1821815"/>
          </a:xfrm>
        </p:grpSpPr>
        <p:sp>
          <p:nvSpPr>
            <p:cNvPr id="3" name="Freeform 3"/>
            <p:cNvSpPr/>
            <p:nvPr/>
          </p:nvSpPr>
          <p:spPr>
            <a:xfrm>
              <a:off x="0" y="0"/>
              <a:ext cx="1822069" cy="1821815"/>
            </a:xfrm>
            <a:custGeom>
              <a:avLst/>
              <a:gdLst/>
              <a:ahLst/>
              <a:cxnLst/>
              <a:rect l="l" t="t" r="r" b="b"/>
              <a:pathLst>
                <a:path w="1822069" h="1821815">
                  <a:moveTo>
                    <a:pt x="0" y="0"/>
                  </a:moveTo>
                  <a:lnTo>
                    <a:pt x="1822069" y="0"/>
                  </a:lnTo>
                  <a:lnTo>
                    <a:pt x="1822069" y="1821815"/>
                  </a:lnTo>
                  <a:lnTo>
                    <a:pt x="0" y="1821815"/>
                  </a:lnTo>
                  <a:lnTo>
                    <a:pt x="0" y="0"/>
                  </a:lnTo>
                  <a:close/>
                </a:path>
              </a:pathLst>
            </a:custGeom>
            <a:blipFill>
              <a:blip r:embed="rId3"/>
              <a:stretch>
                <a:fillRect t="-6" b="-6"/>
              </a:stretch>
            </a:blipFill>
          </p:spPr>
          <p:txBody>
            <a:bodyPr/>
            <a:lstStyle/>
            <a:p>
              <a:endParaRPr lang="he-IL"/>
            </a:p>
          </p:txBody>
        </p:sp>
      </p:grpSp>
      <p:grpSp>
        <p:nvGrpSpPr>
          <p:cNvPr id="4" name="Group 4"/>
          <p:cNvGrpSpPr/>
          <p:nvPr/>
        </p:nvGrpSpPr>
        <p:grpSpPr>
          <a:xfrm>
            <a:off x="1668119" y="1454887"/>
            <a:ext cx="1579943" cy="1579723"/>
            <a:chOff x="0" y="0"/>
            <a:chExt cx="1822069" cy="1821815"/>
          </a:xfrm>
        </p:grpSpPr>
        <p:sp>
          <p:nvSpPr>
            <p:cNvPr id="5" name="Freeform 5"/>
            <p:cNvSpPr/>
            <p:nvPr/>
          </p:nvSpPr>
          <p:spPr>
            <a:xfrm>
              <a:off x="0" y="0"/>
              <a:ext cx="1822069" cy="1821815"/>
            </a:xfrm>
            <a:custGeom>
              <a:avLst/>
              <a:gdLst/>
              <a:ahLst/>
              <a:cxnLst/>
              <a:rect l="l" t="t" r="r" b="b"/>
              <a:pathLst>
                <a:path w="1822069" h="1821815">
                  <a:moveTo>
                    <a:pt x="0" y="0"/>
                  </a:moveTo>
                  <a:lnTo>
                    <a:pt x="1822069" y="0"/>
                  </a:lnTo>
                  <a:lnTo>
                    <a:pt x="1822069" y="1821815"/>
                  </a:lnTo>
                  <a:lnTo>
                    <a:pt x="0" y="1821815"/>
                  </a:lnTo>
                  <a:lnTo>
                    <a:pt x="0" y="0"/>
                  </a:lnTo>
                  <a:close/>
                </a:path>
              </a:pathLst>
            </a:custGeom>
            <a:blipFill>
              <a:blip r:embed="rId4"/>
              <a:stretch>
                <a:fillRect t="-6" b="-6"/>
              </a:stretch>
            </a:blipFill>
          </p:spPr>
          <p:txBody>
            <a:bodyPr/>
            <a:lstStyle/>
            <a:p>
              <a:endParaRPr lang="he-IL"/>
            </a:p>
          </p:txBody>
        </p:sp>
      </p:grpSp>
      <p:grpSp>
        <p:nvGrpSpPr>
          <p:cNvPr id="6" name="Group 6"/>
          <p:cNvGrpSpPr/>
          <p:nvPr/>
        </p:nvGrpSpPr>
        <p:grpSpPr>
          <a:xfrm>
            <a:off x="14672643" y="1473136"/>
            <a:ext cx="1722521" cy="1722521"/>
            <a:chOff x="0" y="0"/>
            <a:chExt cx="2003781" cy="2003781"/>
          </a:xfrm>
        </p:grpSpPr>
        <p:sp>
          <p:nvSpPr>
            <p:cNvPr id="7" name="Freeform 7"/>
            <p:cNvSpPr/>
            <p:nvPr/>
          </p:nvSpPr>
          <p:spPr>
            <a:xfrm>
              <a:off x="0" y="0"/>
              <a:ext cx="2003806" cy="2003806"/>
            </a:xfrm>
            <a:custGeom>
              <a:avLst/>
              <a:gdLst/>
              <a:ahLst/>
              <a:cxnLst/>
              <a:rect l="l" t="t" r="r" b="b"/>
              <a:pathLst>
                <a:path w="2003806" h="2003806">
                  <a:moveTo>
                    <a:pt x="1001903" y="0"/>
                  </a:moveTo>
                  <a:cubicBezTo>
                    <a:pt x="448564" y="0"/>
                    <a:pt x="0" y="448564"/>
                    <a:pt x="0" y="1001903"/>
                  </a:cubicBezTo>
                  <a:cubicBezTo>
                    <a:pt x="0" y="1555242"/>
                    <a:pt x="448564" y="2003806"/>
                    <a:pt x="1001903" y="2003806"/>
                  </a:cubicBezTo>
                  <a:cubicBezTo>
                    <a:pt x="1555242" y="2003806"/>
                    <a:pt x="2003806" y="1555242"/>
                    <a:pt x="2003806" y="1001903"/>
                  </a:cubicBezTo>
                  <a:cubicBezTo>
                    <a:pt x="2003806" y="448564"/>
                    <a:pt x="1555242" y="0"/>
                    <a:pt x="1001903" y="0"/>
                  </a:cubicBezTo>
                  <a:close/>
                </a:path>
              </a:pathLst>
            </a:custGeom>
            <a:blipFill>
              <a:blip r:embed="rId5"/>
              <a:stretch>
                <a:fillRect t="-456" r="1" b="-455"/>
              </a:stretch>
            </a:blipFill>
          </p:spPr>
          <p:txBody>
            <a:bodyPr/>
            <a:lstStyle/>
            <a:p>
              <a:endParaRPr lang="he-IL"/>
            </a:p>
          </p:txBody>
        </p:sp>
      </p:grpSp>
      <p:sp>
        <p:nvSpPr>
          <p:cNvPr id="8" name="Freeform 8">
            <a:hlinkClick r:id="rId6" tooltip="https://www.linkedin.com/in/yaarit-wainberg-947b2783/"/>
          </p:cNvPr>
          <p:cNvSpPr/>
          <p:nvPr/>
        </p:nvSpPr>
        <p:spPr>
          <a:xfrm>
            <a:off x="15202558" y="8679886"/>
            <a:ext cx="1192605" cy="1156827"/>
          </a:xfrm>
          <a:custGeom>
            <a:avLst/>
            <a:gdLst/>
            <a:ahLst/>
            <a:cxnLst/>
            <a:rect l="l" t="t" r="r" b="b"/>
            <a:pathLst>
              <a:path w="1192605" h="1156827">
                <a:moveTo>
                  <a:pt x="0" y="0"/>
                </a:moveTo>
                <a:lnTo>
                  <a:pt x="1192605" y="0"/>
                </a:lnTo>
                <a:lnTo>
                  <a:pt x="1192605" y="1156828"/>
                </a:lnTo>
                <a:lnTo>
                  <a:pt x="0" y="115682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he-IL"/>
          </a:p>
        </p:txBody>
      </p:sp>
      <p:sp>
        <p:nvSpPr>
          <p:cNvPr id="9" name="TextBox 9"/>
          <p:cNvSpPr txBox="1"/>
          <p:nvPr/>
        </p:nvSpPr>
        <p:spPr>
          <a:xfrm>
            <a:off x="13818769" y="3193026"/>
            <a:ext cx="3630904" cy="1095550"/>
          </a:xfrm>
          <a:prstGeom prst="rect">
            <a:avLst/>
          </a:prstGeom>
        </p:spPr>
        <p:txBody>
          <a:bodyPr lIns="0" tIns="0" rIns="0" bIns="0" rtlCol="0" anchor="t">
            <a:spAutoFit/>
          </a:bodyPr>
          <a:lstStyle/>
          <a:p>
            <a:pPr algn="ctr" rtl="1">
              <a:lnSpc>
                <a:spcPts val="4705"/>
              </a:lnSpc>
            </a:pPr>
            <a:r>
              <a:rPr lang="he-IL" sz="2799" b="1">
                <a:solidFill>
                  <a:srgbClr val="6C6C6C"/>
                </a:solidFill>
                <a:latin typeface="Open Sans Bold"/>
                <a:ea typeface="Open Sans Bold"/>
                <a:cs typeface="Open Sans Bold"/>
                <a:sym typeface="Open Sans Bold"/>
                <a:rtl/>
              </a:rPr>
              <a:t>ד”ר יערית ויינברג</a:t>
            </a:r>
          </a:p>
          <a:p>
            <a:pPr algn="ctr" rtl="1">
              <a:lnSpc>
                <a:spcPts val="4202"/>
              </a:lnSpc>
            </a:pPr>
            <a:r>
              <a:rPr lang="en-US" sz="2499" b="1">
                <a:solidFill>
                  <a:srgbClr val="6C6C6C"/>
                </a:solidFill>
                <a:latin typeface="Open Sans Bold"/>
                <a:ea typeface="Open Sans Bold"/>
                <a:cs typeface="Open Sans Bold"/>
                <a:sym typeface="Open Sans Bold"/>
              </a:rPr>
              <a:t>CTO, Deal-Flow</a:t>
            </a:r>
          </a:p>
        </p:txBody>
      </p:sp>
      <p:sp>
        <p:nvSpPr>
          <p:cNvPr id="10" name="TextBox 10"/>
          <p:cNvSpPr txBox="1"/>
          <p:nvPr/>
        </p:nvSpPr>
        <p:spPr>
          <a:xfrm>
            <a:off x="327365" y="4277388"/>
            <a:ext cx="4648791" cy="3262576"/>
          </a:xfrm>
          <a:prstGeom prst="rect">
            <a:avLst/>
          </a:prstGeom>
        </p:spPr>
        <p:txBody>
          <a:bodyPr lIns="0" tIns="0" rIns="0" bIns="0" rtlCol="0" anchor="t">
            <a:spAutoFit/>
          </a:bodyPr>
          <a:lstStyle/>
          <a:p>
            <a:pPr algn="r" rtl="1">
              <a:lnSpc>
                <a:spcPts val="3710"/>
              </a:lnSpc>
            </a:pPr>
            <a:r>
              <a:rPr lang="he-IL" sz="2000">
                <a:solidFill>
                  <a:srgbClr val="000000"/>
                </a:solidFill>
                <a:latin typeface="Calibri (MS)"/>
                <a:ea typeface="Calibri (MS)"/>
                <a:cs typeface="Calibri (MS)"/>
                <a:sym typeface="Calibri (MS)"/>
                <a:rtl/>
              </a:rPr>
              <a:t>שחר, ממייסדי החממה, הוא יזם סדרתי ובעל ניסיון ניהולי עשיר בתחום ההייטק, הפועל רבות לקידום היזמות בנגב המערבי. </a:t>
            </a:r>
          </a:p>
          <a:p>
            <a:pPr algn="r" rtl="1">
              <a:lnSpc>
                <a:spcPts val="3710"/>
              </a:lnSpc>
            </a:pPr>
            <a:r>
              <a:rPr lang="he-IL" sz="2000">
                <a:solidFill>
                  <a:srgbClr val="000000"/>
                </a:solidFill>
                <a:latin typeface="Calibri (MS)"/>
                <a:ea typeface="Calibri (MS)"/>
                <a:cs typeface="Calibri (MS)"/>
                <a:sym typeface="Calibri (MS)"/>
                <a:rtl/>
              </a:rPr>
              <a:t>משמש כ‑</a:t>
            </a:r>
            <a:r>
              <a:rPr lang="en-US" sz="2000">
                <a:solidFill>
                  <a:srgbClr val="000000"/>
                </a:solidFill>
                <a:latin typeface="Calibri (MS)"/>
                <a:ea typeface="Calibri (MS)"/>
                <a:cs typeface="Calibri (MS)"/>
                <a:sym typeface="Calibri (MS)"/>
              </a:rPr>
              <a:t>Chief Evangelist</a:t>
            </a:r>
            <a:r>
              <a:rPr lang="he-IL" sz="2000">
                <a:solidFill>
                  <a:srgbClr val="000000"/>
                </a:solidFill>
                <a:latin typeface="Calibri (MS)"/>
                <a:ea typeface="Calibri (MS)"/>
                <a:cs typeface="Calibri (MS)"/>
                <a:sym typeface="Calibri (MS)"/>
                <a:rtl/>
              </a:rPr>
              <a:t> בחברת ההייטק </a:t>
            </a:r>
            <a:r>
              <a:rPr lang="en-US" sz="2000">
                <a:solidFill>
                  <a:srgbClr val="000000"/>
                </a:solidFill>
                <a:latin typeface="Calibri (MS)"/>
                <a:ea typeface="Calibri (MS)"/>
                <a:cs typeface="Calibri (MS)"/>
                <a:sym typeface="Calibri (MS)"/>
              </a:rPr>
              <a:t>ZutaCore</a:t>
            </a:r>
            <a:r>
              <a:rPr lang="he-IL" sz="2000">
                <a:solidFill>
                  <a:srgbClr val="000000"/>
                </a:solidFill>
                <a:latin typeface="Calibri (MS)"/>
                <a:ea typeface="Calibri (MS)"/>
                <a:cs typeface="Calibri (MS)"/>
                <a:sym typeface="Calibri (MS)"/>
                <a:rtl/>
              </a:rPr>
              <a:t>, הפועלת בנגב המערבי. </a:t>
            </a:r>
          </a:p>
          <a:p>
            <a:pPr algn="r" rtl="1">
              <a:lnSpc>
                <a:spcPts val="3710"/>
              </a:lnSpc>
            </a:pPr>
            <a:r>
              <a:rPr lang="he-IL" sz="2000">
                <a:solidFill>
                  <a:srgbClr val="000000"/>
                </a:solidFill>
                <a:latin typeface="Calibri (MS)"/>
                <a:ea typeface="Calibri (MS)"/>
                <a:cs typeface="Calibri (MS)"/>
                <a:sym typeface="Calibri (MS)"/>
                <a:rtl/>
              </a:rPr>
              <a:t>בעל תואר ראשון בהנדסת חשמל מאוניברסיטת בן‑גוריון ומתגורר בקיבוץ ברור חיל שבנגב המערבי.</a:t>
            </a:r>
          </a:p>
        </p:txBody>
      </p:sp>
      <p:sp>
        <p:nvSpPr>
          <p:cNvPr id="11" name="TextBox 11"/>
          <p:cNvSpPr txBox="1"/>
          <p:nvPr/>
        </p:nvSpPr>
        <p:spPr>
          <a:xfrm>
            <a:off x="12490769" y="4332241"/>
            <a:ext cx="5423579" cy="3669929"/>
          </a:xfrm>
          <a:prstGeom prst="rect">
            <a:avLst/>
          </a:prstGeom>
        </p:spPr>
        <p:txBody>
          <a:bodyPr lIns="0" tIns="0" rIns="0" bIns="0" rtlCol="0" anchor="t">
            <a:spAutoFit/>
          </a:bodyPr>
          <a:lstStyle/>
          <a:p>
            <a:pPr algn="r" rtl="1">
              <a:lnSpc>
                <a:spcPts val="3533"/>
              </a:lnSpc>
            </a:pPr>
            <a:r>
              <a:rPr lang="he-IL" sz="2104">
                <a:solidFill>
                  <a:srgbClr val="000000"/>
                </a:solidFill>
                <a:latin typeface="Calibri (MS)"/>
                <a:ea typeface="Calibri (MS)"/>
                <a:cs typeface="Calibri (MS)"/>
                <a:sym typeface="Calibri (MS)"/>
                <a:rtl/>
              </a:rPr>
              <a:t>יערית מציגה כ - </a:t>
            </a:r>
            <a:r>
              <a:rPr lang="en-US" sz="2104">
                <a:solidFill>
                  <a:srgbClr val="000000"/>
                </a:solidFill>
                <a:latin typeface="Calibri (MS)"/>
                <a:ea typeface="Calibri (MS)"/>
                <a:cs typeface="Calibri (MS)"/>
                <a:sym typeface="Calibri (MS)"/>
              </a:rPr>
              <a:t>20</a:t>
            </a:r>
            <a:r>
              <a:rPr lang="he-IL" sz="2104">
                <a:solidFill>
                  <a:srgbClr val="000000"/>
                </a:solidFill>
                <a:latin typeface="Calibri (MS)"/>
                <a:ea typeface="Calibri (MS)"/>
                <a:cs typeface="Calibri (MS)"/>
                <a:sym typeface="Calibri (MS)"/>
                <a:rtl/>
              </a:rPr>
              <a:t> שנות ניסיון בתחומי ה-</a:t>
            </a:r>
            <a:r>
              <a:rPr lang="en-US" sz="2104">
                <a:solidFill>
                  <a:srgbClr val="000000"/>
                </a:solidFill>
                <a:latin typeface="Calibri (MS)"/>
                <a:ea typeface="Calibri (MS)"/>
                <a:cs typeface="Calibri (MS)"/>
                <a:sym typeface="Calibri (MS)"/>
              </a:rPr>
              <a:t>AgTech</a:t>
            </a:r>
            <a:r>
              <a:rPr lang="he-IL" sz="2104">
                <a:solidFill>
                  <a:srgbClr val="000000"/>
                </a:solidFill>
                <a:latin typeface="Calibri (MS)"/>
                <a:ea typeface="Calibri (MS)"/>
                <a:cs typeface="Calibri (MS)"/>
                <a:sym typeface="Calibri (MS)"/>
                <a:rtl/>
              </a:rPr>
              <a:t> וה-</a:t>
            </a:r>
            <a:r>
              <a:rPr lang="en-US" sz="2104">
                <a:solidFill>
                  <a:srgbClr val="000000"/>
                </a:solidFill>
                <a:latin typeface="Calibri (MS)"/>
                <a:ea typeface="Calibri (MS)"/>
                <a:cs typeface="Calibri (MS)"/>
                <a:sym typeface="Calibri (MS)"/>
              </a:rPr>
              <a:t>FoodTech</a:t>
            </a:r>
            <a:r>
              <a:rPr lang="he-IL" sz="2104">
                <a:solidFill>
                  <a:srgbClr val="000000"/>
                </a:solidFill>
                <a:latin typeface="Calibri (MS)"/>
                <a:ea typeface="Calibri (MS)"/>
                <a:cs typeface="Calibri (MS)"/>
                <a:sym typeface="Calibri (MS)"/>
                <a:rtl/>
              </a:rPr>
              <a:t> בתפקידי מחקר, פיתוח וקידום מהלכים עסקיים וגיוסי הון. </a:t>
            </a:r>
          </a:p>
          <a:p>
            <a:pPr algn="r" rtl="1">
              <a:lnSpc>
                <a:spcPts val="3535"/>
              </a:lnSpc>
            </a:pPr>
            <a:r>
              <a:rPr lang="he-IL" sz="2104">
                <a:solidFill>
                  <a:srgbClr val="000000"/>
                </a:solidFill>
                <a:latin typeface="Calibri (MS)"/>
                <a:ea typeface="Calibri (MS)"/>
                <a:cs typeface="Calibri (MS)"/>
                <a:sym typeface="Calibri (MS)"/>
                <a:rtl/>
              </a:rPr>
              <a:t>יערית מקדמת יזמות וצמיחה באופן פעיל, תוך שילוב בין מומחיות מדעית לאסטרטגיה עסקית.</a:t>
            </a:r>
          </a:p>
          <a:p>
            <a:pPr algn="r" rtl="1">
              <a:lnSpc>
                <a:spcPts val="3906"/>
              </a:lnSpc>
            </a:pPr>
            <a:r>
              <a:rPr lang="he-IL" sz="2104">
                <a:solidFill>
                  <a:srgbClr val="000000"/>
                </a:solidFill>
                <a:latin typeface="Calibri (MS)"/>
                <a:ea typeface="Calibri (MS)"/>
                <a:cs typeface="Calibri (MS)"/>
                <a:sym typeface="Calibri (MS)"/>
                <a:rtl/>
              </a:rPr>
              <a:t>בעלת תואר </a:t>
            </a:r>
            <a:r>
              <a:rPr lang="en-US" sz="2104">
                <a:solidFill>
                  <a:srgbClr val="000000"/>
                </a:solidFill>
                <a:latin typeface="Calibri (MS)"/>
                <a:ea typeface="Calibri (MS)"/>
                <a:cs typeface="Calibri (MS)"/>
                <a:sym typeface="Calibri (MS)"/>
              </a:rPr>
              <a:t>Ph.D</a:t>
            </a:r>
            <a:r>
              <a:rPr lang="he-IL" sz="2104">
                <a:solidFill>
                  <a:srgbClr val="000000"/>
                </a:solidFill>
                <a:latin typeface="Calibri (MS)"/>
                <a:ea typeface="Calibri (MS)"/>
                <a:cs typeface="Calibri (MS)"/>
                <a:sym typeface="Calibri (MS)"/>
                <a:rtl/>
              </a:rPr>
              <a:t> במדעי הצומח מהאוניברסיטה העברית ותואר במינהל עסקים (</a:t>
            </a:r>
            <a:r>
              <a:rPr lang="en-US" sz="2104">
                <a:solidFill>
                  <a:srgbClr val="000000"/>
                </a:solidFill>
                <a:latin typeface="Calibri (MS)"/>
                <a:ea typeface="Calibri (MS)"/>
                <a:cs typeface="Calibri (MS)"/>
                <a:sym typeface="Calibri (MS)"/>
              </a:rPr>
              <a:t>MBA</a:t>
            </a:r>
            <a:r>
              <a:rPr lang="he-IL" sz="2104">
                <a:solidFill>
                  <a:srgbClr val="000000"/>
                </a:solidFill>
                <a:latin typeface="Calibri (MS)"/>
                <a:ea typeface="Calibri (MS)"/>
                <a:cs typeface="Calibri (MS)"/>
                <a:sym typeface="Calibri (MS)"/>
                <a:rtl/>
              </a:rPr>
              <a:t>) מהמכללה למינהל.</a:t>
            </a:r>
          </a:p>
          <a:p>
            <a:pPr algn="r" rtl="1">
              <a:lnSpc>
                <a:spcPts val="3907"/>
              </a:lnSpc>
            </a:pPr>
            <a:r>
              <a:rPr lang="he-IL" sz="2104">
                <a:solidFill>
                  <a:srgbClr val="000000"/>
                </a:solidFill>
                <a:latin typeface="Calibri (MS)"/>
                <a:ea typeface="Calibri (MS)"/>
                <a:cs typeface="Calibri (MS)"/>
                <a:sym typeface="Calibri (MS)"/>
                <a:rtl/>
              </a:rPr>
              <a:t>מתגוררת בקיבוץ נגבה. </a:t>
            </a:r>
          </a:p>
        </p:txBody>
      </p:sp>
      <p:grpSp>
        <p:nvGrpSpPr>
          <p:cNvPr id="12" name="Group 12"/>
          <p:cNvGrpSpPr/>
          <p:nvPr/>
        </p:nvGrpSpPr>
        <p:grpSpPr>
          <a:xfrm>
            <a:off x="0" y="0"/>
            <a:ext cx="18288000" cy="1302487"/>
            <a:chOff x="0" y="0"/>
            <a:chExt cx="4816593" cy="343042"/>
          </a:xfrm>
        </p:grpSpPr>
        <p:sp>
          <p:nvSpPr>
            <p:cNvPr id="13" name="Freeform 13"/>
            <p:cNvSpPr/>
            <p:nvPr/>
          </p:nvSpPr>
          <p:spPr>
            <a:xfrm>
              <a:off x="0" y="0"/>
              <a:ext cx="4816592" cy="343042"/>
            </a:xfrm>
            <a:custGeom>
              <a:avLst/>
              <a:gdLst/>
              <a:ahLst/>
              <a:cxnLst/>
              <a:rect l="l" t="t" r="r" b="b"/>
              <a:pathLst>
                <a:path w="4816592" h="343042">
                  <a:moveTo>
                    <a:pt x="0" y="0"/>
                  </a:moveTo>
                  <a:lnTo>
                    <a:pt x="4816592" y="0"/>
                  </a:lnTo>
                  <a:lnTo>
                    <a:pt x="4816592" y="343042"/>
                  </a:lnTo>
                  <a:lnTo>
                    <a:pt x="0" y="343042"/>
                  </a:lnTo>
                  <a:close/>
                </a:path>
              </a:pathLst>
            </a:custGeom>
            <a:solidFill>
              <a:srgbClr val="483F2B"/>
            </a:solidFill>
          </p:spPr>
          <p:txBody>
            <a:bodyPr/>
            <a:lstStyle/>
            <a:p>
              <a:endParaRPr lang="he-IL"/>
            </a:p>
          </p:txBody>
        </p:sp>
        <p:sp>
          <p:nvSpPr>
            <p:cNvPr id="14" name="TextBox 14"/>
            <p:cNvSpPr txBox="1"/>
            <p:nvPr/>
          </p:nvSpPr>
          <p:spPr>
            <a:xfrm>
              <a:off x="0" y="-47625"/>
              <a:ext cx="4816593" cy="390667"/>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6908067" y="132436"/>
            <a:ext cx="10844218" cy="1027176"/>
          </a:xfrm>
          <a:prstGeom prst="rect">
            <a:avLst/>
          </a:prstGeom>
        </p:spPr>
        <p:txBody>
          <a:bodyPr lIns="0" tIns="0" rIns="0" bIns="0" rtlCol="0" anchor="t">
            <a:spAutoFit/>
          </a:bodyPr>
          <a:lstStyle/>
          <a:p>
            <a:pPr algn="r" rtl="1">
              <a:lnSpc>
                <a:spcPts val="6732"/>
              </a:lnSpc>
            </a:pPr>
            <a:r>
              <a:rPr lang="he-IL" sz="6600" b="1" spc="-171">
                <a:solidFill>
                  <a:srgbClr val="FF8700"/>
                </a:solidFill>
                <a:latin typeface="Calibri (MS) Bold"/>
                <a:ea typeface="Calibri (MS) Bold"/>
                <a:cs typeface="Calibri (MS) Bold"/>
                <a:sym typeface="Calibri (MS) Bold"/>
                <a:rtl/>
              </a:rPr>
              <a:t>הכירו את </a:t>
            </a:r>
            <a:r>
              <a:rPr lang="he-IL" sz="6600" b="1" spc="-171">
                <a:solidFill>
                  <a:srgbClr val="FFFFFF"/>
                </a:solidFill>
                <a:latin typeface="Calibri (MS) Bold"/>
                <a:ea typeface="Calibri (MS) Bold"/>
                <a:cs typeface="Calibri (MS) Bold"/>
                <a:sym typeface="Calibri (MS) Bold"/>
                <a:rtl/>
              </a:rPr>
              <a:t>הצוות שלנו</a:t>
            </a:r>
          </a:p>
        </p:txBody>
      </p:sp>
      <p:sp>
        <p:nvSpPr>
          <p:cNvPr id="16" name="TextBox 16"/>
          <p:cNvSpPr txBox="1"/>
          <p:nvPr/>
        </p:nvSpPr>
        <p:spPr>
          <a:xfrm>
            <a:off x="7772451" y="3116826"/>
            <a:ext cx="3630904" cy="1686170"/>
          </a:xfrm>
          <a:prstGeom prst="rect">
            <a:avLst/>
          </a:prstGeom>
        </p:spPr>
        <p:txBody>
          <a:bodyPr lIns="0" tIns="0" rIns="0" bIns="0" rtlCol="0" anchor="t">
            <a:spAutoFit/>
          </a:bodyPr>
          <a:lstStyle/>
          <a:p>
            <a:pPr algn="ctr" rtl="1">
              <a:lnSpc>
                <a:spcPts val="4703"/>
              </a:lnSpc>
            </a:pPr>
            <a:r>
              <a:rPr lang="he-IL" sz="2799" b="1">
                <a:solidFill>
                  <a:srgbClr val="6C6C6C"/>
                </a:solidFill>
                <a:latin typeface="Open Sans Bold"/>
                <a:ea typeface="Open Sans Bold"/>
                <a:cs typeface="Open Sans Bold"/>
                <a:sym typeface="Open Sans Bold"/>
                <a:rtl/>
              </a:rPr>
              <a:t>גיל שוורצמן</a:t>
            </a:r>
          </a:p>
          <a:p>
            <a:pPr algn="ctr" rtl="1">
              <a:lnSpc>
                <a:spcPts val="4705"/>
              </a:lnSpc>
            </a:pPr>
            <a:r>
              <a:rPr lang="he-IL" sz="2799" b="1">
                <a:solidFill>
                  <a:srgbClr val="6C6C6C"/>
                </a:solidFill>
                <a:latin typeface="Open Sans Bold"/>
                <a:ea typeface="Open Sans Bold"/>
                <a:cs typeface="Open Sans Bold"/>
                <a:sym typeface="Open Sans Bold"/>
                <a:rtl/>
              </a:rPr>
              <a:t>מנכ”ל</a:t>
            </a:r>
          </a:p>
          <a:p>
            <a:pPr algn="ctr" rtl="1">
              <a:lnSpc>
                <a:spcPts val="4202"/>
              </a:lnSpc>
            </a:pPr>
            <a:endParaRPr lang="he-IL" sz="2799" b="1">
              <a:solidFill>
                <a:srgbClr val="6C6C6C"/>
              </a:solidFill>
              <a:latin typeface="Open Sans Bold"/>
              <a:ea typeface="Open Sans Bold"/>
              <a:cs typeface="Open Sans Bold"/>
              <a:sym typeface="Open Sans Bold"/>
              <a:rtl/>
            </a:endParaRPr>
          </a:p>
        </p:txBody>
      </p:sp>
      <p:sp>
        <p:nvSpPr>
          <p:cNvPr id="17" name="TextBox 17"/>
          <p:cNvSpPr txBox="1"/>
          <p:nvPr/>
        </p:nvSpPr>
        <p:spPr>
          <a:xfrm>
            <a:off x="6529102" y="4315488"/>
            <a:ext cx="5153596" cy="3380055"/>
          </a:xfrm>
          <a:prstGeom prst="rect">
            <a:avLst/>
          </a:prstGeom>
        </p:spPr>
        <p:txBody>
          <a:bodyPr lIns="0" tIns="0" rIns="0" bIns="0" rtlCol="0" anchor="t">
            <a:spAutoFit/>
          </a:bodyPr>
          <a:lstStyle/>
          <a:p>
            <a:pPr algn="r" rtl="1">
              <a:lnSpc>
                <a:spcPts val="3358"/>
              </a:lnSpc>
            </a:pPr>
            <a:r>
              <a:rPr lang="he-IL" sz="2000">
                <a:solidFill>
                  <a:srgbClr val="000000"/>
                </a:solidFill>
                <a:latin typeface="Calibri (MS)"/>
                <a:ea typeface="Calibri (MS)"/>
                <a:cs typeface="Calibri (MS)"/>
                <a:sym typeface="Calibri (MS)"/>
                <a:rtl/>
              </a:rPr>
              <a:t>גיל מביא עמו ניסיון רחב ביזמות ובתפקידי ניהול מגוונים בחברות היי-טק ובחברות ביטחוניות, לצד הבנה עמוקה בתהליכי יזמות והצמחת חברות סטארט-אפ. </a:t>
            </a:r>
          </a:p>
          <a:p>
            <a:pPr algn="r" rtl="1">
              <a:lnSpc>
                <a:spcPts val="3358"/>
              </a:lnSpc>
            </a:pPr>
            <a:r>
              <a:rPr lang="he-IL" sz="2000">
                <a:solidFill>
                  <a:srgbClr val="000000"/>
                </a:solidFill>
                <a:latin typeface="Calibri (MS)"/>
                <a:ea typeface="Calibri (MS)"/>
                <a:cs typeface="Calibri (MS)"/>
                <a:sym typeface="Calibri (MS)"/>
                <a:rtl/>
              </a:rPr>
              <a:t>ממלא תפקיד בכיר במילואים בפיקוד הדרום בדרגת תת-אלוף. </a:t>
            </a:r>
          </a:p>
          <a:p>
            <a:pPr algn="r" rtl="1">
              <a:lnSpc>
                <a:spcPts val="3359"/>
              </a:lnSpc>
            </a:pPr>
            <a:r>
              <a:rPr lang="he-IL" sz="2000">
                <a:solidFill>
                  <a:srgbClr val="000000"/>
                </a:solidFill>
                <a:latin typeface="Calibri (MS)"/>
                <a:ea typeface="Calibri (MS)"/>
                <a:cs typeface="Calibri (MS)"/>
                <a:sym typeface="Calibri (MS)"/>
                <a:rtl/>
              </a:rPr>
              <a:t>גיל הוא בעל תואר שני במנהל עס</a:t>
            </a:r>
            <a:r>
              <a:rPr lang="he-IL" sz="2000" u="none">
                <a:solidFill>
                  <a:srgbClr val="000000"/>
                </a:solidFill>
                <a:latin typeface="Calibri (MS)"/>
                <a:ea typeface="Calibri (MS)"/>
                <a:cs typeface="Calibri (MS)"/>
                <a:sym typeface="Calibri (MS)"/>
                <a:rtl/>
              </a:rPr>
              <a:t>קי</a:t>
            </a:r>
            <a:r>
              <a:rPr lang="he-IL" sz="2000">
                <a:solidFill>
                  <a:srgbClr val="000000"/>
                </a:solidFill>
                <a:latin typeface="Calibri (MS)"/>
                <a:ea typeface="Calibri (MS)"/>
                <a:cs typeface="Calibri (MS)"/>
                <a:sym typeface="Calibri (MS)"/>
                <a:rtl/>
              </a:rPr>
              <a:t>ם (</a:t>
            </a:r>
            <a:r>
              <a:rPr lang="en-US" sz="2000">
                <a:solidFill>
                  <a:srgbClr val="000000"/>
                </a:solidFill>
                <a:latin typeface="Calibri (MS)"/>
                <a:ea typeface="Calibri (MS)"/>
                <a:cs typeface="Calibri (MS)"/>
                <a:sym typeface="Calibri (MS)"/>
              </a:rPr>
              <a:t>MBA</a:t>
            </a:r>
            <a:r>
              <a:rPr lang="he-IL" sz="2000">
                <a:solidFill>
                  <a:srgbClr val="000000"/>
                </a:solidFill>
                <a:latin typeface="Calibri (MS)"/>
                <a:ea typeface="Calibri (MS)"/>
                <a:cs typeface="Calibri (MS)"/>
                <a:sym typeface="Calibri (MS)"/>
                <a:rtl/>
              </a:rPr>
              <a:t>) ומתגורר בקיבוץ גבים בנגב המערבי. </a:t>
            </a:r>
          </a:p>
          <a:p>
            <a:pPr algn="r" rtl="1">
              <a:lnSpc>
                <a:spcPts val="3712"/>
              </a:lnSpc>
            </a:pPr>
            <a:endParaRPr lang="he-IL" sz="2000">
              <a:solidFill>
                <a:srgbClr val="000000"/>
              </a:solidFill>
              <a:latin typeface="Calibri (MS)"/>
              <a:ea typeface="Calibri (MS)"/>
              <a:cs typeface="Calibri (MS)"/>
              <a:sym typeface="Calibri (MS)"/>
              <a:rtl/>
            </a:endParaRPr>
          </a:p>
        </p:txBody>
      </p:sp>
      <p:sp>
        <p:nvSpPr>
          <p:cNvPr id="18" name="TextBox 18"/>
          <p:cNvSpPr txBox="1"/>
          <p:nvPr/>
        </p:nvSpPr>
        <p:spPr>
          <a:xfrm>
            <a:off x="807733" y="3090882"/>
            <a:ext cx="3630904" cy="1143609"/>
          </a:xfrm>
          <a:prstGeom prst="rect">
            <a:avLst/>
          </a:prstGeom>
        </p:spPr>
        <p:txBody>
          <a:bodyPr lIns="0" tIns="0" rIns="0" bIns="0" rtlCol="0" anchor="t">
            <a:spAutoFit/>
          </a:bodyPr>
          <a:lstStyle/>
          <a:p>
            <a:pPr algn="ctr" rtl="1">
              <a:lnSpc>
                <a:spcPts val="4703"/>
              </a:lnSpc>
            </a:pPr>
            <a:r>
              <a:rPr lang="he-IL" sz="2799" b="1">
                <a:solidFill>
                  <a:srgbClr val="6C6C6C"/>
                </a:solidFill>
                <a:latin typeface="Open Sans Bold"/>
                <a:ea typeface="Open Sans Bold"/>
                <a:cs typeface="Open Sans Bold"/>
                <a:sym typeface="Open Sans Bold"/>
                <a:rtl/>
              </a:rPr>
              <a:t>שחר בלקין</a:t>
            </a:r>
          </a:p>
          <a:p>
            <a:pPr algn="ctr" rtl="1">
              <a:lnSpc>
                <a:spcPts val="4706"/>
              </a:lnSpc>
            </a:pPr>
            <a:r>
              <a:rPr lang="he-IL" sz="2799" b="1">
                <a:solidFill>
                  <a:srgbClr val="6C6C6C"/>
                </a:solidFill>
                <a:latin typeface="Open Sans Bold"/>
                <a:ea typeface="Open Sans Bold"/>
                <a:cs typeface="Open Sans Bold"/>
                <a:sym typeface="Open Sans Bold"/>
                <a:rtl/>
              </a:rPr>
              <a:t>יו”ר</a:t>
            </a:r>
          </a:p>
        </p:txBody>
      </p:sp>
      <p:sp>
        <p:nvSpPr>
          <p:cNvPr id="19" name="Freeform 19">
            <a:hlinkClick r:id="rId8" tooltip="https://www.linkedin.com/in/gil-shwarsman-304290212/"/>
          </p:cNvPr>
          <p:cNvSpPr/>
          <p:nvPr/>
        </p:nvSpPr>
        <p:spPr>
          <a:xfrm>
            <a:off x="8943975" y="8741667"/>
            <a:ext cx="1192605" cy="1156827"/>
          </a:xfrm>
          <a:custGeom>
            <a:avLst/>
            <a:gdLst/>
            <a:ahLst/>
            <a:cxnLst/>
            <a:rect l="l" t="t" r="r" b="b"/>
            <a:pathLst>
              <a:path w="1192605" h="1156827">
                <a:moveTo>
                  <a:pt x="0" y="0"/>
                </a:moveTo>
                <a:lnTo>
                  <a:pt x="1192605" y="0"/>
                </a:lnTo>
                <a:lnTo>
                  <a:pt x="1192605" y="1156827"/>
                </a:lnTo>
                <a:lnTo>
                  <a:pt x="0" y="115682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he-IL"/>
          </a:p>
        </p:txBody>
      </p:sp>
      <p:sp>
        <p:nvSpPr>
          <p:cNvPr id="20" name="Freeform 20">
            <a:hlinkClick r:id="rId9" tooltip="https://www.linkedin.com/in/shahar-belkin-0b01079/"/>
          </p:cNvPr>
          <p:cNvSpPr/>
          <p:nvPr/>
        </p:nvSpPr>
        <p:spPr>
          <a:xfrm>
            <a:off x="2026882" y="8679886"/>
            <a:ext cx="1192605" cy="1156827"/>
          </a:xfrm>
          <a:custGeom>
            <a:avLst/>
            <a:gdLst/>
            <a:ahLst/>
            <a:cxnLst/>
            <a:rect l="l" t="t" r="r" b="b"/>
            <a:pathLst>
              <a:path w="1192605" h="1156827">
                <a:moveTo>
                  <a:pt x="0" y="0"/>
                </a:moveTo>
                <a:lnTo>
                  <a:pt x="1192606" y="0"/>
                </a:lnTo>
                <a:lnTo>
                  <a:pt x="1192606" y="1156828"/>
                </a:lnTo>
                <a:lnTo>
                  <a:pt x="0" y="115682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he-I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987424"/>
            <a:chOff x="0" y="0"/>
            <a:chExt cx="4816593" cy="523437"/>
          </a:xfrm>
        </p:grpSpPr>
        <p:sp>
          <p:nvSpPr>
            <p:cNvPr id="3" name="Freeform 3"/>
            <p:cNvSpPr/>
            <p:nvPr/>
          </p:nvSpPr>
          <p:spPr>
            <a:xfrm>
              <a:off x="0" y="0"/>
              <a:ext cx="4816592" cy="523437"/>
            </a:xfrm>
            <a:custGeom>
              <a:avLst/>
              <a:gdLst/>
              <a:ahLst/>
              <a:cxnLst/>
              <a:rect l="l" t="t" r="r" b="b"/>
              <a:pathLst>
                <a:path w="4816592" h="523437">
                  <a:moveTo>
                    <a:pt x="0" y="0"/>
                  </a:moveTo>
                  <a:lnTo>
                    <a:pt x="4816592" y="0"/>
                  </a:lnTo>
                  <a:lnTo>
                    <a:pt x="4816592" y="523437"/>
                  </a:lnTo>
                  <a:lnTo>
                    <a:pt x="0" y="523437"/>
                  </a:lnTo>
                  <a:close/>
                </a:path>
              </a:pathLst>
            </a:custGeom>
            <a:solidFill>
              <a:srgbClr val="483F2B"/>
            </a:solidFill>
          </p:spPr>
          <p:txBody>
            <a:bodyPr/>
            <a:lstStyle/>
            <a:p>
              <a:endParaRPr lang="he-IL"/>
            </a:p>
          </p:txBody>
        </p:sp>
        <p:sp>
          <p:nvSpPr>
            <p:cNvPr id="4" name="TextBox 4"/>
            <p:cNvSpPr txBox="1"/>
            <p:nvPr/>
          </p:nvSpPr>
          <p:spPr>
            <a:xfrm>
              <a:off x="0" y="-47625"/>
              <a:ext cx="4816593" cy="57106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060467" y="531724"/>
            <a:ext cx="10844218" cy="1027176"/>
          </a:xfrm>
          <a:prstGeom prst="rect">
            <a:avLst/>
          </a:prstGeom>
        </p:spPr>
        <p:txBody>
          <a:bodyPr lIns="0" tIns="0" rIns="0" bIns="0" rtlCol="0" anchor="t">
            <a:spAutoFit/>
          </a:bodyPr>
          <a:lstStyle/>
          <a:p>
            <a:pPr algn="r" rtl="1">
              <a:lnSpc>
                <a:spcPts val="6732"/>
              </a:lnSpc>
            </a:pPr>
            <a:r>
              <a:rPr lang="he-IL" sz="6600" b="1" spc="-171">
                <a:solidFill>
                  <a:srgbClr val="FF8700"/>
                </a:solidFill>
                <a:latin typeface="Calibri (MS) Bold"/>
                <a:ea typeface="Calibri (MS) Bold"/>
                <a:cs typeface="Calibri (MS) Bold"/>
                <a:sym typeface="Calibri (MS) Bold"/>
                <a:rtl/>
              </a:rPr>
              <a:t>הצוות</a:t>
            </a:r>
          </a:p>
        </p:txBody>
      </p:sp>
      <p:sp>
        <p:nvSpPr>
          <p:cNvPr id="6" name="Freeform 6"/>
          <p:cNvSpPr/>
          <p:nvPr/>
        </p:nvSpPr>
        <p:spPr>
          <a:xfrm>
            <a:off x="14804145" y="2605615"/>
            <a:ext cx="2070703" cy="2537885"/>
          </a:xfrm>
          <a:custGeom>
            <a:avLst/>
            <a:gdLst/>
            <a:ahLst/>
            <a:cxnLst/>
            <a:rect l="l" t="t" r="r" b="b"/>
            <a:pathLst>
              <a:path w="2070703" h="2537885">
                <a:moveTo>
                  <a:pt x="0" y="0"/>
                </a:moveTo>
                <a:lnTo>
                  <a:pt x="2070704" y="0"/>
                </a:lnTo>
                <a:lnTo>
                  <a:pt x="2070704" y="2537885"/>
                </a:lnTo>
                <a:lnTo>
                  <a:pt x="0" y="2537885"/>
                </a:lnTo>
                <a:lnTo>
                  <a:pt x="0" y="0"/>
                </a:lnTo>
                <a:close/>
              </a:path>
            </a:pathLst>
          </a:custGeom>
          <a:blipFill>
            <a:blip r:embed="rId2"/>
            <a:stretch>
              <a:fillRect/>
            </a:stretch>
          </a:blipFill>
        </p:spPr>
        <p:txBody>
          <a:bodyPr/>
          <a:lstStyle/>
          <a:p>
            <a:endParaRPr lang="he-IL"/>
          </a:p>
        </p:txBody>
      </p:sp>
      <p:sp>
        <p:nvSpPr>
          <p:cNvPr id="7" name="TextBox 7"/>
          <p:cNvSpPr txBox="1"/>
          <p:nvPr/>
        </p:nvSpPr>
        <p:spPr>
          <a:xfrm>
            <a:off x="12481107" y="5588371"/>
            <a:ext cx="5423579" cy="5333911"/>
          </a:xfrm>
          <a:prstGeom prst="rect">
            <a:avLst/>
          </a:prstGeom>
        </p:spPr>
        <p:txBody>
          <a:bodyPr lIns="0" tIns="0" rIns="0" bIns="0" rtlCol="0" anchor="t">
            <a:spAutoFit/>
          </a:bodyPr>
          <a:lstStyle/>
          <a:p>
            <a:pPr algn="r" rtl="1">
              <a:lnSpc>
                <a:spcPts val="3533"/>
              </a:lnSpc>
            </a:pPr>
            <a:r>
              <a:rPr lang="he-IL" sz="2104">
                <a:solidFill>
                  <a:srgbClr val="000000"/>
                </a:solidFill>
                <a:latin typeface="Calibri (MS)"/>
                <a:ea typeface="Calibri (MS)"/>
                <a:cs typeface="Calibri (MS)"/>
                <a:sym typeface="Calibri (MS)"/>
                <a:rtl/>
              </a:rPr>
              <a:t>ון רייס מונה למנהל (</a:t>
            </a:r>
            <a:r>
              <a:rPr lang="en-US" sz="2104">
                <a:solidFill>
                  <a:srgbClr val="000000"/>
                </a:solidFill>
                <a:latin typeface="Calibri (MS)"/>
                <a:ea typeface="Calibri (MS)"/>
                <a:cs typeface="Calibri (MS)"/>
                <a:sym typeface="Calibri (MS)"/>
              </a:rPr>
              <a:t>Director</a:t>
            </a:r>
            <a:r>
              <a:rPr lang="he-IL" sz="2104">
                <a:solidFill>
                  <a:srgbClr val="000000"/>
                </a:solidFill>
                <a:latin typeface="Calibri (MS)"/>
                <a:ea typeface="Calibri (MS)"/>
                <a:cs typeface="Calibri (MS)"/>
                <a:sym typeface="Calibri (MS)"/>
                <a:rtl/>
              </a:rPr>
              <a:t>) של חממת </a:t>
            </a:r>
            <a:r>
              <a:rPr lang="en-US" sz="2104">
                <a:solidFill>
                  <a:srgbClr val="000000"/>
                </a:solidFill>
                <a:latin typeface="Calibri (MS)"/>
                <a:ea typeface="Calibri (MS)"/>
                <a:cs typeface="Calibri (MS)"/>
                <a:sym typeface="Calibri (MS)"/>
              </a:rPr>
              <a:t>D.Tech</a:t>
            </a:r>
            <a:r>
              <a:rPr lang="he-IL" sz="2104">
                <a:solidFill>
                  <a:srgbClr val="000000"/>
                </a:solidFill>
                <a:latin typeface="Calibri (MS)"/>
                <a:ea typeface="Calibri (MS)"/>
                <a:cs typeface="Calibri (MS)"/>
                <a:sym typeface="Calibri (MS)"/>
                <a:rtl/>
              </a:rPr>
              <a:t>, שתפעל במסגרת </a:t>
            </a:r>
            <a:r>
              <a:rPr lang="en-US" sz="2104">
                <a:solidFill>
                  <a:srgbClr val="000000"/>
                </a:solidFill>
                <a:latin typeface="Calibri (MS)"/>
                <a:ea typeface="Calibri (MS)"/>
                <a:cs typeface="Calibri (MS)"/>
                <a:sym typeface="Calibri (MS)"/>
              </a:rPr>
              <a:t>SouthUp</a:t>
            </a:r>
            <a:r>
              <a:rPr lang="he-IL" sz="2104">
                <a:solidFill>
                  <a:srgbClr val="000000"/>
                </a:solidFill>
                <a:latin typeface="Calibri (MS)"/>
                <a:ea typeface="Calibri (MS)"/>
                <a:cs typeface="Calibri (MS)"/>
                <a:sym typeface="Calibri (MS)"/>
                <a:rtl/>
              </a:rPr>
              <a:t> ותתמוך בסטארטאפים בתחומי ה־</a:t>
            </a:r>
            <a:r>
              <a:rPr lang="en-US" sz="2104">
                <a:solidFill>
                  <a:srgbClr val="000000"/>
                </a:solidFill>
                <a:latin typeface="Calibri (MS)"/>
                <a:ea typeface="Calibri (MS)"/>
                <a:cs typeface="Calibri (MS)"/>
                <a:sym typeface="Calibri (MS)"/>
              </a:rPr>
              <a:t>Defense Tech</a:t>
            </a:r>
            <a:r>
              <a:rPr lang="he-IL" sz="2104">
                <a:solidFill>
                  <a:srgbClr val="000000"/>
                </a:solidFill>
                <a:latin typeface="Calibri (MS)"/>
                <a:ea typeface="Calibri (MS)"/>
                <a:cs typeface="Calibri (MS)"/>
                <a:sym typeface="Calibri (MS)"/>
                <a:rtl/>
              </a:rPr>
              <a:t>. בנוסף, תוכנית ההאצה </a:t>
            </a:r>
            <a:r>
              <a:rPr lang="en-US" sz="2104">
                <a:solidFill>
                  <a:srgbClr val="000000"/>
                </a:solidFill>
                <a:latin typeface="Calibri (MS)"/>
                <a:ea typeface="Calibri (MS)"/>
                <a:cs typeface="Calibri (MS)"/>
                <a:sym typeface="Calibri (MS)"/>
              </a:rPr>
              <a:t>ProTechT</a:t>
            </a:r>
            <a:r>
              <a:rPr lang="he-IL" sz="2104">
                <a:solidFill>
                  <a:srgbClr val="000000"/>
                </a:solidFill>
                <a:latin typeface="Calibri (MS)"/>
                <a:ea typeface="Calibri (MS)"/>
                <a:cs typeface="Calibri (MS)"/>
                <a:sym typeface="Calibri (MS)"/>
                <a:rtl/>
              </a:rPr>
              <a:t> תפעל כחלק מהחממה.</a:t>
            </a:r>
          </a:p>
          <a:p>
            <a:pPr algn="r" rtl="1">
              <a:lnSpc>
                <a:spcPts val="3535"/>
              </a:lnSpc>
            </a:pPr>
            <a:r>
              <a:rPr lang="he-IL" sz="2104">
                <a:solidFill>
                  <a:srgbClr val="000000"/>
                </a:solidFill>
                <a:latin typeface="Calibri (MS)"/>
                <a:ea typeface="Calibri (MS)"/>
                <a:cs typeface="Calibri (MS)"/>
                <a:sym typeface="Calibri (MS)"/>
                <a:rtl/>
              </a:rPr>
              <a:t>לרון ניסיון רב בתעשיות הביטחוניות, והוא כיהן בתפקידי ניהול ופיתוח עסקי בחברת רפאל מערכות לחימה מתקדמות, כולל כסגן נשיא חטיבת </a:t>
            </a:r>
            <a:r>
              <a:rPr lang="en-US" sz="2104">
                <a:solidFill>
                  <a:srgbClr val="000000"/>
                </a:solidFill>
                <a:latin typeface="Calibri (MS)"/>
                <a:ea typeface="Calibri (MS)"/>
                <a:cs typeface="Calibri (MS)"/>
                <a:sym typeface="Calibri (MS)"/>
              </a:rPr>
              <a:t>M&amp;A</a:t>
            </a:r>
            <a:r>
              <a:rPr lang="he-IL" sz="2104">
                <a:solidFill>
                  <a:srgbClr val="000000"/>
                </a:solidFill>
                <a:latin typeface="Calibri (MS)"/>
                <a:ea typeface="Calibri (MS)"/>
                <a:cs typeface="Calibri (MS)"/>
                <a:sym typeface="Calibri (MS)"/>
                <a:rtl/>
              </a:rPr>
              <a:t>. הוא הוביל וניהל מספר סטארטאפים, ושימש כמנכ"ל </a:t>
            </a:r>
            <a:r>
              <a:rPr lang="en-US" sz="2104">
                <a:solidFill>
                  <a:srgbClr val="000000"/>
                </a:solidFill>
                <a:latin typeface="Calibri (MS)"/>
                <a:ea typeface="Calibri (MS)"/>
                <a:cs typeface="Calibri (MS)"/>
                <a:sym typeface="Calibri (MS)"/>
              </a:rPr>
              <a:t>Trion Israel</a:t>
            </a:r>
            <a:r>
              <a:rPr lang="he-IL" sz="2104">
                <a:solidFill>
                  <a:srgbClr val="000000"/>
                </a:solidFill>
                <a:latin typeface="Calibri (MS)"/>
                <a:ea typeface="Calibri (MS)"/>
                <a:cs typeface="Calibri (MS)"/>
                <a:sym typeface="Calibri (MS)"/>
                <a:rtl/>
              </a:rPr>
              <a:t>, שפיתחה מערכות תקשורת רחבת פס לשוק התקשורת.</a:t>
            </a:r>
          </a:p>
          <a:p>
            <a:pPr algn="r" rtl="1">
              <a:lnSpc>
                <a:spcPts val="3533"/>
              </a:lnSpc>
            </a:pPr>
            <a:r>
              <a:rPr lang="he-IL" sz="2104">
                <a:solidFill>
                  <a:srgbClr val="000000"/>
                </a:solidFill>
                <a:latin typeface="Calibri (MS)"/>
                <a:ea typeface="Calibri (MS)"/>
                <a:cs typeface="Calibri (MS)"/>
                <a:sym typeface="Calibri (MS)"/>
                <a:rtl/>
              </a:rPr>
              <a:t>רון בעל תואר בהנדסת מחשבים מהטכניון ותואר </a:t>
            </a:r>
            <a:r>
              <a:rPr lang="en-US" sz="2104">
                <a:solidFill>
                  <a:srgbClr val="000000"/>
                </a:solidFill>
                <a:latin typeface="Calibri (MS)"/>
                <a:ea typeface="Calibri (MS)"/>
                <a:cs typeface="Calibri (MS)"/>
                <a:sym typeface="Calibri (MS)"/>
              </a:rPr>
              <a:t>MBA</a:t>
            </a:r>
            <a:r>
              <a:rPr lang="he-IL" sz="2104">
                <a:solidFill>
                  <a:srgbClr val="000000"/>
                </a:solidFill>
                <a:latin typeface="Calibri (MS)"/>
                <a:ea typeface="Calibri (MS)"/>
                <a:cs typeface="Calibri (MS)"/>
                <a:sym typeface="Calibri (MS)"/>
                <a:rtl/>
              </a:rPr>
              <a:t> מאוניברסיטת רייכמן.</a:t>
            </a:r>
          </a:p>
          <a:p>
            <a:pPr algn="r" rtl="1">
              <a:lnSpc>
                <a:spcPts val="3907"/>
              </a:lnSpc>
            </a:pPr>
            <a:endParaRPr lang="he-IL" sz="2104">
              <a:solidFill>
                <a:srgbClr val="000000"/>
              </a:solidFill>
              <a:latin typeface="Calibri (MS)"/>
              <a:ea typeface="Calibri (MS)"/>
              <a:cs typeface="Calibri (MS)"/>
              <a:sym typeface="Calibri (MS)"/>
              <a:rt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3E3"/>
        </a:solidFill>
        <a:effectLst/>
      </p:bgPr>
    </p:bg>
    <p:spTree>
      <p:nvGrpSpPr>
        <p:cNvPr id="1" name=""/>
        <p:cNvGrpSpPr/>
        <p:nvPr/>
      </p:nvGrpSpPr>
      <p:grpSpPr>
        <a:xfrm>
          <a:off x="0" y="0"/>
          <a:ext cx="0" cy="0"/>
          <a:chOff x="0" y="0"/>
          <a:chExt cx="0" cy="0"/>
        </a:xfrm>
      </p:grpSpPr>
      <p:sp>
        <p:nvSpPr>
          <p:cNvPr id="2" name="Freeform 2"/>
          <p:cNvSpPr/>
          <p:nvPr/>
        </p:nvSpPr>
        <p:spPr>
          <a:xfrm>
            <a:off x="0" y="1900123"/>
            <a:ext cx="18284147" cy="7601938"/>
          </a:xfrm>
          <a:custGeom>
            <a:avLst/>
            <a:gdLst/>
            <a:ahLst/>
            <a:cxnLst/>
            <a:rect l="l" t="t" r="r" b="b"/>
            <a:pathLst>
              <a:path w="18284147" h="7601938">
                <a:moveTo>
                  <a:pt x="0" y="0"/>
                </a:moveTo>
                <a:lnTo>
                  <a:pt x="18284147" y="0"/>
                </a:lnTo>
                <a:lnTo>
                  <a:pt x="18284147" y="7601938"/>
                </a:lnTo>
                <a:lnTo>
                  <a:pt x="0" y="7601938"/>
                </a:lnTo>
                <a:lnTo>
                  <a:pt x="0" y="0"/>
                </a:lnTo>
                <a:close/>
              </a:path>
            </a:pathLst>
          </a:custGeom>
          <a:blipFill>
            <a:blip r:embed="rId3">
              <a:alphaModFix amt="27000"/>
            </a:blip>
            <a:stretch>
              <a:fillRect t="-17345" b="-17345"/>
            </a:stretch>
          </a:blipFill>
        </p:spPr>
        <p:txBody>
          <a:bodyPr/>
          <a:lstStyle/>
          <a:p>
            <a:endParaRPr lang="he-IL"/>
          </a:p>
        </p:txBody>
      </p:sp>
      <p:grpSp>
        <p:nvGrpSpPr>
          <p:cNvPr id="3" name="Group 3"/>
          <p:cNvGrpSpPr/>
          <p:nvPr/>
        </p:nvGrpSpPr>
        <p:grpSpPr>
          <a:xfrm>
            <a:off x="1024847" y="2671833"/>
            <a:ext cx="3458597" cy="939605"/>
            <a:chOff x="0" y="0"/>
            <a:chExt cx="3513074" cy="954405"/>
          </a:xfrm>
        </p:grpSpPr>
        <p:sp>
          <p:nvSpPr>
            <p:cNvPr id="4" name="Freeform 4"/>
            <p:cNvSpPr/>
            <p:nvPr/>
          </p:nvSpPr>
          <p:spPr>
            <a:xfrm>
              <a:off x="0" y="0"/>
              <a:ext cx="3513074" cy="954405"/>
            </a:xfrm>
            <a:custGeom>
              <a:avLst/>
              <a:gdLst/>
              <a:ahLst/>
              <a:cxnLst/>
              <a:rect l="l" t="t" r="r" b="b"/>
              <a:pathLst>
                <a:path w="3513074" h="954405">
                  <a:moveTo>
                    <a:pt x="0" y="0"/>
                  </a:moveTo>
                  <a:lnTo>
                    <a:pt x="3513074" y="0"/>
                  </a:lnTo>
                  <a:lnTo>
                    <a:pt x="3513074" y="954405"/>
                  </a:lnTo>
                  <a:lnTo>
                    <a:pt x="0" y="954405"/>
                  </a:lnTo>
                  <a:lnTo>
                    <a:pt x="0" y="0"/>
                  </a:lnTo>
                  <a:close/>
                </a:path>
              </a:pathLst>
            </a:custGeom>
            <a:blipFill>
              <a:blip r:embed="rId4"/>
              <a:stretch>
                <a:fillRect t="-393" b="-392"/>
              </a:stretch>
            </a:blipFill>
          </p:spPr>
          <p:txBody>
            <a:bodyPr/>
            <a:lstStyle/>
            <a:p>
              <a:endParaRPr lang="he-IL"/>
            </a:p>
          </p:txBody>
        </p:sp>
      </p:grpSp>
      <p:grpSp>
        <p:nvGrpSpPr>
          <p:cNvPr id="5" name="Group 5"/>
          <p:cNvGrpSpPr/>
          <p:nvPr/>
        </p:nvGrpSpPr>
        <p:grpSpPr>
          <a:xfrm>
            <a:off x="4786325" y="2100148"/>
            <a:ext cx="2483063" cy="2483063"/>
            <a:chOff x="0" y="0"/>
            <a:chExt cx="2214499" cy="2214499"/>
          </a:xfrm>
        </p:grpSpPr>
        <p:sp>
          <p:nvSpPr>
            <p:cNvPr id="6" name="Freeform 6"/>
            <p:cNvSpPr/>
            <p:nvPr/>
          </p:nvSpPr>
          <p:spPr>
            <a:xfrm>
              <a:off x="0" y="0"/>
              <a:ext cx="2214499" cy="2214499"/>
            </a:xfrm>
            <a:custGeom>
              <a:avLst/>
              <a:gdLst/>
              <a:ahLst/>
              <a:cxnLst/>
              <a:rect l="l" t="t" r="r" b="b"/>
              <a:pathLst>
                <a:path w="2214499" h="2214499">
                  <a:moveTo>
                    <a:pt x="0" y="0"/>
                  </a:moveTo>
                  <a:lnTo>
                    <a:pt x="2214499" y="0"/>
                  </a:lnTo>
                  <a:lnTo>
                    <a:pt x="2214499" y="2214499"/>
                  </a:lnTo>
                  <a:lnTo>
                    <a:pt x="0" y="2214499"/>
                  </a:lnTo>
                  <a:lnTo>
                    <a:pt x="0" y="0"/>
                  </a:lnTo>
                  <a:close/>
                </a:path>
              </a:pathLst>
            </a:custGeom>
            <a:blipFill>
              <a:blip r:embed="rId5"/>
              <a:stretch>
                <a:fillRect/>
              </a:stretch>
            </a:blipFill>
          </p:spPr>
          <p:txBody>
            <a:bodyPr/>
            <a:lstStyle/>
            <a:p>
              <a:endParaRPr lang="he-IL"/>
            </a:p>
          </p:txBody>
        </p:sp>
      </p:grpSp>
      <p:grpSp>
        <p:nvGrpSpPr>
          <p:cNvPr id="7" name="Group 7"/>
          <p:cNvGrpSpPr/>
          <p:nvPr/>
        </p:nvGrpSpPr>
        <p:grpSpPr>
          <a:xfrm>
            <a:off x="7866534" y="2636133"/>
            <a:ext cx="4540153" cy="1011007"/>
            <a:chOff x="0" y="0"/>
            <a:chExt cx="4796409" cy="1068070"/>
          </a:xfrm>
        </p:grpSpPr>
        <p:sp>
          <p:nvSpPr>
            <p:cNvPr id="8" name="Freeform 8"/>
            <p:cNvSpPr/>
            <p:nvPr/>
          </p:nvSpPr>
          <p:spPr>
            <a:xfrm>
              <a:off x="0" y="0"/>
              <a:ext cx="4796409" cy="1068070"/>
            </a:xfrm>
            <a:custGeom>
              <a:avLst/>
              <a:gdLst/>
              <a:ahLst/>
              <a:cxnLst/>
              <a:rect l="l" t="t" r="r" b="b"/>
              <a:pathLst>
                <a:path w="4796409" h="1068070">
                  <a:moveTo>
                    <a:pt x="0" y="0"/>
                  </a:moveTo>
                  <a:lnTo>
                    <a:pt x="4796409" y="0"/>
                  </a:lnTo>
                  <a:lnTo>
                    <a:pt x="4796409" y="1068070"/>
                  </a:lnTo>
                  <a:lnTo>
                    <a:pt x="0" y="1068070"/>
                  </a:lnTo>
                  <a:lnTo>
                    <a:pt x="0" y="0"/>
                  </a:lnTo>
                  <a:close/>
                </a:path>
              </a:pathLst>
            </a:custGeom>
            <a:blipFill>
              <a:blip r:embed="rId6"/>
              <a:stretch>
                <a:fillRect t="-246" b="-246"/>
              </a:stretch>
            </a:blipFill>
          </p:spPr>
          <p:txBody>
            <a:bodyPr/>
            <a:lstStyle/>
            <a:p>
              <a:endParaRPr lang="he-IL"/>
            </a:p>
          </p:txBody>
        </p:sp>
      </p:grpSp>
      <p:grpSp>
        <p:nvGrpSpPr>
          <p:cNvPr id="9" name="Group 9"/>
          <p:cNvGrpSpPr/>
          <p:nvPr/>
        </p:nvGrpSpPr>
        <p:grpSpPr>
          <a:xfrm>
            <a:off x="13285724" y="2100148"/>
            <a:ext cx="1396499" cy="1964499"/>
            <a:chOff x="0" y="0"/>
            <a:chExt cx="2272205" cy="3196381"/>
          </a:xfrm>
        </p:grpSpPr>
        <p:sp>
          <p:nvSpPr>
            <p:cNvPr id="10" name="Freeform 10"/>
            <p:cNvSpPr/>
            <p:nvPr/>
          </p:nvSpPr>
          <p:spPr>
            <a:xfrm>
              <a:off x="0" y="0"/>
              <a:ext cx="2272243" cy="3196394"/>
            </a:xfrm>
            <a:custGeom>
              <a:avLst/>
              <a:gdLst/>
              <a:ahLst/>
              <a:cxnLst/>
              <a:rect l="l" t="t" r="r" b="b"/>
              <a:pathLst>
                <a:path w="2272243" h="3196394">
                  <a:moveTo>
                    <a:pt x="0" y="0"/>
                  </a:moveTo>
                  <a:lnTo>
                    <a:pt x="2272243" y="0"/>
                  </a:lnTo>
                  <a:lnTo>
                    <a:pt x="2272243" y="3196394"/>
                  </a:lnTo>
                  <a:lnTo>
                    <a:pt x="0" y="3196394"/>
                  </a:lnTo>
                  <a:lnTo>
                    <a:pt x="0" y="0"/>
                  </a:lnTo>
                  <a:close/>
                </a:path>
              </a:pathLst>
            </a:custGeom>
            <a:blipFill>
              <a:blip r:embed="rId7"/>
              <a:stretch>
                <a:fillRect l="-430" r="-428"/>
              </a:stretch>
            </a:blipFill>
          </p:spPr>
          <p:txBody>
            <a:bodyPr/>
            <a:lstStyle/>
            <a:p>
              <a:endParaRPr lang="he-IL"/>
            </a:p>
          </p:txBody>
        </p:sp>
      </p:grpSp>
      <p:grpSp>
        <p:nvGrpSpPr>
          <p:cNvPr id="11" name="Group 11"/>
          <p:cNvGrpSpPr/>
          <p:nvPr/>
        </p:nvGrpSpPr>
        <p:grpSpPr>
          <a:xfrm>
            <a:off x="13219049" y="3983063"/>
            <a:ext cx="4636843" cy="1932046"/>
            <a:chOff x="0" y="0"/>
            <a:chExt cx="5265039" cy="2193798"/>
          </a:xfrm>
        </p:grpSpPr>
        <p:sp>
          <p:nvSpPr>
            <p:cNvPr id="12" name="Freeform 12"/>
            <p:cNvSpPr/>
            <p:nvPr/>
          </p:nvSpPr>
          <p:spPr>
            <a:xfrm>
              <a:off x="0" y="0"/>
              <a:ext cx="5265039" cy="2193798"/>
            </a:xfrm>
            <a:custGeom>
              <a:avLst/>
              <a:gdLst/>
              <a:ahLst/>
              <a:cxnLst/>
              <a:rect l="l" t="t" r="r" b="b"/>
              <a:pathLst>
                <a:path w="5265039" h="2193798">
                  <a:moveTo>
                    <a:pt x="0" y="0"/>
                  </a:moveTo>
                  <a:lnTo>
                    <a:pt x="5265039" y="0"/>
                  </a:lnTo>
                  <a:lnTo>
                    <a:pt x="5265039" y="2193798"/>
                  </a:lnTo>
                  <a:lnTo>
                    <a:pt x="0" y="2193798"/>
                  </a:lnTo>
                  <a:lnTo>
                    <a:pt x="0" y="0"/>
                  </a:lnTo>
                  <a:close/>
                </a:path>
              </a:pathLst>
            </a:custGeom>
            <a:blipFill>
              <a:blip r:embed="rId8"/>
              <a:stretch>
                <a:fillRect/>
              </a:stretch>
            </a:blipFill>
          </p:spPr>
          <p:txBody>
            <a:bodyPr/>
            <a:lstStyle/>
            <a:p>
              <a:endParaRPr lang="he-IL"/>
            </a:p>
          </p:txBody>
        </p:sp>
      </p:grpSp>
      <p:grpSp>
        <p:nvGrpSpPr>
          <p:cNvPr id="13" name="Group 13"/>
          <p:cNvGrpSpPr/>
          <p:nvPr/>
        </p:nvGrpSpPr>
        <p:grpSpPr>
          <a:xfrm>
            <a:off x="6630118" y="4358367"/>
            <a:ext cx="5049938" cy="982655"/>
            <a:chOff x="0" y="0"/>
            <a:chExt cx="5489677" cy="1068222"/>
          </a:xfrm>
        </p:grpSpPr>
        <p:sp>
          <p:nvSpPr>
            <p:cNvPr id="14" name="Freeform 14"/>
            <p:cNvSpPr/>
            <p:nvPr/>
          </p:nvSpPr>
          <p:spPr>
            <a:xfrm>
              <a:off x="0" y="0"/>
              <a:ext cx="5489702" cy="1068197"/>
            </a:xfrm>
            <a:custGeom>
              <a:avLst/>
              <a:gdLst/>
              <a:ahLst/>
              <a:cxnLst/>
              <a:rect l="l" t="t" r="r" b="b"/>
              <a:pathLst>
                <a:path w="5489702" h="1068197">
                  <a:moveTo>
                    <a:pt x="0" y="0"/>
                  </a:moveTo>
                  <a:lnTo>
                    <a:pt x="5489702" y="0"/>
                  </a:lnTo>
                  <a:lnTo>
                    <a:pt x="5489702" y="1068197"/>
                  </a:lnTo>
                  <a:lnTo>
                    <a:pt x="0" y="1068197"/>
                  </a:lnTo>
                  <a:lnTo>
                    <a:pt x="0" y="0"/>
                  </a:lnTo>
                  <a:close/>
                </a:path>
              </a:pathLst>
            </a:custGeom>
            <a:blipFill>
              <a:blip r:embed="rId9"/>
              <a:stretch>
                <a:fillRect t="-67" b="-71"/>
              </a:stretch>
            </a:blipFill>
          </p:spPr>
          <p:txBody>
            <a:bodyPr/>
            <a:lstStyle/>
            <a:p>
              <a:endParaRPr lang="he-IL"/>
            </a:p>
          </p:txBody>
        </p:sp>
      </p:grpSp>
      <p:grpSp>
        <p:nvGrpSpPr>
          <p:cNvPr id="15" name="Group 15"/>
          <p:cNvGrpSpPr/>
          <p:nvPr/>
        </p:nvGrpSpPr>
        <p:grpSpPr>
          <a:xfrm>
            <a:off x="15965962" y="2100148"/>
            <a:ext cx="1956605" cy="1949590"/>
            <a:chOff x="0" y="0"/>
            <a:chExt cx="2150097" cy="2142388"/>
          </a:xfrm>
        </p:grpSpPr>
        <p:sp>
          <p:nvSpPr>
            <p:cNvPr id="16" name="Freeform 16"/>
            <p:cNvSpPr/>
            <p:nvPr/>
          </p:nvSpPr>
          <p:spPr>
            <a:xfrm>
              <a:off x="0" y="0"/>
              <a:ext cx="2150110" cy="2142363"/>
            </a:xfrm>
            <a:custGeom>
              <a:avLst/>
              <a:gdLst/>
              <a:ahLst/>
              <a:cxnLst/>
              <a:rect l="l" t="t" r="r" b="b"/>
              <a:pathLst>
                <a:path w="2150110" h="2142363">
                  <a:moveTo>
                    <a:pt x="0" y="0"/>
                  </a:moveTo>
                  <a:lnTo>
                    <a:pt x="2150110" y="0"/>
                  </a:lnTo>
                  <a:lnTo>
                    <a:pt x="2150110" y="2142363"/>
                  </a:lnTo>
                  <a:lnTo>
                    <a:pt x="0" y="2142363"/>
                  </a:lnTo>
                  <a:lnTo>
                    <a:pt x="0" y="0"/>
                  </a:lnTo>
                  <a:close/>
                </a:path>
              </a:pathLst>
            </a:custGeom>
            <a:blipFill>
              <a:blip r:embed="rId10"/>
              <a:stretch>
                <a:fillRect b="-1"/>
              </a:stretch>
            </a:blipFill>
          </p:spPr>
          <p:txBody>
            <a:bodyPr/>
            <a:lstStyle/>
            <a:p>
              <a:endParaRPr lang="he-IL"/>
            </a:p>
          </p:txBody>
        </p:sp>
      </p:grpSp>
      <p:grpSp>
        <p:nvGrpSpPr>
          <p:cNvPr id="17" name="Group 17"/>
          <p:cNvGrpSpPr/>
          <p:nvPr/>
        </p:nvGrpSpPr>
        <p:grpSpPr>
          <a:xfrm>
            <a:off x="1593754" y="4267623"/>
            <a:ext cx="3192571" cy="1164143"/>
            <a:chOff x="0" y="0"/>
            <a:chExt cx="3000184" cy="1093991"/>
          </a:xfrm>
        </p:grpSpPr>
        <p:sp>
          <p:nvSpPr>
            <p:cNvPr id="18" name="Freeform 18"/>
            <p:cNvSpPr/>
            <p:nvPr/>
          </p:nvSpPr>
          <p:spPr>
            <a:xfrm>
              <a:off x="0" y="0"/>
              <a:ext cx="3000248" cy="1093978"/>
            </a:xfrm>
            <a:custGeom>
              <a:avLst/>
              <a:gdLst/>
              <a:ahLst/>
              <a:cxnLst/>
              <a:rect l="l" t="t" r="r" b="b"/>
              <a:pathLst>
                <a:path w="3000248" h="1093978">
                  <a:moveTo>
                    <a:pt x="0" y="0"/>
                  </a:moveTo>
                  <a:lnTo>
                    <a:pt x="3000248" y="0"/>
                  </a:lnTo>
                  <a:lnTo>
                    <a:pt x="3000248" y="1093978"/>
                  </a:lnTo>
                  <a:lnTo>
                    <a:pt x="0" y="1093978"/>
                  </a:lnTo>
                  <a:lnTo>
                    <a:pt x="0" y="0"/>
                  </a:lnTo>
                  <a:close/>
                </a:path>
              </a:pathLst>
            </a:custGeom>
            <a:blipFill>
              <a:blip r:embed="rId11"/>
              <a:stretch>
                <a:fillRect r="2" b="-1"/>
              </a:stretch>
            </a:blipFill>
          </p:spPr>
          <p:txBody>
            <a:bodyPr/>
            <a:lstStyle/>
            <a:p>
              <a:endParaRPr lang="he-IL"/>
            </a:p>
          </p:txBody>
        </p:sp>
      </p:grpSp>
      <p:grpSp>
        <p:nvGrpSpPr>
          <p:cNvPr id="19" name="Group 19"/>
          <p:cNvGrpSpPr/>
          <p:nvPr/>
        </p:nvGrpSpPr>
        <p:grpSpPr>
          <a:xfrm>
            <a:off x="0" y="0"/>
            <a:ext cx="18288000" cy="1900123"/>
            <a:chOff x="0" y="0"/>
            <a:chExt cx="4816593" cy="500444"/>
          </a:xfrm>
        </p:grpSpPr>
        <p:sp>
          <p:nvSpPr>
            <p:cNvPr id="20" name="Freeform 20"/>
            <p:cNvSpPr/>
            <p:nvPr/>
          </p:nvSpPr>
          <p:spPr>
            <a:xfrm>
              <a:off x="0" y="0"/>
              <a:ext cx="4816592" cy="500444"/>
            </a:xfrm>
            <a:custGeom>
              <a:avLst/>
              <a:gdLst/>
              <a:ahLst/>
              <a:cxnLst/>
              <a:rect l="l" t="t" r="r" b="b"/>
              <a:pathLst>
                <a:path w="4816592" h="500444">
                  <a:moveTo>
                    <a:pt x="0" y="0"/>
                  </a:moveTo>
                  <a:lnTo>
                    <a:pt x="4816592" y="0"/>
                  </a:lnTo>
                  <a:lnTo>
                    <a:pt x="4816592" y="500444"/>
                  </a:lnTo>
                  <a:lnTo>
                    <a:pt x="0" y="500444"/>
                  </a:lnTo>
                  <a:close/>
                </a:path>
              </a:pathLst>
            </a:custGeom>
            <a:solidFill>
              <a:srgbClr val="483F2B"/>
            </a:solidFill>
          </p:spPr>
          <p:txBody>
            <a:bodyPr/>
            <a:lstStyle/>
            <a:p>
              <a:endParaRPr lang="he-IL"/>
            </a:p>
          </p:txBody>
        </p:sp>
        <p:sp>
          <p:nvSpPr>
            <p:cNvPr id="21" name="TextBox 21"/>
            <p:cNvSpPr txBox="1"/>
            <p:nvPr/>
          </p:nvSpPr>
          <p:spPr>
            <a:xfrm>
              <a:off x="0" y="-47625"/>
              <a:ext cx="4816593" cy="548069"/>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7078348" y="441236"/>
            <a:ext cx="10844218" cy="1027176"/>
          </a:xfrm>
          <a:prstGeom prst="rect">
            <a:avLst/>
          </a:prstGeom>
        </p:spPr>
        <p:txBody>
          <a:bodyPr lIns="0" tIns="0" rIns="0" bIns="0" rtlCol="0" anchor="t">
            <a:spAutoFit/>
          </a:bodyPr>
          <a:lstStyle/>
          <a:p>
            <a:pPr algn="r" rtl="1">
              <a:lnSpc>
                <a:spcPts val="6732"/>
              </a:lnSpc>
            </a:pPr>
            <a:r>
              <a:rPr lang="he-IL" sz="6600" b="1" spc="-171">
                <a:solidFill>
                  <a:srgbClr val="FF8700"/>
                </a:solidFill>
                <a:latin typeface="Calibri (MS) Bold"/>
                <a:ea typeface="Calibri (MS) Bold"/>
                <a:cs typeface="Calibri (MS) Bold"/>
                <a:sym typeface="Calibri (MS) Bold"/>
                <a:rtl/>
              </a:rPr>
              <a:t>השותפים </a:t>
            </a:r>
            <a:r>
              <a:rPr lang="he-IL" sz="6600" b="1" spc="-171">
                <a:solidFill>
                  <a:srgbClr val="FFFFFF"/>
                </a:solidFill>
                <a:latin typeface="Calibri (MS) Bold"/>
                <a:ea typeface="Calibri (MS) Bold"/>
                <a:cs typeface="Calibri (MS) Bold"/>
                <a:sym typeface="Calibri (MS) Bold"/>
                <a:rtl/>
              </a:rPr>
              <a:t>לדרך</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580101" y="2179910"/>
            <a:ext cx="5618407" cy="3175244"/>
          </a:xfrm>
          <a:custGeom>
            <a:avLst/>
            <a:gdLst/>
            <a:ahLst/>
            <a:cxnLst/>
            <a:rect l="l" t="t" r="r" b="b"/>
            <a:pathLst>
              <a:path w="5618407" h="3175244">
                <a:moveTo>
                  <a:pt x="0" y="0"/>
                </a:moveTo>
                <a:lnTo>
                  <a:pt x="5618407" y="0"/>
                </a:lnTo>
                <a:lnTo>
                  <a:pt x="5618407" y="3175245"/>
                </a:lnTo>
                <a:lnTo>
                  <a:pt x="0" y="317524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650481" y="2328005"/>
            <a:ext cx="5372138" cy="2269553"/>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r>
              <a:rPr lang="en-US" sz="1800" b="1">
                <a:solidFill>
                  <a:srgbClr val="000000"/>
                </a:solidFill>
                <a:latin typeface="Calibri (MS) Bold"/>
                <a:ea typeface="Calibri (MS) Bold"/>
                <a:cs typeface="Calibri (MS) Bold"/>
                <a:sym typeface="Calibri (MS) Bold"/>
              </a:rPr>
              <a:t>LumenGuides</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מנכ”לית: לימור פריגן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מערכת ניווט אוטונומית מתקדמת ללא קרינה לפרוצדורות ריאה.</a:t>
            </a:r>
          </a:p>
          <a:p>
            <a:pPr algn="ctr" rtl="1">
              <a:lnSpc>
                <a:spcPts val="2520"/>
              </a:lnSpc>
            </a:pPr>
            <a:r>
              <a:rPr lang="en-US" sz="1800">
                <a:solidFill>
                  <a:srgbClr val="000000"/>
                </a:solidFill>
                <a:latin typeface="Calibri (MS)"/>
                <a:ea typeface="Calibri (MS)"/>
                <a:cs typeface="Calibri (MS)"/>
                <a:sym typeface="Calibri (MS)"/>
              </a:rPr>
              <a:t>www.lumenguides.com</a:t>
            </a:r>
          </a:p>
        </p:txBody>
      </p:sp>
      <p:sp>
        <p:nvSpPr>
          <p:cNvPr id="4" name="Freeform 4"/>
          <p:cNvSpPr/>
          <p:nvPr/>
        </p:nvSpPr>
        <p:spPr>
          <a:xfrm>
            <a:off x="604390" y="5815308"/>
            <a:ext cx="5618407" cy="3508619"/>
          </a:xfrm>
          <a:custGeom>
            <a:avLst/>
            <a:gdLst/>
            <a:ahLst/>
            <a:cxnLst/>
            <a:rect l="l" t="t" r="r" b="b"/>
            <a:pathLst>
              <a:path w="5618407" h="3508619">
                <a:moveTo>
                  <a:pt x="0" y="0"/>
                </a:moveTo>
                <a:lnTo>
                  <a:pt x="5618407" y="0"/>
                </a:lnTo>
                <a:lnTo>
                  <a:pt x="5618407" y="3508619"/>
                </a:lnTo>
                <a:lnTo>
                  <a:pt x="0" y="35086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TextBox 5"/>
          <p:cNvSpPr txBox="1"/>
          <p:nvPr/>
        </p:nvSpPr>
        <p:spPr>
          <a:xfrm>
            <a:off x="650481" y="5885488"/>
            <a:ext cx="5372138" cy="2879153"/>
          </a:xfrm>
          <a:prstGeom prst="rect">
            <a:avLst/>
          </a:prstGeom>
        </p:spPr>
        <p:txBody>
          <a:bodyPr lIns="0" tIns="0" rIns="0" bIns="0" rtlCol="0" anchor="t">
            <a:spAutoFit/>
          </a:bodyPr>
          <a:lstStyle/>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YOPI</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2021</a:t>
            </a:r>
            <a:r>
              <a:rPr lang="he-IL" sz="1800" b="1">
                <a:solidFill>
                  <a:srgbClr val="000000"/>
                </a:solidFill>
                <a:latin typeface="Calibri (MS) Bold"/>
                <a:ea typeface="Calibri (MS) Bold"/>
                <a:cs typeface="Calibri (MS) Bold"/>
                <a:sym typeface="Calibri (MS) Bold"/>
                <a:rtl/>
              </a:rPr>
              <a:t> | מנכ”ל: חמי ראם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מכשיר לביש למדידת שינויים באלקטרוליטים בזיעה המספק תמונת מצב פיזיולוגית של תפקוד הלב והריאות </a:t>
            </a:r>
          </a:p>
          <a:p>
            <a:pPr algn="ctr" rtl="1">
              <a:lnSpc>
                <a:spcPts val="2520"/>
              </a:lnSpc>
            </a:pPr>
            <a:endParaRPr lang="he-IL" sz="1800">
              <a:solidFill>
                <a:srgbClr val="000000"/>
              </a:solidFill>
              <a:latin typeface="Calibri (MS)"/>
              <a:ea typeface="Calibri (MS)"/>
              <a:cs typeface="Calibri (MS)"/>
              <a:sym typeface="Calibri (MS)"/>
              <a:rtl/>
            </a:endParaRPr>
          </a:p>
          <a:p>
            <a:pPr algn="ctr" rtl="1">
              <a:lnSpc>
                <a:spcPts val="2520"/>
              </a:lnSpc>
            </a:pPr>
            <a:r>
              <a:rPr lang="en-US" sz="1800">
                <a:solidFill>
                  <a:srgbClr val="000000"/>
                </a:solidFill>
                <a:latin typeface="Calibri (MS)"/>
                <a:ea typeface="Calibri (MS)"/>
                <a:cs typeface="Calibri (MS)"/>
                <a:sym typeface="Calibri (MS)"/>
              </a:rPr>
              <a:t>www.yopitech.com</a:t>
            </a:r>
          </a:p>
        </p:txBody>
      </p:sp>
      <p:sp>
        <p:nvSpPr>
          <p:cNvPr id="6" name="Freeform 6"/>
          <p:cNvSpPr/>
          <p:nvPr/>
        </p:nvSpPr>
        <p:spPr>
          <a:xfrm>
            <a:off x="6470294" y="2125189"/>
            <a:ext cx="5870610" cy="3175244"/>
          </a:xfrm>
          <a:custGeom>
            <a:avLst/>
            <a:gdLst/>
            <a:ahLst/>
            <a:cxnLst/>
            <a:rect l="l" t="t" r="r" b="b"/>
            <a:pathLst>
              <a:path w="5870610" h="3175244">
                <a:moveTo>
                  <a:pt x="0" y="0"/>
                </a:moveTo>
                <a:lnTo>
                  <a:pt x="5870610" y="0"/>
                </a:lnTo>
                <a:lnTo>
                  <a:pt x="5870610" y="3175245"/>
                </a:lnTo>
                <a:lnTo>
                  <a:pt x="0" y="31752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he-IL"/>
          </a:p>
        </p:txBody>
      </p:sp>
      <p:sp>
        <p:nvSpPr>
          <p:cNvPr id="7" name="TextBox 7"/>
          <p:cNvSpPr txBox="1"/>
          <p:nvPr/>
        </p:nvSpPr>
        <p:spPr>
          <a:xfrm>
            <a:off x="6485215" y="2134791"/>
            <a:ext cx="5624351" cy="25648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r>
              <a:rPr lang="en-US" sz="1800" b="1">
                <a:solidFill>
                  <a:srgbClr val="000000"/>
                </a:solidFill>
                <a:latin typeface="Calibri (MS) Bold"/>
                <a:ea typeface="Calibri (MS) Bold"/>
                <a:cs typeface="Calibri (MS) Bold"/>
                <a:sym typeface="Calibri (MS) Bold"/>
              </a:rPr>
              <a:t>Inretio</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2017</a:t>
            </a:r>
            <a:r>
              <a:rPr lang="he-IL" sz="1800" b="1">
                <a:solidFill>
                  <a:srgbClr val="000000"/>
                </a:solidFill>
                <a:latin typeface="Calibri (MS) Bold"/>
                <a:ea typeface="Calibri (MS) Bold"/>
                <a:cs typeface="Calibri (MS) Bold"/>
                <a:sym typeface="Calibri (MS) Bold"/>
                <a:rtl/>
              </a:rPr>
              <a:t> | מנכ”ל: רביב ויין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379"/>
              </a:lnSpc>
            </a:pPr>
            <a:r>
              <a:rPr lang="he-IL" sz="1700">
                <a:solidFill>
                  <a:srgbClr val="000000"/>
                </a:solidFill>
                <a:latin typeface="Calibri (MS)"/>
                <a:ea typeface="Calibri (MS)"/>
                <a:cs typeface="Calibri (MS)"/>
                <a:sym typeface="Calibri (MS)"/>
                <a:rtl/>
              </a:rPr>
              <a:t>מפתחת גישה חדשנית לשליפת קרישי דם ולטיפול בשבץ מוחי.</a:t>
            </a:r>
          </a:p>
          <a:p>
            <a:pPr algn="ctr" rtl="1">
              <a:lnSpc>
                <a:spcPts val="2520"/>
              </a:lnSpc>
            </a:pPr>
            <a:endParaRPr lang="he-IL" sz="1700">
              <a:solidFill>
                <a:srgbClr val="000000"/>
              </a:solidFill>
              <a:latin typeface="Calibri (MS)"/>
              <a:ea typeface="Calibri (MS)"/>
              <a:cs typeface="Calibri (MS)"/>
              <a:sym typeface="Calibri (MS)"/>
              <a:rtl/>
            </a:endParaRPr>
          </a:p>
          <a:p>
            <a:pPr algn="ctr" rtl="1">
              <a:lnSpc>
                <a:spcPts val="2520"/>
              </a:lnSpc>
            </a:pPr>
            <a:r>
              <a:rPr lang="en-US" sz="1800">
                <a:solidFill>
                  <a:srgbClr val="000000"/>
                </a:solidFill>
                <a:latin typeface="Calibri (MS)"/>
                <a:ea typeface="Calibri (MS)"/>
                <a:cs typeface="Calibri (MS)"/>
                <a:sym typeface="Calibri (MS)"/>
              </a:rPr>
              <a:t>www.inretio.co.il</a:t>
            </a:r>
          </a:p>
        </p:txBody>
      </p:sp>
      <p:sp>
        <p:nvSpPr>
          <p:cNvPr id="8" name="Freeform 8"/>
          <p:cNvSpPr/>
          <p:nvPr/>
        </p:nvSpPr>
        <p:spPr>
          <a:xfrm>
            <a:off x="12453423" y="2115664"/>
            <a:ext cx="5834577" cy="3194294"/>
          </a:xfrm>
          <a:custGeom>
            <a:avLst/>
            <a:gdLst/>
            <a:ahLst/>
            <a:cxnLst/>
            <a:rect l="l" t="t" r="r" b="b"/>
            <a:pathLst>
              <a:path w="5834577" h="3194294">
                <a:moveTo>
                  <a:pt x="0" y="0"/>
                </a:moveTo>
                <a:lnTo>
                  <a:pt x="5834577" y="0"/>
                </a:lnTo>
                <a:lnTo>
                  <a:pt x="5834577" y="3194295"/>
                </a:lnTo>
                <a:lnTo>
                  <a:pt x="0" y="319429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he-IL"/>
          </a:p>
        </p:txBody>
      </p:sp>
      <p:sp>
        <p:nvSpPr>
          <p:cNvPr id="9" name="TextBox 9"/>
          <p:cNvSpPr txBox="1"/>
          <p:nvPr/>
        </p:nvSpPr>
        <p:spPr>
          <a:xfrm>
            <a:off x="12523413" y="2153841"/>
            <a:ext cx="5588318" cy="2564829"/>
          </a:xfrm>
          <a:prstGeom prst="rect">
            <a:avLst/>
          </a:prstGeom>
        </p:spPr>
        <p:txBody>
          <a:bodyPr lIns="0" tIns="0" rIns="0" bIns="0" rtlCol="0" anchor="t">
            <a:spAutoFit/>
          </a:bodyPr>
          <a:lstStyle/>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Bariks</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2021</a:t>
            </a:r>
            <a:r>
              <a:rPr lang="he-IL" sz="1800" b="1">
                <a:solidFill>
                  <a:srgbClr val="000000"/>
                </a:solidFill>
                <a:latin typeface="Calibri (MS) Bold"/>
                <a:ea typeface="Calibri (MS) Bold"/>
                <a:cs typeface="Calibri (MS) Bold"/>
                <a:sym typeface="Calibri (MS) Bold"/>
                <a:rtl/>
              </a:rPr>
              <a:t> | מנכ”ל: אמיר שוקרון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תא טיפול בחמצן בלחץ (</a:t>
            </a:r>
            <a:r>
              <a:rPr lang="en-US" sz="1800">
                <a:solidFill>
                  <a:srgbClr val="000000"/>
                </a:solidFill>
                <a:latin typeface="Calibri (MS)"/>
                <a:ea typeface="Calibri (MS)"/>
                <a:cs typeface="Calibri (MS)"/>
                <a:sym typeface="Calibri (MS)"/>
              </a:rPr>
              <a:t>HBOT</a:t>
            </a:r>
            <a:r>
              <a:rPr lang="he-IL" sz="1800">
                <a:solidFill>
                  <a:srgbClr val="000000"/>
                </a:solidFill>
                <a:latin typeface="Calibri (MS)"/>
                <a:ea typeface="Calibri (MS)"/>
                <a:cs typeface="Calibri (MS)"/>
                <a:sym typeface="Calibri (MS)"/>
                <a:rtl/>
              </a:rPr>
              <a:t>) קל, מתקפל ונייד המאפשר טיפולים היפרבריים מתקדמים בצורה נגישה ונוחה </a:t>
            </a:r>
          </a:p>
          <a:p>
            <a:pPr algn="ctr" rtl="1">
              <a:lnSpc>
                <a:spcPts val="2520"/>
              </a:lnSpc>
            </a:pPr>
            <a:r>
              <a:rPr lang="en-US" sz="1800">
                <a:solidFill>
                  <a:srgbClr val="000000"/>
                </a:solidFill>
                <a:latin typeface="Calibri (MS)"/>
                <a:ea typeface="Calibri (MS)"/>
                <a:cs typeface="Calibri (MS)"/>
                <a:sym typeface="Calibri (MS)"/>
              </a:rPr>
              <a:t>https://barikshealth.com</a:t>
            </a:r>
            <a:r>
              <a:rPr lang="ar-EG" sz="1800">
                <a:solidFill>
                  <a:srgbClr val="000000"/>
                </a:solidFill>
                <a:latin typeface="Calibri (MS)"/>
                <a:ea typeface="Calibri (MS)"/>
                <a:cs typeface="Calibri (MS)"/>
                <a:sym typeface="Calibri (MS)"/>
                <a:rtl/>
              </a:rPr>
              <a:t>/</a:t>
            </a:r>
          </a:p>
        </p:txBody>
      </p:sp>
      <p:sp>
        <p:nvSpPr>
          <p:cNvPr id="10" name="Freeform 10"/>
          <p:cNvSpPr/>
          <p:nvPr/>
        </p:nvSpPr>
        <p:spPr>
          <a:xfrm>
            <a:off x="6674882" y="5824833"/>
            <a:ext cx="5618407" cy="3499094"/>
          </a:xfrm>
          <a:custGeom>
            <a:avLst/>
            <a:gdLst/>
            <a:ahLst/>
            <a:cxnLst/>
            <a:rect l="l" t="t" r="r" b="b"/>
            <a:pathLst>
              <a:path w="5618407" h="3499094">
                <a:moveTo>
                  <a:pt x="0" y="0"/>
                </a:moveTo>
                <a:lnTo>
                  <a:pt x="5618407" y="0"/>
                </a:lnTo>
                <a:lnTo>
                  <a:pt x="5618407" y="3499094"/>
                </a:lnTo>
                <a:lnTo>
                  <a:pt x="0" y="34990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he-IL"/>
          </a:p>
        </p:txBody>
      </p:sp>
      <p:sp>
        <p:nvSpPr>
          <p:cNvPr id="11" name="TextBox 11"/>
          <p:cNvSpPr txBox="1"/>
          <p:nvPr/>
        </p:nvSpPr>
        <p:spPr>
          <a:xfrm>
            <a:off x="6817066" y="5866438"/>
            <a:ext cx="5372138" cy="2879153"/>
          </a:xfrm>
          <a:prstGeom prst="rect">
            <a:avLst/>
          </a:prstGeom>
        </p:spPr>
        <p:txBody>
          <a:bodyPr lIns="0" tIns="0" rIns="0" bIns="0" rtlCol="0" anchor="t">
            <a:spAutoFit/>
          </a:bodyPr>
          <a:lstStyle/>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DiagNose</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מנכ”ל: אורי בקמן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מתמחה באילוף כלבי זיהוי רפואיים לאבחון מחלות שונות המפתחת גישה חדשנית לאבחון מבוסס חישה ביולוגית.</a:t>
            </a:r>
          </a:p>
          <a:p>
            <a:pPr algn="ctr" rtl="1">
              <a:lnSpc>
                <a:spcPts val="2520"/>
              </a:lnSpc>
            </a:pPr>
            <a:endParaRPr lang="he-IL" sz="1800">
              <a:solidFill>
                <a:srgbClr val="000000"/>
              </a:solidFill>
              <a:latin typeface="Calibri (MS)"/>
              <a:ea typeface="Calibri (MS)"/>
              <a:cs typeface="Calibri (MS)"/>
              <a:sym typeface="Calibri (MS)"/>
              <a:rtl/>
            </a:endParaRPr>
          </a:p>
          <a:p>
            <a:pPr algn="ctr" rtl="1">
              <a:lnSpc>
                <a:spcPts val="2520"/>
              </a:lnSpc>
            </a:pPr>
            <a:r>
              <a:rPr lang="en-US" sz="1800">
                <a:solidFill>
                  <a:srgbClr val="000000"/>
                </a:solidFill>
                <a:latin typeface="Calibri (MS)"/>
                <a:ea typeface="Calibri (MS)"/>
                <a:cs typeface="Calibri (MS)"/>
                <a:sym typeface="Calibri (MS)"/>
              </a:rPr>
              <a:t>www.diagnoseil.com</a:t>
            </a:r>
          </a:p>
        </p:txBody>
      </p:sp>
      <p:grpSp>
        <p:nvGrpSpPr>
          <p:cNvPr id="12" name="Group 12"/>
          <p:cNvGrpSpPr/>
          <p:nvPr/>
        </p:nvGrpSpPr>
        <p:grpSpPr>
          <a:xfrm>
            <a:off x="3095539" y="2385155"/>
            <a:ext cx="736330" cy="659730"/>
            <a:chOff x="0" y="0"/>
            <a:chExt cx="981774" cy="879640"/>
          </a:xfrm>
        </p:grpSpPr>
        <p:sp>
          <p:nvSpPr>
            <p:cNvPr id="13" name="Freeform 13"/>
            <p:cNvSpPr/>
            <p:nvPr/>
          </p:nvSpPr>
          <p:spPr>
            <a:xfrm>
              <a:off x="0" y="0"/>
              <a:ext cx="981837" cy="879602"/>
            </a:xfrm>
            <a:custGeom>
              <a:avLst/>
              <a:gdLst/>
              <a:ahLst/>
              <a:cxnLst/>
              <a:rect l="l" t="t" r="r" b="b"/>
              <a:pathLst>
                <a:path w="981837" h="879602">
                  <a:moveTo>
                    <a:pt x="0" y="0"/>
                  </a:moveTo>
                  <a:lnTo>
                    <a:pt x="981837" y="0"/>
                  </a:lnTo>
                  <a:lnTo>
                    <a:pt x="981837" y="879602"/>
                  </a:lnTo>
                  <a:lnTo>
                    <a:pt x="0" y="879602"/>
                  </a:lnTo>
                  <a:lnTo>
                    <a:pt x="0" y="0"/>
                  </a:lnTo>
                  <a:close/>
                </a:path>
              </a:pathLst>
            </a:custGeom>
            <a:blipFill>
              <a:blip r:embed="rId7"/>
              <a:stretch>
                <a:fillRect l="-19756" r="-19750" b="-4"/>
              </a:stretch>
            </a:blipFill>
          </p:spPr>
          <p:txBody>
            <a:bodyPr/>
            <a:lstStyle/>
            <a:p>
              <a:endParaRPr lang="he-IL"/>
            </a:p>
          </p:txBody>
        </p:sp>
      </p:grpSp>
      <p:grpSp>
        <p:nvGrpSpPr>
          <p:cNvPr id="14" name="Group 14"/>
          <p:cNvGrpSpPr/>
          <p:nvPr/>
        </p:nvGrpSpPr>
        <p:grpSpPr>
          <a:xfrm>
            <a:off x="8633031" y="2299430"/>
            <a:ext cx="1291142" cy="502110"/>
            <a:chOff x="0" y="0"/>
            <a:chExt cx="1721523" cy="669480"/>
          </a:xfrm>
        </p:grpSpPr>
        <p:sp>
          <p:nvSpPr>
            <p:cNvPr id="15" name="Freeform 15"/>
            <p:cNvSpPr/>
            <p:nvPr/>
          </p:nvSpPr>
          <p:spPr>
            <a:xfrm>
              <a:off x="0" y="0"/>
              <a:ext cx="1721485" cy="669417"/>
            </a:xfrm>
            <a:custGeom>
              <a:avLst/>
              <a:gdLst/>
              <a:ahLst/>
              <a:cxnLst/>
              <a:rect l="l" t="t" r="r" b="b"/>
              <a:pathLst>
                <a:path w="1721485" h="669417">
                  <a:moveTo>
                    <a:pt x="0" y="0"/>
                  </a:moveTo>
                  <a:lnTo>
                    <a:pt x="1721485" y="0"/>
                  </a:lnTo>
                  <a:lnTo>
                    <a:pt x="1721485" y="669417"/>
                  </a:lnTo>
                  <a:lnTo>
                    <a:pt x="0" y="669417"/>
                  </a:lnTo>
                  <a:lnTo>
                    <a:pt x="0" y="0"/>
                  </a:lnTo>
                  <a:close/>
                </a:path>
              </a:pathLst>
            </a:custGeom>
            <a:blipFill>
              <a:blip r:embed="rId8"/>
              <a:stretch>
                <a:fillRect r="-2" b="-9"/>
              </a:stretch>
            </a:blipFill>
          </p:spPr>
          <p:txBody>
            <a:bodyPr/>
            <a:lstStyle/>
            <a:p>
              <a:endParaRPr lang="he-IL"/>
            </a:p>
          </p:txBody>
        </p:sp>
      </p:grpSp>
      <p:grpSp>
        <p:nvGrpSpPr>
          <p:cNvPr id="16" name="Group 16"/>
          <p:cNvGrpSpPr/>
          <p:nvPr/>
        </p:nvGrpSpPr>
        <p:grpSpPr>
          <a:xfrm>
            <a:off x="14964156" y="2230041"/>
            <a:ext cx="926392" cy="467525"/>
            <a:chOff x="0" y="0"/>
            <a:chExt cx="1235189" cy="623367"/>
          </a:xfrm>
        </p:grpSpPr>
        <p:sp>
          <p:nvSpPr>
            <p:cNvPr id="17" name="Freeform 17"/>
            <p:cNvSpPr/>
            <p:nvPr/>
          </p:nvSpPr>
          <p:spPr>
            <a:xfrm>
              <a:off x="0" y="0"/>
              <a:ext cx="1235202" cy="623316"/>
            </a:xfrm>
            <a:custGeom>
              <a:avLst/>
              <a:gdLst/>
              <a:ahLst/>
              <a:cxnLst/>
              <a:rect l="l" t="t" r="r" b="b"/>
              <a:pathLst>
                <a:path w="1235202" h="623316">
                  <a:moveTo>
                    <a:pt x="0" y="0"/>
                  </a:moveTo>
                  <a:lnTo>
                    <a:pt x="1235202" y="0"/>
                  </a:lnTo>
                  <a:lnTo>
                    <a:pt x="1235202" y="623316"/>
                  </a:lnTo>
                  <a:lnTo>
                    <a:pt x="0" y="623316"/>
                  </a:lnTo>
                  <a:lnTo>
                    <a:pt x="0" y="0"/>
                  </a:lnTo>
                  <a:close/>
                </a:path>
              </a:pathLst>
            </a:custGeom>
            <a:blipFill>
              <a:blip r:embed="rId9"/>
              <a:stretch>
                <a:fillRect l="-155" r="-155" b="-8"/>
              </a:stretch>
            </a:blipFill>
          </p:spPr>
          <p:txBody>
            <a:bodyPr/>
            <a:lstStyle/>
            <a:p>
              <a:endParaRPr lang="he-IL"/>
            </a:p>
          </p:txBody>
        </p:sp>
      </p:grpSp>
      <p:grpSp>
        <p:nvGrpSpPr>
          <p:cNvPr id="18" name="Group 18"/>
          <p:cNvGrpSpPr/>
          <p:nvPr/>
        </p:nvGrpSpPr>
        <p:grpSpPr>
          <a:xfrm>
            <a:off x="2899458" y="5914063"/>
            <a:ext cx="953567" cy="627345"/>
            <a:chOff x="0" y="0"/>
            <a:chExt cx="1271422" cy="836460"/>
          </a:xfrm>
        </p:grpSpPr>
        <p:sp>
          <p:nvSpPr>
            <p:cNvPr id="19" name="Freeform 19"/>
            <p:cNvSpPr/>
            <p:nvPr/>
          </p:nvSpPr>
          <p:spPr>
            <a:xfrm>
              <a:off x="0" y="0"/>
              <a:ext cx="1271397" cy="836422"/>
            </a:xfrm>
            <a:custGeom>
              <a:avLst/>
              <a:gdLst/>
              <a:ahLst/>
              <a:cxnLst/>
              <a:rect l="l" t="t" r="r" b="b"/>
              <a:pathLst>
                <a:path w="1271397" h="836422">
                  <a:moveTo>
                    <a:pt x="0" y="0"/>
                  </a:moveTo>
                  <a:lnTo>
                    <a:pt x="1271397" y="0"/>
                  </a:lnTo>
                  <a:lnTo>
                    <a:pt x="1271397" y="836422"/>
                  </a:lnTo>
                  <a:lnTo>
                    <a:pt x="0" y="836422"/>
                  </a:lnTo>
                  <a:lnTo>
                    <a:pt x="0" y="0"/>
                  </a:lnTo>
                  <a:close/>
                </a:path>
              </a:pathLst>
            </a:custGeom>
            <a:blipFill>
              <a:blip r:embed="rId10"/>
              <a:stretch>
                <a:fillRect r="-1" b="-4"/>
              </a:stretch>
            </a:blipFill>
          </p:spPr>
          <p:txBody>
            <a:bodyPr/>
            <a:lstStyle/>
            <a:p>
              <a:endParaRPr lang="he-IL"/>
            </a:p>
          </p:txBody>
        </p:sp>
      </p:grpSp>
      <p:grpSp>
        <p:nvGrpSpPr>
          <p:cNvPr id="20" name="Group 20"/>
          <p:cNvGrpSpPr/>
          <p:nvPr/>
        </p:nvGrpSpPr>
        <p:grpSpPr>
          <a:xfrm>
            <a:off x="8733425" y="6040041"/>
            <a:ext cx="1363399" cy="310953"/>
            <a:chOff x="0" y="0"/>
            <a:chExt cx="1817865" cy="414604"/>
          </a:xfrm>
        </p:grpSpPr>
        <p:sp>
          <p:nvSpPr>
            <p:cNvPr id="21" name="Freeform 21"/>
            <p:cNvSpPr/>
            <p:nvPr/>
          </p:nvSpPr>
          <p:spPr>
            <a:xfrm>
              <a:off x="0" y="0"/>
              <a:ext cx="1817878" cy="414655"/>
            </a:xfrm>
            <a:custGeom>
              <a:avLst/>
              <a:gdLst/>
              <a:ahLst/>
              <a:cxnLst/>
              <a:rect l="l" t="t" r="r" b="b"/>
              <a:pathLst>
                <a:path w="1817878" h="414655">
                  <a:moveTo>
                    <a:pt x="0" y="0"/>
                  </a:moveTo>
                  <a:lnTo>
                    <a:pt x="1817878" y="0"/>
                  </a:lnTo>
                  <a:lnTo>
                    <a:pt x="1817878" y="414655"/>
                  </a:lnTo>
                  <a:lnTo>
                    <a:pt x="0" y="414655"/>
                  </a:lnTo>
                  <a:lnTo>
                    <a:pt x="0" y="0"/>
                  </a:lnTo>
                  <a:close/>
                </a:path>
              </a:pathLst>
            </a:custGeom>
            <a:blipFill>
              <a:blip r:embed="rId11"/>
              <a:stretch>
                <a:fillRect t="-422" b="-410"/>
              </a:stretch>
            </a:blipFill>
          </p:spPr>
          <p:txBody>
            <a:bodyPr/>
            <a:lstStyle/>
            <a:p>
              <a:endParaRPr lang="he-IL"/>
            </a:p>
          </p:txBody>
        </p:sp>
      </p:grpSp>
      <p:sp>
        <p:nvSpPr>
          <p:cNvPr id="22" name="TextBox 22"/>
          <p:cNvSpPr txBox="1"/>
          <p:nvPr/>
        </p:nvSpPr>
        <p:spPr>
          <a:xfrm>
            <a:off x="3853024" y="1260396"/>
            <a:ext cx="11028959" cy="512445"/>
          </a:xfrm>
          <a:prstGeom prst="rect">
            <a:avLst/>
          </a:prstGeom>
        </p:spPr>
        <p:txBody>
          <a:bodyPr lIns="0" tIns="0" rIns="0" bIns="0" rtlCol="0" anchor="t">
            <a:spAutoFit/>
          </a:bodyPr>
          <a:lstStyle/>
          <a:p>
            <a:pPr algn="ctr">
              <a:lnSpc>
                <a:spcPts val="3779"/>
              </a:lnSpc>
            </a:pPr>
            <a:r>
              <a:rPr lang="en-US" sz="2700">
                <a:solidFill>
                  <a:srgbClr val="000000"/>
                </a:solidFill>
                <a:latin typeface="Calibri (MS)"/>
                <a:ea typeface="Calibri (MS)"/>
                <a:cs typeface="Calibri (MS)"/>
                <a:sym typeface="Calibri (MS)"/>
              </a:rPr>
              <a:t>All | AgriTech |</a:t>
            </a:r>
            <a:r>
              <a:rPr lang="en-US" sz="2700">
                <a:solidFill>
                  <a:srgbClr val="FF8700"/>
                </a:solidFill>
                <a:latin typeface="Calibri (MS)"/>
                <a:ea typeface="Calibri (MS)"/>
                <a:cs typeface="Calibri (MS)"/>
                <a:sym typeface="Calibri (MS)"/>
              </a:rPr>
              <a:t> MedTech</a:t>
            </a:r>
            <a:r>
              <a:rPr lang="en-US" sz="2700">
                <a:solidFill>
                  <a:srgbClr val="0F55F1"/>
                </a:solidFill>
                <a:latin typeface="Calibri (MS)"/>
                <a:ea typeface="Calibri (MS)"/>
                <a:cs typeface="Calibri (MS)"/>
                <a:sym typeface="Calibri (MS)"/>
              </a:rPr>
              <a:t> </a:t>
            </a:r>
            <a:r>
              <a:rPr lang="en-US" sz="2700">
                <a:solidFill>
                  <a:srgbClr val="000000"/>
                </a:solidFill>
                <a:latin typeface="Calibri (MS)"/>
                <a:ea typeface="Calibri (MS)"/>
                <a:cs typeface="Calibri (MS)"/>
                <a:sym typeface="Calibri (MS)"/>
              </a:rPr>
              <a:t>| DefenceTech| DeepTech, AI | FoodTech </a:t>
            </a:r>
          </a:p>
        </p:txBody>
      </p:sp>
      <p:sp>
        <p:nvSpPr>
          <p:cNvPr id="23" name="Freeform 23"/>
          <p:cNvSpPr/>
          <p:nvPr/>
        </p:nvSpPr>
        <p:spPr>
          <a:xfrm>
            <a:off x="12561513" y="5815308"/>
            <a:ext cx="5618407" cy="3499094"/>
          </a:xfrm>
          <a:custGeom>
            <a:avLst/>
            <a:gdLst/>
            <a:ahLst/>
            <a:cxnLst/>
            <a:rect l="l" t="t" r="r" b="b"/>
            <a:pathLst>
              <a:path w="5618407" h="3499094">
                <a:moveTo>
                  <a:pt x="0" y="0"/>
                </a:moveTo>
                <a:lnTo>
                  <a:pt x="5618407" y="0"/>
                </a:lnTo>
                <a:lnTo>
                  <a:pt x="5618407" y="3499094"/>
                </a:lnTo>
                <a:lnTo>
                  <a:pt x="0" y="34990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he-IL"/>
          </a:p>
        </p:txBody>
      </p:sp>
      <p:sp>
        <p:nvSpPr>
          <p:cNvPr id="24" name="TextBox 24"/>
          <p:cNvSpPr txBox="1"/>
          <p:nvPr/>
        </p:nvSpPr>
        <p:spPr>
          <a:xfrm>
            <a:off x="12665593" y="5837863"/>
            <a:ext cx="5372138" cy="258387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r>
              <a:rPr lang="en-US" sz="1800" b="1">
                <a:solidFill>
                  <a:srgbClr val="000000"/>
                </a:solidFill>
                <a:latin typeface="Calibri (MS) Bold"/>
                <a:ea typeface="Calibri (MS) Bold"/>
                <a:cs typeface="Calibri (MS) Bold"/>
                <a:sym typeface="Calibri (MS) Bold"/>
              </a:rPr>
              <a:t>MindsView</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מנכ”ל: גבריאל דן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ערכת מציאות רבודה (</a:t>
            </a:r>
            <a:r>
              <a:rPr lang="en-US" sz="1800">
                <a:solidFill>
                  <a:srgbClr val="000000"/>
                </a:solidFill>
                <a:latin typeface="Calibri (MS)"/>
                <a:ea typeface="Calibri (MS)"/>
                <a:cs typeface="Calibri (MS)"/>
                <a:sym typeface="Calibri (MS)"/>
              </a:rPr>
              <a:t>AR</a:t>
            </a:r>
            <a:r>
              <a:rPr lang="he-IL" sz="1800">
                <a:solidFill>
                  <a:srgbClr val="000000"/>
                </a:solidFill>
                <a:latin typeface="Calibri (MS)"/>
                <a:ea typeface="Calibri (MS)"/>
                <a:cs typeface="Calibri (MS)"/>
                <a:sym typeface="Calibri (MS)"/>
                <a:rtl/>
              </a:rPr>
              <a:t>) לתמיכה וייעוץ רפואי מרחוק.</a:t>
            </a:r>
          </a:p>
          <a:p>
            <a:pPr algn="ctr" rtl="1">
              <a:lnSpc>
                <a:spcPts val="2520"/>
              </a:lnSpc>
            </a:pPr>
            <a:r>
              <a:rPr lang="he-IL" sz="1800">
                <a:solidFill>
                  <a:srgbClr val="000000"/>
                </a:solidFill>
                <a:latin typeface="Calibri (MS)"/>
                <a:ea typeface="Calibri (MS)"/>
                <a:cs typeface="Calibri (MS)"/>
                <a:sym typeface="Calibri (MS)"/>
                <a:rtl/>
              </a:rPr>
              <a:t> מאפשרת שיתוף מומחיות בזמן אמת בפרוצדורות רפואיות.</a:t>
            </a:r>
          </a:p>
          <a:p>
            <a:pPr algn="ctr" rtl="1">
              <a:lnSpc>
                <a:spcPts val="2520"/>
              </a:lnSpc>
            </a:pPr>
            <a:r>
              <a:rPr lang="ar-EG" sz="1800">
                <a:solidFill>
                  <a:srgbClr val="000000"/>
                </a:solidFill>
                <a:latin typeface="Calibri (MS)"/>
                <a:ea typeface="Calibri (MS)"/>
                <a:cs typeface="Calibri (MS)"/>
                <a:sym typeface="Calibri (MS)"/>
                <a:rtl/>
              </a:rPr>
              <a:t>/</a:t>
            </a:r>
            <a:r>
              <a:rPr lang="en-US" sz="1800">
                <a:solidFill>
                  <a:srgbClr val="000000"/>
                </a:solidFill>
                <a:latin typeface="Calibri (MS)"/>
                <a:ea typeface="Calibri (MS)"/>
                <a:cs typeface="Calibri (MS)"/>
                <a:sym typeface="Calibri (MS)"/>
              </a:rPr>
              <a:t>www.mindsview-tech.com</a:t>
            </a:r>
          </a:p>
        </p:txBody>
      </p:sp>
      <p:grpSp>
        <p:nvGrpSpPr>
          <p:cNvPr id="25" name="Group 25"/>
          <p:cNvGrpSpPr/>
          <p:nvPr/>
        </p:nvGrpSpPr>
        <p:grpSpPr>
          <a:xfrm>
            <a:off x="14348384" y="5914063"/>
            <a:ext cx="2044646" cy="533848"/>
            <a:chOff x="0" y="0"/>
            <a:chExt cx="2726195" cy="711797"/>
          </a:xfrm>
        </p:grpSpPr>
        <p:sp>
          <p:nvSpPr>
            <p:cNvPr id="26" name="Freeform 26"/>
            <p:cNvSpPr/>
            <p:nvPr/>
          </p:nvSpPr>
          <p:spPr>
            <a:xfrm>
              <a:off x="0" y="0"/>
              <a:ext cx="2726182" cy="711835"/>
            </a:xfrm>
            <a:custGeom>
              <a:avLst/>
              <a:gdLst/>
              <a:ahLst/>
              <a:cxnLst/>
              <a:rect l="l" t="t" r="r" b="b"/>
              <a:pathLst>
                <a:path w="2726182" h="711835">
                  <a:moveTo>
                    <a:pt x="0" y="0"/>
                  </a:moveTo>
                  <a:lnTo>
                    <a:pt x="2726182" y="0"/>
                  </a:lnTo>
                  <a:lnTo>
                    <a:pt x="2726182" y="711835"/>
                  </a:lnTo>
                  <a:lnTo>
                    <a:pt x="0" y="711835"/>
                  </a:lnTo>
                  <a:lnTo>
                    <a:pt x="0" y="0"/>
                  </a:lnTo>
                  <a:close/>
                </a:path>
              </a:pathLst>
            </a:custGeom>
            <a:blipFill>
              <a:blip r:embed="rId12"/>
              <a:stretch>
                <a:fillRect t="-85846" b="-85841"/>
              </a:stretch>
            </a:blipFill>
          </p:spPr>
          <p:txBody>
            <a:bodyPr/>
            <a:lstStyle/>
            <a:p>
              <a:endParaRPr lang="he-IL"/>
            </a:p>
          </p:txBody>
        </p:sp>
      </p:grpSp>
      <p:sp>
        <p:nvSpPr>
          <p:cNvPr id="27" name="TextBox 27"/>
          <p:cNvSpPr txBox="1"/>
          <p:nvPr/>
        </p:nvSpPr>
        <p:spPr>
          <a:xfrm>
            <a:off x="13085729" y="505873"/>
            <a:ext cx="4683245" cy="402098"/>
          </a:xfrm>
          <a:prstGeom prst="rect">
            <a:avLst/>
          </a:prstGeom>
        </p:spPr>
        <p:txBody>
          <a:bodyPr lIns="0" tIns="0" rIns="0" bIns="0" rtlCol="0" anchor="t">
            <a:spAutoFit/>
          </a:bodyPr>
          <a:lstStyle/>
          <a:p>
            <a:pPr algn="r" rtl="1">
              <a:lnSpc>
                <a:spcPts val="2698"/>
              </a:lnSpc>
            </a:pPr>
            <a:r>
              <a:rPr lang="he-IL" sz="2699">
                <a:solidFill>
                  <a:srgbClr val="070404"/>
                </a:solidFill>
                <a:latin typeface="Calibri (MS)"/>
                <a:ea typeface="Calibri (MS)"/>
                <a:cs typeface="Calibri (MS)"/>
                <a:sym typeface="Calibri (MS)"/>
                <a:rtl/>
              </a:rPr>
              <a:t>דף הבית &gt;</a:t>
            </a:r>
            <a:r>
              <a:rPr lang="he-IL" sz="2699">
                <a:solidFill>
                  <a:srgbClr val="FF8700"/>
                </a:solidFill>
                <a:latin typeface="Calibri (MS)"/>
                <a:ea typeface="Calibri (MS)"/>
                <a:cs typeface="Calibri (MS)"/>
                <a:sym typeface="Calibri (MS)"/>
                <a:rtl/>
              </a:rPr>
              <a:t> החברות בחממה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1028700" y="3174953"/>
            <a:ext cx="5618407" cy="3503190"/>
          </a:xfrm>
          <a:custGeom>
            <a:avLst/>
            <a:gdLst/>
            <a:ahLst/>
            <a:cxnLst/>
            <a:rect l="l" t="t" r="r" b="b"/>
            <a:pathLst>
              <a:path w="5618407" h="3503190">
                <a:moveTo>
                  <a:pt x="0" y="0"/>
                </a:moveTo>
                <a:lnTo>
                  <a:pt x="5618407" y="0"/>
                </a:lnTo>
                <a:lnTo>
                  <a:pt x="5618407" y="3503190"/>
                </a:lnTo>
                <a:lnTo>
                  <a:pt x="0" y="35031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1104900" y="3406929"/>
            <a:ext cx="5372138" cy="2859405"/>
          </a:xfrm>
          <a:prstGeom prst="rect">
            <a:avLst/>
          </a:prstGeom>
        </p:spPr>
        <p:txBody>
          <a:bodyPr lIns="0" tIns="0" rIns="0" bIns="0" rtlCol="0" anchor="t">
            <a:spAutoFit/>
          </a:bodyPr>
          <a:lstStyle/>
          <a:p>
            <a:pPr algn="ctr" rtl="1">
              <a:lnSpc>
                <a:spcPts val="2520"/>
              </a:lnSpc>
            </a:pPr>
            <a:endParaRPr/>
          </a:p>
          <a:p>
            <a:pPr algn="ctr" rtl="1">
              <a:lnSpc>
                <a:spcPts val="2520"/>
              </a:lnSpc>
            </a:pPr>
            <a:endParaRPr/>
          </a:p>
          <a:p>
            <a:pPr algn="ctr" rtl="1">
              <a:lnSpc>
                <a:spcPts val="2520"/>
              </a:lnSpc>
            </a:pPr>
            <a:r>
              <a:rPr lang="en-US" sz="1800" b="1">
                <a:solidFill>
                  <a:srgbClr val="000000"/>
                </a:solidFill>
                <a:latin typeface="Calibri (MS) Bold"/>
                <a:ea typeface="Calibri (MS) Bold"/>
                <a:cs typeface="Calibri (MS) Bold"/>
                <a:sym typeface="Calibri (MS) Bold"/>
              </a:rPr>
              <a:t>TIKKI 100</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מנכ”ל: ד”ר אבי שגב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טטר חדשני המסייע לשליטה במתן שתן ולניטור בריאותי מתקדם לנשים.  עיצוב פשוט וידידותי לשימוש יומיומי.</a:t>
            </a:r>
          </a:p>
          <a:p>
            <a:pPr algn="ctr" rtl="1">
              <a:lnSpc>
                <a:spcPts val="2520"/>
              </a:lnSpc>
            </a:pPr>
            <a:endParaRPr lang="he-IL" sz="1800">
              <a:solidFill>
                <a:srgbClr val="000000"/>
              </a:solidFill>
              <a:latin typeface="Calibri (MS)"/>
              <a:ea typeface="Calibri (MS)"/>
              <a:cs typeface="Calibri (MS)"/>
              <a:sym typeface="Calibri (MS)"/>
              <a:rtl/>
            </a:endParaRPr>
          </a:p>
          <a:p>
            <a:pPr algn="ctr" rtl="1">
              <a:lnSpc>
                <a:spcPts val="2520"/>
              </a:lnSpc>
            </a:pPr>
            <a:endParaRPr lang="he-IL" sz="1800">
              <a:solidFill>
                <a:srgbClr val="000000"/>
              </a:solidFill>
              <a:latin typeface="Calibri (MS)"/>
              <a:ea typeface="Calibri (MS)"/>
              <a:cs typeface="Calibri (MS)"/>
              <a:sym typeface="Calibri (MS)"/>
              <a:rtl/>
            </a:endParaRPr>
          </a:p>
        </p:txBody>
      </p:sp>
      <p:sp>
        <p:nvSpPr>
          <p:cNvPr id="4" name="Freeform 4"/>
          <p:cNvSpPr/>
          <p:nvPr/>
        </p:nvSpPr>
        <p:spPr>
          <a:xfrm>
            <a:off x="6918903" y="3174953"/>
            <a:ext cx="5870610" cy="3527669"/>
          </a:xfrm>
          <a:custGeom>
            <a:avLst/>
            <a:gdLst/>
            <a:ahLst/>
            <a:cxnLst/>
            <a:rect l="l" t="t" r="r" b="b"/>
            <a:pathLst>
              <a:path w="5870610" h="3527669">
                <a:moveTo>
                  <a:pt x="0" y="0"/>
                </a:moveTo>
                <a:lnTo>
                  <a:pt x="5870610" y="0"/>
                </a:lnTo>
                <a:lnTo>
                  <a:pt x="5870610" y="3527669"/>
                </a:lnTo>
                <a:lnTo>
                  <a:pt x="0" y="35276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TextBox 5"/>
          <p:cNvSpPr txBox="1"/>
          <p:nvPr/>
        </p:nvSpPr>
        <p:spPr>
          <a:xfrm>
            <a:off x="7003928" y="3076931"/>
            <a:ext cx="5624351" cy="32125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rtl="1">
              <a:lnSpc>
                <a:spcPts val="2520"/>
              </a:lnSpc>
            </a:pPr>
            <a:endParaRPr/>
          </a:p>
          <a:p>
            <a:pPr algn="ctr" rtl="1">
              <a:lnSpc>
                <a:spcPts val="2520"/>
              </a:lnSpc>
            </a:pPr>
            <a:r>
              <a:rPr lang="en-US" sz="1800" b="1">
                <a:solidFill>
                  <a:srgbClr val="000000"/>
                </a:solidFill>
                <a:latin typeface="Calibri (MS) Bold"/>
                <a:ea typeface="Calibri (MS) Bold"/>
                <a:cs typeface="Calibri (MS) Bold"/>
                <a:sym typeface="Calibri (MS) Bold"/>
              </a:rPr>
              <a:t>MindTension</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2020</a:t>
            </a:r>
            <a:r>
              <a:rPr lang="he-IL" sz="1800" b="1">
                <a:solidFill>
                  <a:srgbClr val="000000"/>
                </a:solidFill>
                <a:latin typeface="Calibri (MS) Bold"/>
                <a:ea typeface="Calibri (MS) Bold"/>
                <a:cs typeface="Calibri (MS) Bold"/>
                <a:sym typeface="Calibri (MS) Bold"/>
                <a:rtl/>
              </a:rPr>
              <a:t>| מנכ”ל: זאב ברנד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כלי מדויק, מהיר ואובייקטיבי לזיהוי, טיפול ומעקב אחר מצבים נפשיים ונוירולוגיי בזמן אמת.</a:t>
            </a:r>
          </a:p>
          <a:p>
            <a:pPr algn="ctr" rtl="1">
              <a:lnSpc>
                <a:spcPts val="2520"/>
              </a:lnSpc>
            </a:pPr>
            <a:r>
              <a:rPr lang="en-US" sz="1800">
                <a:solidFill>
                  <a:srgbClr val="000000"/>
                </a:solidFill>
                <a:latin typeface="Calibri (MS)"/>
                <a:ea typeface="Calibri (MS)"/>
                <a:cs typeface="Calibri (MS)"/>
                <a:sym typeface="Calibri (MS)"/>
              </a:rPr>
              <a:t>www.mindtension.com</a:t>
            </a:r>
          </a:p>
          <a:p>
            <a:pPr algn="ctr" rtl="1">
              <a:lnSpc>
                <a:spcPts val="2520"/>
              </a:lnSpc>
            </a:pPr>
            <a:endParaRPr lang="en-US" sz="1800">
              <a:solidFill>
                <a:srgbClr val="000000"/>
              </a:solidFill>
              <a:latin typeface="Calibri (MS)"/>
              <a:ea typeface="Calibri (MS)"/>
              <a:cs typeface="Calibri (MS)"/>
              <a:sym typeface="Calibri (MS)"/>
            </a:endParaRPr>
          </a:p>
        </p:txBody>
      </p:sp>
      <p:grpSp>
        <p:nvGrpSpPr>
          <p:cNvPr id="6" name="Group 6"/>
          <p:cNvGrpSpPr/>
          <p:nvPr/>
        </p:nvGrpSpPr>
        <p:grpSpPr>
          <a:xfrm>
            <a:off x="3347602" y="3454554"/>
            <a:ext cx="980602" cy="424669"/>
            <a:chOff x="0" y="0"/>
            <a:chExt cx="1487068" cy="644004"/>
          </a:xfrm>
        </p:grpSpPr>
        <p:sp>
          <p:nvSpPr>
            <p:cNvPr id="7" name="Freeform 7"/>
            <p:cNvSpPr/>
            <p:nvPr/>
          </p:nvSpPr>
          <p:spPr>
            <a:xfrm>
              <a:off x="0" y="0"/>
              <a:ext cx="1487043" cy="644017"/>
            </a:xfrm>
            <a:custGeom>
              <a:avLst/>
              <a:gdLst/>
              <a:ahLst/>
              <a:cxnLst/>
              <a:rect l="l" t="t" r="r" b="b"/>
              <a:pathLst>
                <a:path w="1487043" h="644017">
                  <a:moveTo>
                    <a:pt x="0" y="0"/>
                  </a:moveTo>
                  <a:lnTo>
                    <a:pt x="1487043" y="0"/>
                  </a:lnTo>
                  <a:lnTo>
                    <a:pt x="1487043" y="644017"/>
                  </a:lnTo>
                  <a:lnTo>
                    <a:pt x="0" y="644017"/>
                  </a:lnTo>
                  <a:lnTo>
                    <a:pt x="0" y="0"/>
                  </a:lnTo>
                  <a:close/>
                </a:path>
              </a:pathLst>
            </a:custGeom>
            <a:blipFill>
              <a:blip r:embed="rId4"/>
              <a:stretch>
                <a:fillRect r="-1" b="2"/>
              </a:stretch>
            </a:blipFill>
          </p:spPr>
          <p:txBody>
            <a:bodyPr/>
            <a:lstStyle/>
            <a:p>
              <a:endParaRPr lang="he-IL"/>
            </a:p>
          </p:txBody>
        </p:sp>
      </p:grpSp>
      <p:sp>
        <p:nvSpPr>
          <p:cNvPr id="8" name="TextBox 8"/>
          <p:cNvSpPr txBox="1"/>
          <p:nvPr/>
        </p:nvSpPr>
        <p:spPr>
          <a:xfrm>
            <a:off x="3982241" y="1372579"/>
            <a:ext cx="11667725" cy="528955"/>
          </a:xfrm>
          <a:prstGeom prst="rect">
            <a:avLst/>
          </a:prstGeom>
        </p:spPr>
        <p:txBody>
          <a:bodyPr lIns="0" tIns="0" rIns="0" bIns="0" rtlCol="0" anchor="t">
            <a:spAutoFit/>
          </a:bodyPr>
          <a:lstStyle/>
          <a:p>
            <a:pPr algn="ctr">
              <a:lnSpc>
                <a:spcPts val="3919"/>
              </a:lnSpc>
            </a:pPr>
            <a:r>
              <a:rPr lang="en-US" sz="2799">
                <a:solidFill>
                  <a:srgbClr val="000000"/>
                </a:solidFill>
                <a:latin typeface="Calibri (MS)"/>
                <a:ea typeface="Calibri (MS)"/>
                <a:cs typeface="Calibri (MS)"/>
                <a:sym typeface="Calibri (MS)"/>
              </a:rPr>
              <a:t>All | AgriTech | </a:t>
            </a:r>
            <a:r>
              <a:rPr lang="en-US" sz="2799">
                <a:solidFill>
                  <a:srgbClr val="FF8C0A"/>
                </a:solidFill>
                <a:latin typeface="Calibri (MS)"/>
                <a:ea typeface="Calibri (MS)"/>
                <a:cs typeface="Calibri (MS)"/>
                <a:sym typeface="Calibri (MS)"/>
              </a:rPr>
              <a:t>MedTech </a:t>
            </a:r>
            <a:r>
              <a:rPr lang="en-US" sz="2799">
                <a:solidFill>
                  <a:srgbClr val="000000"/>
                </a:solidFill>
                <a:latin typeface="Calibri (MS)"/>
                <a:ea typeface="Calibri (MS)"/>
                <a:cs typeface="Calibri (MS)"/>
                <a:sym typeface="Calibri (MS)"/>
              </a:rPr>
              <a:t>| DefenceTech, AI | DeepTech, AI | FoodTech </a:t>
            </a:r>
          </a:p>
        </p:txBody>
      </p:sp>
      <p:grpSp>
        <p:nvGrpSpPr>
          <p:cNvPr id="9" name="Group 9"/>
          <p:cNvGrpSpPr/>
          <p:nvPr/>
        </p:nvGrpSpPr>
        <p:grpSpPr>
          <a:xfrm>
            <a:off x="9349492" y="3359635"/>
            <a:ext cx="971179" cy="662464"/>
            <a:chOff x="0" y="0"/>
            <a:chExt cx="1294905" cy="883285"/>
          </a:xfrm>
        </p:grpSpPr>
        <p:sp>
          <p:nvSpPr>
            <p:cNvPr id="10" name="Freeform 10"/>
            <p:cNvSpPr/>
            <p:nvPr/>
          </p:nvSpPr>
          <p:spPr>
            <a:xfrm>
              <a:off x="0" y="0"/>
              <a:ext cx="1294892" cy="883285"/>
            </a:xfrm>
            <a:custGeom>
              <a:avLst/>
              <a:gdLst/>
              <a:ahLst/>
              <a:cxnLst/>
              <a:rect l="l" t="t" r="r" b="b"/>
              <a:pathLst>
                <a:path w="1294892" h="883285">
                  <a:moveTo>
                    <a:pt x="0" y="0"/>
                  </a:moveTo>
                  <a:lnTo>
                    <a:pt x="1294892" y="0"/>
                  </a:lnTo>
                  <a:lnTo>
                    <a:pt x="1294892" y="883285"/>
                  </a:lnTo>
                  <a:lnTo>
                    <a:pt x="0" y="883285"/>
                  </a:lnTo>
                  <a:lnTo>
                    <a:pt x="0" y="0"/>
                  </a:lnTo>
                  <a:close/>
                </a:path>
              </a:pathLst>
            </a:custGeom>
            <a:blipFill>
              <a:blip r:embed="rId5"/>
              <a:stretch>
                <a:fillRect t="-6931" b="-6933"/>
              </a:stretch>
            </a:blipFill>
          </p:spPr>
          <p:txBody>
            <a:bodyPr/>
            <a:lstStyle/>
            <a:p>
              <a:endParaRPr lang="he-IL"/>
            </a:p>
          </p:txBody>
        </p:sp>
      </p:grpSp>
      <p:sp>
        <p:nvSpPr>
          <p:cNvPr id="11" name="TextBox 11"/>
          <p:cNvSpPr txBox="1"/>
          <p:nvPr/>
        </p:nvSpPr>
        <p:spPr>
          <a:xfrm>
            <a:off x="12888268" y="307239"/>
            <a:ext cx="4683245" cy="402098"/>
          </a:xfrm>
          <a:prstGeom prst="rect">
            <a:avLst/>
          </a:prstGeom>
        </p:spPr>
        <p:txBody>
          <a:bodyPr lIns="0" tIns="0" rIns="0" bIns="0" rtlCol="0" anchor="t">
            <a:spAutoFit/>
          </a:bodyPr>
          <a:lstStyle/>
          <a:p>
            <a:pPr algn="r" rtl="1">
              <a:lnSpc>
                <a:spcPts val="2698"/>
              </a:lnSpc>
            </a:pPr>
            <a:r>
              <a:rPr lang="he-IL" sz="2699">
                <a:solidFill>
                  <a:srgbClr val="070404"/>
                </a:solidFill>
                <a:latin typeface="Calibri (MS)"/>
                <a:ea typeface="Calibri (MS)"/>
                <a:cs typeface="Calibri (MS)"/>
                <a:sym typeface="Calibri (MS)"/>
                <a:rtl/>
              </a:rPr>
              <a:t>דף הבית &gt;</a:t>
            </a:r>
            <a:r>
              <a:rPr lang="he-IL" sz="2699">
                <a:solidFill>
                  <a:srgbClr val="FF8700"/>
                </a:solidFill>
                <a:latin typeface="Calibri (MS)"/>
                <a:ea typeface="Calibri (MS)"/>
                <a:cs typeface="Calibri (MS)"/>
                <a:sym typeface="Calibri (MS)"/>
                <a:rtl/>
              </a:rPr>
              <a:t> החברות בחממה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344362" y="3404145"/>
            <a:ext cx="5618407" cy="3503190"/>
          </a:xfrm>
          <a:custGeom>
            <a:avLst/>
            <a:gdLst/>
            <a:ahLst/>
            <a:cxnLst/>
            <a:rect l="l" t="t" r="r" b="b"/>
            <a:pathLst>
              <a:path w="5618407" h="3503190">
                <a:moveTo>
                  <a:pt x="0" y="0"/>
                </a:moveTo>
                <a:lnTo>
                  <a:pt x="5618407" y="0"/>
                </a:lnTo>
                <a:lnTo>
                  <a:pt x="5618407" y="3503190"/>
                </a:lnTo>
                <a:lnTo>
                  <a:pt x="0" y="35031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467492" y="3303465"/>
            <a:ext cx="5372138" cy="3173730"/>
          </a:xfrm>
          <a:prstGeom prst="rect">
            <a:avLst/>
          </a:prstGeom>
        </p:spPr>
        <p:txBody>
          <a:bodyPr lIns="0" tIns="0" rIns="0" bIns="0" rtlCol="0" anchor="t">
            <a:spAutoFit/>
          </a:bodyPr>
          <a:lstStyle/>
          <a:p>
            <a:pPr algn="ctr" rtl="1">
              <a:lnSpc>
                <a:spcPts val="2520"/>
              </a:lnSpc>
            </a:pPr>
            <a:endParaRPr/>
          </a:p>
          <a:p>
            <a:pPr algn="ctr" rtl="1">
              <a:lnSpc>
                <a:spcPts val="2520"/>
              </a:lnSpc>
            </a:pPr>
            <a:endParaRPr/>
          </a:p>
          <a:p>
            <a:pPr algn="ctr" rtl="1">
              <a:lnSpc>
                <a:spcPts val="2520"/>
              </a:lnSpc>
            </a:pPr>
            <a:endParaRPr/>
          </a:p>
          <a:p>
            <a:pPr algn="ctr" rtl="1">
              <a:lnSpc>
                <a:spcPts val="2520"/>
              </a:lnSpc>
            </a:pPr>
            <a:r>
              <a:rPr lang="en-US" sz="1800" b="1">
                <a:solidFill>
                  <a:srgbClr val="070404"/>
                </a:solidFill>
                <a:latin typeface="Calibri (MS) Bold"/>
                <a:ea typeface="Calibri (MS) Bold"/>
                <a:cs typeface="Calibri (MS) Bold"/>
                <a:sym typeface="Calibri (MS) Bold"/>
              </a:rPr>
              <a:t>Liquid360</a:t>
            </a:r>
          </a:p>
          <a:p>
            <a:pPr algn="ctr" rtl="1">
              <a:lnSpc>
                <a:spcPts val="2520"/>
              </a:lnSpc>
            </a:pPr>
            <a:r>
              <a:rPr lang="he-IL" sz="1800" b="1">
                <a:solidFill>
                  <a:srgbClr val="070404"/>
                </a:solidFill>
                <a:latin typeface="Calibri (MS) Bold"/>
                <a:ea typeface="Calibri (MS) Bold"/>
                <a:cs typeface="Calibri (MS) Bold"/>
                <a:sym typeface="Calibri (MS) Bold"/>
                <a:rtl/>
              </a:rPr>
              <a:t>שנת הקמה: </a:t>
            </a:r>
            <a:r>
              <a:rPr lang="en-US" sz="1800" b="1">
                <a:solidFill>
                  <a:srgbClr val="070404"/>
                </a:solidFill>
                <a:latin typeface="Calibri (MS) Bold"/>
                <a:ea typeface="Calibri (MS) Bold"/>
                <a:cs typeface="Calibri (MS) Bold"/>
                <a:sym typeface="Calibri (MS) Bold"/>
              </a:rPr>
              <a:t>2024</a:t>
            </a:r>
            <a:r>
              <a:rPr lang="he-IL" sz="1800" b="1">
                <a:solidFill>
                  <a:srgbClr val="070404"/>
                </a:solidFill>
                <a:latin typeface="Calibri (MS) Bold"/>
                <a:ea typeface="Calibri (MS) Bold"/>
                <a:cs typeface="Calibri (MS) Bold"/>
                <a:sym typeface="Calibri (MS) Bold"/>
                <a:rtl/>
              </a:rPr>
              <a:t> | מנכ”לית: עליסה גיברץ  </a:t>
            </a:r>
          </a:p>
          <a:p>
            <a:pPr algn="ctr" rtl="1">
              <a:lnSpc>
                <a:spcPts val="2520"/>
              </a:lnSpc>
            </a:pPr>
            <a:endParaRPr lang="he-IL" sz="1800" b="1">
              <a:solidFill>
                <a:srgbClr val="070404"/>
              </a:solidFill>
              <a:latin typeface="Calibri (MS) Bold"/>
              <a:ea typeface="Calibri (MS) Bold"/>
              <a:cs typeface="Calibri (MS) Bold"/>
              <a:sym typeface="Calibri (MS) Bold"/>
              <a:rtl/>
            </a:endParaRPr>
          </a:p>
          <a:p>
            <a:pPr algn="ctr" rtl="1">
              <a:lnSpc>
                <a:spcPts val="2520"/>
              </a:lnSpc>
            </a:pPr>
            <a:r>
              <a:rPr lang="he-IL" sz="1800">
                <a:solidFill>
                  <a:srgbClr val="070404"/>
                </a:solidFill>
                <a:latin typeface="Calibri (MS)"/>
                <a:ea typeface="Calibri (MS)"/>
                <a:cs typeface="Calibri (MS)"/>
                <a:sym typeface="Calibri (MS)"/>
                <a:rtl/>
              </a:rPr>
              <a:t>מערכת מודיעין וראייה כוללת המאפשרת תגובה מהירה וטקטית לסיטואציות בזמן אמת תוך צמצום סיכונים.</a:t>
            </a:r>
          </a:p>
          <a:p>
            <a:pPr algn="ctr" rtl="1">
              <a:lnSpc>
                <a:spcPts val="2520"/>
              </a:lnSpc>
            </a:pPr>
            <a:r>
              <a:rPr lang="en-US" sz="1800">
                <a:solidFill>
                  <a:srgbClr val="070404"/>
                </a:solidFill>
                <a:latin typeface="Calibri (MS)"/>
                <a:ea typeface="Calibri (MS)"/>
                <a:cs typeface="Calibri (MS)"/>
                <a:sym typeface="Calibri (MS)"/>
              </a:rPr>
              <a:t>www.liquid360.co</a:t>
            </a:r>
          </a:p>
          <a:p>
            <a:pPr algn="ctr" rtl="1">
              <a:lnSpc>
                <a:spcPts val="2520"/>
              </a:lnSpc>
            </a:pPr>
            <a:endParaRPr lang="en-US" sz="1800">
              <a:solidFill>
                <a:srgbClr val="070404"/>
              </a:solidFill>
              <a:latin typeface="Calibri (MS)"/>
              <a:ea typeface="Calibri (MS)"/>
              <a:cs typeface="Calibri (MS)"/>
              <a:sym typeface="Calibri (MS)"/>
            </a:endParaRPr>
          </a:p>
        </p:txBody>
      </p:sp>
      <p:sp>
        <p:nvSpPr>
          <p:cNvPr id="4" name="Freeform 4"/>
          <p:cNvSpPr/>
          <p:nvPr/>
        </p:nvSpPr>
        <p:spPr>
          <a:xfrm>
            <a:off x="6177405" y="3379665"/>
            <a:ext cx="5870610" cy="3527669"/>
          </a:xfrm>
          <a:custGeom>
            <a:avLst/>
            <a:gdLst/>
            <a:ahLst/>
            <a:cxnLst/>
            <a:rect l="l" t="t" r="r" b="b"/>
            <a:pathLst>
              <a:path w="5870610" h="3527669">
                <a:moveTo>
                  <a:pt x="0" y="0"/>
                </a:moveTo>
                <a:lnTo>
                  <a:pt x="5870610" y="0"/>
                </a:lnTo>
                <a:lnTo>
                  <a:pt x="5870610" y="3527670"/>
                </a:lnTo>
                <a:lnTo>
                  <a:pt x="0" y="35276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TextBox 5"/>
          <p:cNvSpPr txBox="1"/>
          <p:nvPr/>
        </p:nvSpPr>
        <p:spPr>
          <a:xfrm>
            <a:off x="6300545" y="3338898"/>
            <a:ext cx="5624351" cy="32125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rtl="1">
              <a:lnSpc>
                <a:spcPts val="2520"/>
              </a:lnSpc>
            </a:pPr>
            <a:endParaRPr/>
          </a:p>
          <a:p>
            <a:pPr algn="ctr" rtl="1">
              <a:lnSpc>
                <a:spcPts val="2520"/>
              </a:lnSpc>
            </a:pPr>
            <a:r>
              <a:rPr lang="en-US" sz="1800" b="1">
                <a:solidFill>
                  <a:srgbClr val="070404"/>
                </a:solidFill>
                <a:latin typeface="Calibri (MS) Bold"/>
                <a:ea typeface="Calibri (MS) Bold"/>
                <a:cs typeface="Calibri (MS) Bold"/>
                <a:sym typeface="Calibri (MS) Bold"/>
              </a:rPr>
              <a:t>Robel Innovation – Asgard</a:t>
            </a:r>
          </a:p>
          <a:p>
            <a:pPr algn="ctr" rtl="1">
              <a:lnSpc>
                <a:spcPts val="2520"/>
              </a:lnSpc>
            </a:pPr>
            <a:r>
              <a:rPr lang="he-IL" sz="1800" b="1">
                <a:solidFill>
                  <a:srgbClr val="070404"/>
                </a:solidFill>
                <a:latin typeface="Calibri (MS) Bold"/>
                <a:ea typeface="Calibri (MS) Bold"/>
                <a:cs typeface="Calibri (MS) Bold"/>
                <a:sym typeface="Calibri (MS) Bold"/>
                <a:rtl/>
              </a:rPr>
              <a:t>שנת הקמה: </a:t>
            </a:r>
            <a:r>
              <a:rPr lang="en-US" sz="1800" b="1">
                <a:solidFill>
                  <a:srgbClr val="070404"/>
                </a:solidFill>
                <a:latin typeface="Calibri (MS) Bold"/>
                <a:ea typeface="Calibri (MS) Bold"/>
                <a:cs typeface="Calibri (MS) Bold"/>
                <a:sym typeface="Calibri (MS) Bold"/>
              </a:rPr>
              <a:t>2020</a:t>
            </a:r>
            <a:r>
              <a:rPr lang="he-IL" sz="1800" b="1">
                <a:solidFill>
                  <a:srgbClr val="070404"/>
                </a:solidFill>
                <a:latin typeface="Calibri (MS) Bold"/>
                <a:ea typeface="Calibri (MS) Bold"/>
                <a:cs typeface="Calibri (MS) Bold"/>
                <a:sym typeface="Calibri (MS) Bold"/>
                <a:rtl/>
              </a:rPr>
              <a:t>| מנכ”ל: רותם מיטל </a:t>
            </a:r>
          </a:p>
          <a:p>
            <a:pPr algn="ctr" rtl="1">
              <a:lnSpc>
                <a:spcPts val="2520"/>
              </a:lnSpc>
            </a:pPr>
            <a:endParaRPr lang="he-IL" sz="1800" b="1">
              <a:solidFill>
                <a:srgbClr val="070404"/>
              </a:solidFill>
              <a:latin typeface="Calibri (MS) Bold"/>
              <a:ea typeface="Calibri (MS) Bold"/>
              <a:cs typeface="Calibri (MS) Bold"/>
              <a:sym typeface="Calibri (MS) Bold"/>
              <a:rtl/>
            </a:endParaRPr>
          </a:p>
          <a:p>
            <a:pPr algn="ctr" rtl="1">
              <a:lnSpc>
                <a:spcPts val="2520"/>
              </a:lnSpc>
            </a:pPr>
            <a:r>
              <a:rPr lang="he-IL" sz="1800">
                <a:solidFill>
                  <a:srgbClr val="070404"/>
                </a:solidFill>
                <a:latin typeface="Calibri (MS)"/>
                <a:ea typeface="Calibri (MS)"/>
                <a:cs typeface="Calibri (MS)"/>
                <a:sym typeface="Calibri (MS)"/>
                <a:rtl/>
              </a:rPr>
              <a:t>פתרונות ניהול פרויקטים ושירותי יישום בתחומי ביטחון ותעופה.  תומכת בפרויקטים מורכבים משלב התכנון ועד היישום המבצעי.</a:t>
            </a:r>
          </a:p>
          <a:p>
            <a:pPr algn="ctr" rtl="1">
              <a:lnSpc>
                <a:spcPts val="2520"/>
              </a:lnSpc>
            </a:pPr>
            <a:r>
              <a:rPr lang="en-US" sz="1800">
                <a:solidFill>
                  <a:srgbClr val="070404"/>
                </a:solidFill>
                <a:latin typeface="Calibri (MS)"/>
                <a:ea typeface="Calibri (MS)"/>
                <a:cs typeface="Calibri (MS)"/>
                <a:sym typeface="Calibri (MS)"/>
              </a:rPr>
              <a:t>www.robel-innovations.com</a:t>
            </a:r>
          </a:p>
          <a:p>
            <a:pPr algn="ctr" rtl="1">
              <a:lnSpc>
                <a:spcPts val="2520"/>
              </a:lnSpc>
            </a:pPr>
            <a:endParaRPr lang="en-US" sz="1800">
              <a:solidFill>
                <a:srgbClr val="070404"/>
              </a:solidFill>
              <a:latin typeface="Calibri (MS)"/>
              <a:ea typeface="Calibri (MS)"/>
              <a:cs typeface="Calibri (MS)"/>
              <a:sym typeface="Calibri (MS)"/>
            </a:endParaRPr>
          </a:p>
        </p:txBody>
      </p:sp>
      <p:grpSp>
        <p:nvGrpSpPr>
          <p:cNvPr id="6" name="Group 6"/>
          <p:cNvGrpSpPr/>
          <p:nvPr/>
        </p:nvGrpSpPr>
        <p:grpSpPr>
          <a:xfrm>
            <a:off x="2798783" y="3560716"/>
            <a:ext cx="578501" cy="586283"/>
            <a:chOff x="0" y="0"/>
            <a:chExt cx="771334" cy="781710"/>
          </a:xfrm>
        </p:grpSpPr>
        <p:sp>
          <p:nvSpPr>
            <p:cNvPr id="7" name="Freeform 7"/>
            <p:cNvSpPr/>
            <p:nvPr/>
          </p:nvSpPr>
          <p:spPr>
            <a:xfrm>
              <a:off x="0" y="0"/>
              <a:ext cx="771398" cy="781685"/>
            </a:xfrm>
            <a:custGeom>
              <a:avLst/>
              <a:gdLst/>
              <a:ahLst/>
              <a:cxnLst/>
              <a:rect l="l" t="t" r="r" b="b"/>
              <a:pathLst>
                <a:path w="771398" h="781685">
                  <a:moveTo>
                    <a:pt x="0" y="0"/>
                  </a:moveTo>
                  <a:lnTo>
                    <a:pt x="771398" y="0"/>
                  </a:lnTo>
                  <a:lnTo>
                    <a:pt x="771398" y="781685"/>
                  </a:lnTo>
                  <a:lnTo>
                    <a:pt x="0" y="781685"/>
                  </a:lnTo>
                  <a:lnTo>
                    <a:pt x="0" y="0"/>
                  </a:lnTo>
                  <a:close/>
                </a:path>
              </a:pathLst>
            </a:custGeom>
            <a:blipFill>
              <a:blip r:embed="rId4"/>
              <a:stretch>
                <a:fillRect l="-115" r="-108" b="-3"/>
              </a:stretch>
            </a:blipFill>
          </p:spPr>
          <p:txBody>
            <a:bodyPr/>
            <a:lstStyle/>
            <a:p>
              <a:endParaRPr lang="he-IL"/>
            </a:p>
          </p:txBody>
        </p:sp>
      </p:grpSp>
      <p:grpSp>
        <p:nvGrpSpPr>
          <p:cNvPr id="8" name="Group 8"/>
          <p:cNvGrpSpPr/>
          <p:nvPr/>
        </p:nvGrpSpPr>
        <p:grpSpPr>
          <a:xfrm>
            <a:off x="7779710" y="3591939"/>
            <a:ext cx="2791473" cy="730777"/>
            <a:chOff x="0" y="0"/>
            <a:chExt cx="3721964" cy="974369"/>
          </a:xfrm>
        </p:grpSpPr>
        <p:sp>
          <p:nvSpPr>
            <p:cNvPr id="9" name="Freeform 9"/>
            <p:cNvSpPr/>
            <p:nvPr/>
          </p:nvSpPr>
          <p:spPr>
            <a:xfrm>
              <a:off x="0" y="0"/>
              <a:ext cx="3721989" cy="974344"/>
            </a:xfrm>
            <a:custGeom>
              <a:avLst/>
              <a:gdLst/>
              <a:ahLst/>
              <a:cxnLst/>
              <a:rect l="l" t="t" r="r" b="b"/>
              <a:pathLst>
                <a:path w="3721989" h="974344">
                  <a:moveTo>
                    <a:pt x="0" y="0"/>
                  </a:moveTo>
                  <a:lnTo>
                    <a:pt x="3721989" y="0"/>
                  </a:lnTo>
                  <a:lnTo>
                    <a:pt x="3721989" y="974344"/>
                  </a:lnTo>
                  <a:lnTo>
                    <a:pt x="0" y="974344"/>
                  </a:lnTo>
                  <a:lnTo>
                    <a:pt x="0" y="0"/>
                  </a:lnTo>
                  <a:close/>
                </a:path>
              </a:pathLst>
            </a:custGeom>
            <a:blipFill>
              <a:blip r:embed="rId5"/>
              <a:stretch>
                <a:fillRect t="-140997" b="-140999"/>
              </a:stretch>
            </a:blipFill>
          </p:spPr>
          <p:txBody>
            <a:bodyPr/>
            <a:lstStyle/>
            <a:p>
              <a:endParaRPr lang="he-IL"/>
            </a:p>
          </p:txBody>
        </p:sp>
      </p:grpSp>
      <p:sp>
        <p:nvSpPr>
          <p:cNvPr id="10" name="Freeform 10"/>
          <p:cNvSpPr/>
          <p:nvPr/>
        </p:nvSpPr>
        <p:spPr>
          <a:xfrm>
            <a:off x="12265309" y="3379665"/>
            <a:ext cx="5678329" cy="3527669"/>
          </a:xfrm>
          <a:custGeom>
            <a:avLst/>
            <a:gdLst/>
            <a:ahLst/>
            <a:cxnLst/>
            <a:rect l="l" t="t" r="r" b="b"/>
            <a:pathLst>
              <a:path w="5678329" h="3527669">
                <a:moveTo>
                  <a:pt x="0" y="0"/>
                </a:moveTo>
                <a:lnTo>
                  <a:pt x="5678329" y="0"/>
                </a:lnTo>
                <a:lnTo>
                  <a:pt x="5678329" y="3527670"/>
                </a:lnTo>
                <a:lnTo>
                  <a:pt x="0" y="352767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he-IL"/>
          </a:p>
        </p:txBody>
      </p:sp>
      <p:sp>
        <p:nvSpPr>
          <p:cNvPr id="11" name="TextBox 11"/>
          <p:cNvSpPr txBox="1"/>
          <p:nvPr/>
        </p:nvSpPr>
        <p:spPr>
          <a:xfrm>
            <a:off x="12381390" y="3474991"/>
            <a:ext cx="5432069" cy="2898203"/>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r>
              <a:rPr lang="en-US" sz="1800" b="1">
                <a:solidFill>
                  <a:srgbClr val="000000"/>
                </a:solidFill>
                <a:latin typeface="Calibri (MS) Bold"/>
                <a:ea typeface="Calibri (MS) Bold"/>
                <a:cs typeface="Calibri (MS) Bold"/>
                <a:sym typeface="Calibri (MS) Bold"/>
              </a:rPr>
              <a:t>Nakai</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2020</a:t>
            </a:r>
            <a:r>
              <a:rPr lang="he-IL" sz="1800" b="1">
                <a:solidFill>
                  <a:srgbClr val="000000"/>
                </a:solidFill>
                <a:latin typeface="Calibri (MS) Bold"/>
                <a:ea typeface="Calibri (MS) Bold"/>
                <a:cs typeface="Calibri (MS) Bold"/>
                <a:sym typeface="Calibri (MS) Bold"/>
                <a:rtl/>
              </a:rPr>
              <a:t>| מנכ”ל: רותם מיטל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פתרונות ניהול פרויקטים ושירותי יישום בתחומי ביטחון ותעופה.  תומכת בפרויקטים מורכבים משלב התכנון ועד היישום המבצעי.</a:t>
            </a:r>
          </a:p>
          <a:p>
            <a:pPr algn="ctr" rtl="1">
              <a:lnSpc>
                <a:spcPts val="2520"/>
              </a:lnSpc>
            </a:pPr>
            <a:r>
              <a:rPr lang="en-US" sz="1800">
                <a:solidFill>
                  <a:srgbClr val="000000"/>
                </a:solidFill>
                <a:latin typeface="Calibri (MS)"/>
                <a:ea typeface="Calibri (MS)"/>
                <a:cs typeface="Calibri (MS)"/>
                <a:sym typeface="Calibri (MS)"/>
              </a:rPr>
              <a:t>www.robel-innovations.com</a:t>
            </a:r>
          </a:p>
          <a:p>
            <a:pPr algn="ctr" rtl="1">
              <a:lnSpc>
                <a:spcPts val="2520"/>
              </a:lnSpc>
            </a:pPr>
            <a:endParaRPr lang="en-US" sz="1800">
              <a:solidFill>
                <a:srgbClr val="000000"/>
              </a:solidFill>
              <a:latin typeface="Calibri (MS)"/>
              <a:ea typeface="Calibri (MS)"/>
              <a:cs typeface="Calibri (MS)"/>
              <a:sym typeface="Calibri (MS)"/>
            </a:endParaRPr>
          </a:p>
        </p:txBody>
      </p:sp>
      <p:grpSp>
        <p:nvGrpSpPr>
          <p:cNvPr id="12" name="Group 12"/>
          <p:cNvGrpSpPr/>
          <p:nvPr/>
        </p:nvGrpSpPr>
        <p:grpSpPr>
          <a:xfrm>
            <a:off x="13756029" y="3408316"/>
            <a:ext cx="2834954" cy="748455"/>
            <a:chOff x="0" y="0"/>
            <a:chExt cx="3779939" cy="997941"/>
          </a:xfrm>
        </p:grpSpPr>
        <p:sp>
          <p:nvSpPr>
            <p:cNvPr id="13" name="Freeform 13"/>
            <p:cNvSpPr/>
            <p:nvPr/>
          </p:nvSpPr>
          <p:spPr>
            <a:xfrm>
              <a:off x="0" y="0"/>
              <a:ext cx="3779901" cy="997966"/>
            </a:xfrm>
            <a:custGeom>
              <a:avLst/>
              <a:gdLst/>
              <a:ahLst/>
              <a:cxnLst/>
              <a:rect l="l" t="t" r="r" b="b"/>
              <a:pathLst>
                <a:path w="3779901" h="997966">
                  <a:moveTo>
                    <a:pt x="0" y="0"/>
                  </a:moveTo>
                  <a:lnTo>
                    <a:pt x="3779901" y="0"/>
                  </a:lnTo>
                  <a:lnTo>
                    <a:pt x="3779901" y="997966"/>
                  </a:lnTo>
                  <a:lnTo>
                    <a:pt x="0" y="997966"/>
                  </a:lnTo>
                  <a:lnTo>
                    <a:pt x="0" y="0"/>
                  </a:lnTo>
                  <a:close/>
                </a:path>
              </a:pathLst>
            </a:custGeom>
            <a:blipFill>
              <a:blip r:embed="rId7"/>
              <a:stretch>
                <a:fillRect l="-5237" r="-5238" b="2"/>
              </a:stretch>
            </a:blipFill>
          </p:spPr>
          <p:txBody>
            <a:bodyPr/>
            <a:lstStyle/>
            <a:p>
              <a:endParaRPr lang="he-IL"/>
            </a:p>
          </p:txBody>
        </p:sp>
      </p:grpSp>
      <p:sp>
        <p:nvSpPr>
          <p:cNvPr id="14" name="TextBox 14"/>
          <p:cNvSpPr txBox="1"/>
          <p:nvPr/>
        </p:nvSpPr>
        <p:spPr>
          <a:xfrm>
            <a:off x="3377284" y="1887318"/>
            <a:ext cx="11028959" cy="528955"/>
          </a:xfrm>
          <a:prstGeom prst="rect">
            <a:avLst/>
          </a:prstGeom>
        </p:spPr>
        <p:txBody>
          <a:bodyPr lIns="0" tIns="0" rIns="0" bIns="0" rtlCol="0" anchor="t">
            <a:spAutoFit/>
          </a:bodyPr>
          <a:lstStyle/>
          <a:p>
            <a:pPr algn="ctr">
              <a:lnSpc>
                <a:spcPts val="3919"/>
              </a:lnSpc>
            </a:pPr>
            <a:r>
              <a:rPr lang="en-US" sz="2799">
                <a:solidFill>
                  <a:srgbClr val="FFFFFF"/>
                </a:solidFill>
                <a:latin typeface="Calibri (MS)"/>
                <a:ea typeface="Calibri (MS)"/>
                <a:cs typeface="Calibri (MS)"/>
                <a:sym typeface="Calibri (MS)"/>
              </a:rPr>
              <a:t>All | AgriTech | MedTech | </a:t>
            </a:r>
            <a:r>
              <a:rPr lang="en-US" sz="2799">
                <a:solidFill>
                  <a:srgbClr val="FF8700"/>
                </a:solidFill>
                <a:latin typeface="Calibri (MS)"/>
                <a:ea typeface="Calibri (MS)"/>
                <a:cs typeface="Calibri (MS)"/>
                <a:sym typeface="Calibri (MS)"/>
              </a:rPr>
              <a:t>DefenceTech</a:t>
            </a:r>
            <a:r>
              <a:rPr lang="en-US" sz="2799">
                <a:solidFill>
                  <a:srgbClr val="FFFFFF"/>
                </a:solidFill>
                <a:latin typeface="Calibri (MS)"/>
                <a:ea typeface="Calibri (MS)"/>
                <a:cs typeface="Calibri (MS)"/>
                <a:sym typeface="Calibri (MS)"/>
              </a:rPr>
              <a:t>| DeepTech, AI | FoodTech </a:t>
            </a:r>
          </a:p>
        </p:txBody>
      </p:sp>
      <p:sp>
        <p:nvSpPr>
          <p:cNvPr id="15" name="TextBox 15"/>
          <p:cNvSpPr txBox="1"/>
          <p:nvPr/>
        </p:nvSpPr>
        <p:spPr>
          <a:xfrm>
            <a:off x="13260393" y="626602"/>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 </a:t>
            </a:r>
            <a:r>
              <a:rPr lang="he-IL" sz="2699">
                <a:solidFill>
                  <a:srgbClr val="FF8700"/>
                </a:solidFill>
                <a:latin typeface="Calibri (MS)"/>
                <a:ea typeface="Calibri (MS)"/>
                <a:cs typeface="Calibri (MS)"/>
                <a:sym typeface="Calibri (MS)"/>
                <a:rtl/>
              </a:rPr>
              <a:t>החברות בחממה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374752" y="3449844"/>
            <a:ext cx="5618407" cy="2938453"/>
          </a:xfrm>
          <a:custGeom>
            <a:avLst/>
            <a:gdLst/>
            <a:ahLst/>
            <a:cxnLst/>
            <a:rect l="l" t="t" r="r" b="b"/>
            <a:pathLst>
              <a:path w="5618407" h="2938453">
                <a:moveTo>
                  <a:pt x="0" y="0"/>
                </a:moveTo>
                <a:lnTo>
                  <a:pt x="5618407" y="0"/>
                </a:lnTo>
                <a:lnTo>
                  <a:pt x="5618407" y="2938453"/>
                </a:lnTo>
                <a:lnTo>
                  <a:pt x="0" y="293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454538" y="3588079"/>
            <a:ext cx="5372138" cy="2566734"/>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659"/>
              </a:lnSpc>
            </a:pPr>
            <a:r>
              <a:rPr lang="en-US" sz="1899" b="1">
                <a:solidFill>
                  <a:srgbClr val="000000"/>
                </a:solidFill>
                <a:latin typeface="Calibri (MS) Bold"/>
                <a:ea typeface="Calibri (MS) Bold"/>
                <a:cs typeface="Calibri (MS) Bold"/>
                <a:sym typeface="Calibri (MS) Bold"/>
              </a:rPr>
              <a:t>Fungit Biosolutions</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2021</a:t>
            </a:r>
            <a:r>
              <a:rPr lang="he-IL" sz="1800" b="1">
                <a:solidFill>
                  <a:srgbClr val="000000"/>
                </a:solidFill>
                <a:latin typeface="Calibri (MS) Bold"/>
                <a:ea typeface="Calibri (MS) Bold"/>
                <a:cs typeface="Calibri (MS) Bold"/>
                <a:sym typeface="Calibri (MS) Bold"/>
                <a:rtl/>
              </a:rPr>
              <a:t> | מנכ”ל: גל אדמתי</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379"/>
              </a:lnSpc>
            </a:pPr>
            <a:r>
              <a:rPr lang="he-IL" sz="1700">
                <a:solidFill>
                  <a:srgbClr val="000000"/>
                </a:solidFill>
                <a:latin typeface="Calibri (MS)"/>
                <a:ea typeface="Calibri (MS)"/>
                <a:cs typeface="Calibri (MS)"/>
                <a:sym typeface="Calibri (MS)"/>
                <a:rtl/>
              </a:rPr>
              <a:t>פועלת לפיתוח פתרונות ביולוגיים מבוססי מיקרואורגניזמים להגנה על גידולים ולמניעת מחלות פטרייתיות בחקלאות</a:t>
            </a:r>
          </a:p>
          <a:p>
            <a:pPr algn="ctr" rtl="1">
              <a:lnSpc>
                <a:spcPts val="2520"/>
              </a:lnSpc>
            </a:pPr>
            <a:r>
              <a:rPr lang="en-US" sz="1800">
                <a:solidFill>
                  <a:srgbClr val="000000"/>
                </a:solidFill>
                <a:latin typeface="Calibri (MS)"/>
                <a:ea typeface="Calibri (MS)"/>
                <a:cs typeface="Calibri (MS)"/>
                <a:sym typeface="Calibri (MS)"/>
              </a:rPr>
              <a:t>www.fungitbio.com</a:t>
            </a:r>
          </a:p>
        </p:txBody>
      </p:sp>
      <p:sp>
        <p:nvSpPr>
          <p:cNvPr id="4" name="Freeform 4"/>
          <p:cNvSpPr/>
          <p:nvPr/>
        </p:nvSpPr>
        <p:spPr>
          <a:xfrm>
            <a:off x="374752" y="7040617"/>
            <a:ext cx="5618407" cy="3213344"/>
          </a:xfrm>
          <a:custGeom>
            <a:avLst/>
            <a:gdLst/>
            <a:ahLst/>
            <a:cxnLst/>
            <a:rect l="l" t="t" r="r" b="b"/>
            <a:pathLst>
              <a:path w="5618407" h="3213344">
                <a:moveTo>
                  <a:pt x="0" y="0"/>
                </a:moveTo>
                <a:lnTo>
                  <a:pt x="5618407" y="0"/>
                </a:lnTo>
                <a:lnTo>
                  <a:pt x="5618407" y="3213344"/>
                </a:lnTo>
                <a:lnTo>
                  <a:pt x="0" y="32133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TextBox 5"/>
          <p:cNvSpPr txBox="1"/>
          <p:nvPr/>
        </p:nvSpPr>
        <p:spPr>
          <a:xfrm>
            <a:off x="416438" y="6735274"/>
            <a:ext cx="5372138" cy="32125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RumaFeed</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2021</a:t>
            </a:r>
            <a:r>
              <a:rPr lang="he-IL" sz="1800" b="1">
                <a:solidFill>
                  <a:srgbClr val="000000"/>
                </a:solidFill>
                <a:latin typeface="Calibri (MS) Bold"/>
                <a:ea typeface="Calibri (MS) Bold"/>
                <a:cs typeface="Calibri (MS) Bold"/>
                <a:sym typeface="Calibri (MS) Bold"/>
                <a:rtl/>
              </a:rPr>
              <a:t> | מנכ”ל: עודד אילן</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טכנולוגיה מולקולרית לעצירת ייצור רעלים בעלוות תפוחי אדמה והפיכת הפסולת לחציר עשיר בחלבון ותוספת משמעותית למזון בעלי‑חיים</a:t>
            </a:r>
          </a:p>
          <a:p>
            <a:pPr algn="ctr" rtl="1">
              <a:lnSpc>
                <a:spcPts val="2520"/>
              </a:lnSpc>
            </a:pPr>
            <a:r>
              <a:rPr lang="ar-EG" sz="1800">
                <a:solidFill>
                  <a:srgbClr val="000000"/>
                </a:solidFill>
                <a:latin typeface="Calibri (MS)"/>
                <a:ea typeface="Calibri (MS)"/>
                <a:cs typeface="Calibri (MS)"/>
                <a:sym typeface="Calibri (MS)"/>
                <a:rtl/>
              </a:rPr>
              <a:t>.</a:t>
            </a:r>
            <a:r>
              <a:rPr lang="en-US" sz="1800">
                <a:solidFill>
                  <a:srgbClr val="000000"/>
                </a:solidFill>
                <a:latin typeface="Calibri (MS)"/>
                <a:ea typeface="Calibri (MS)"/>
                <a:cs typeface="Calibri (MS)"/>
                <a:sym typeface="Calibri (MS)"/>
              </a:rPr>
              <a:t>www.fungitbio.com</a:t>
            </a:r>
          </a:p>
        </p:txBody>
      </p:sp>
      <p:grpSp>
        <p:nvGrpSpPr>
          <p:cNvPr id="6" name="Group 6"/>
          <p:cNvGrpSpPr/>
          <p:nvPr/>
        </p:nvGrpSpPr>
        <p:grpSpPr>
          <a:xfrm>
            <a:off x="2455745" y="7312093"/>
            <a:ext cx="1236374" cy="260956"/>
            <a:chOff x="0" y="0"/>
            <a:chExt cx="1648498" cy="347942"/>
          </a:xfrm>
        </p:grpSpPr>
        <p:sp>
          <p:nvSpPr>
            <p:cNvPr id="7" name="Freeform 7"/>
            <p:cNvSpPr/>
            <p:nvPr/>
          </p:nvSpPr>
          <p:spPr>
            <a:xfrm>
              <a:off x="0" y="0"/>
              <a:ext cx="1648460" cy="347980"/>
            </a:xfrm>
            <a:custGeom>
              <a:avLst/>
              <a:gdLst/>
              <a:ahLst/>
              <a:cxnLst/>
              <a:rect l="l" t="t" r="r" b="b"/>
              <a:pathLst>
                <a:path w="1648460" h="347980">
                  <a:moveTo>
                    <a:pt x="0" y="0"/>
                  </a:moveTo>
                  <a:lnTo>
                    <a:pt x="1648460" y="0"/>
                  </a:lnTo>
                  <a:lnTo>
                    <a:pt x="1648460" y="347980"/>
                  </a:lnTo>
                  <a:lnTo>
                    <a:pt x="0" y="347980"/>
                  </a:lnTo>
                  <a:lnTo>
                    <a:pt x="0" y="0"/>
                  </a:lnTo>
                  <a:close/>
                </a:path>
              </a:pathLst>
            </a:custGeom>
            <a:blipFill>
              <a:blip r:embed="rId4"/>
              <a:stretch>
                <a:fillRect t="-762" r="-2" b="-751"/>
              </a:stretch>
            </a:blipFill>
          </p:spPr>
          <p:txBody>
            <a:bodyPr/>
            <a:lstStyle/>
            <a:p>
              <a:endParaRPr lang="he-IL"/>
            </a:p>
          </p:txBody>
        </p:sp>
      </p:grpSp>
      <p:grpSp>
        <p:nvGrpSpPr>
          <p:cNvPr id="8" name="Group 8"/>
          <p:cNvGrpSpPr/>
          <p:nvPr/>
        </p:nvGrpSpPr>
        <p:grpSpPr>
          <a:xfrm>
            <a:off x="2295096" y="3593324"/>
            <a:ext cx="1729121" cy="633851"/>
            <a:chOff x="0" y="0"/>
            <a:chExt cx="2305494" cy="845134"/>
          </a:xfrm>
        </p:grpSpPr>
        <p:sp>
          <p:nvSpPr>
            <p:cNvPr id="9" name="Freeform 9"/>
            <p:cNvSpPr/>
            <p:nvPr/>
          </p:nvSpPr>
          <p:spPr>
            <a:xfrm>
              <a:off x="0" y="0"/>
              <a:ext cx="2305431" cy="845185"/>
            </a:xfrm>
            <a:custGeom>
              <a:avLst/>
              <a:gdLst/>
              <a:ahLst/>
              <a:cxnLst/>
              <a:rect l="l" t="t" r="r" b="b"/>
              <a:pathLst>
                <a:path w="2305431" h="845185">
                  <a:moveTo>
                    <a:pt x="0" y="0"/>
                  </a:moveTo>
                  <a:lnTo>
                    <a:pt x="2305431" y="0"/>
                  </a:lnTo>
                  <a:lnTo>
                    <a:pt x="2305431" y="845185"/>
                  </a:lnTo>
                  <a:lnTo>
                    <a:pt x="0" y="845185"/>
                  </a:lnTo>
                  <a:lnTo>
                    <a:pt x="0" y="0"/>
                  </a:lnTo>
                  <a:close/>
                </a:path>
              </a:pathLst>
            </a:custGeom>
            <a:blipFill>
              <a:blip r:embed="rId5"/>
              <a:stretch>
                <a:fillRect t="-154" r="-2" b="-150"/>
              </a:stretch>
            </a:blipFill>
          </p:spPr>
          <p:txBody>
            <a:bodyPr/>
            <a:lstStyle/>
            <a:p>
              <a:endParaRPr lang="he-IL"/>
            </a:p>
          </p:txBody>
        </p:sp>
      </p:grpSp>
      <p:sp>
        <p:nvSpPr>
          <p:cNvPr id="10" name="Freeform 10"/>
          <p:cNvSpPr/>
          <p:nvPr/>
        </p:nvSpPr>
        <p:spPr>
          <a:xfrm>
            <a:off x="6157491" y="3419956"/>
            <a:ext cx="5618407" cy="2938453"/>
          </a:xfrm>
          <a:custGeom>
            <a:avLst/>
            <a:gdLst/>
            <a:ahLst/>
            <a:cxnLst/>
            <a:rect l="l" t="t" r="r" b="b"/>
            <a:pathLst>
              <a:path w="5618407" h="2938453">
                <a:moveTo>
                  <a:pt x="0" y="0"/>
                </a:moveTo>
                <a:lnTo>
                  <a:pt x="5618407" y="0"/>
                </a:lnTo>
                <a:lnTo>
                  <a:pt x="5618407" y="2938453"/>
                </a:lnTo>
                <a:lnTo>
                  <a:pt x="0" y="2938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11" name="TextBox 11"/>
          <p:cNvSpPr txBox="1"/>
          <p:nvPr/>
        </p:nvSpPr>
        <p:spPr>
          <a:xfrm>
            <a:off x="6100341" y="3035630"/>
            <a:ext cx="5563817" cy="3162017"/>
          </a:xfrm>
          <a:prstGeom prst="rect">
            <a:avLst/>
          </a:prstGeom>
        </p:spPr>
        <p:txBody>
          <a:bodyPr lIns="0" tIns="0" rIns="0" bIns="0" rtlCol="0" anchor="t">
            <a:spAutoFit/>
          </a:bodyPr>
          <a:lstStyle/>
          <a:p>
            <a:pPr algn="ctr">
              <a:lnSpc>
                <a:spcPts val="2630"/>
              </a:lnSpc>
            </a:pPr>
            <a:endParaRPr/>
          </a:p>
          <a:p>
            <a:pPr algn="ctr">
              <a:lnSpc>
                <a:spcPts val="2630"/>
              </a:lnSpc>
            </a:pPr>
            <a:endParaRPr/>
          </a:p>
          <a:p>
            <a:pPr algn="ctr">
              <a:lnSpc>
                <a:spcPts val="2630"/>
              </a:lnSpc>
            </a:pPr>
            <a:endParaRPr/>
          </a:p>
          <a:p>
            <a:pPr algn="ctr">
              <a:lnSpc>
                <a:spcPts val="2630"/>
              </a:lnSpc>
            </a:pPr>
            <a:r>
              <a:rPr lang="en-US" sz="1878" b="1">
                <a:solidFill>
                  <a:srgbClr val="000000"/>
                </a:solidFill>
                <a:latin typeface="Calibri (MS) Bold"/>
                <a:ea typeface="Calibri (MS) Bold"/>
                <a:cs typeface="Calibri (MS) Bold"/>
                <a:sym typeface="Calibri (MS) Bold"/>
              </a:rPr>
              <a:t>Growee</a:t>
            </a:r>
          </a:p>
          <a:p>
            <a:pPr algn="ctr" rtl="1">
              <a:lnSpc>
                <a:spcPts val="2492"/>
              </a:lnSpc>
            </a:pPr>
            <a:r>
              <a:rPr lang="he-IL" sz="1780" b="1">
                <a:solidFill>
                  <a:srgbClr val="000000"/>
                </a:solidFill>
                <a:latin typeface="Calibri (MS) Bold"/>
                <a:ea typeface="Calibri (MS) Bold"/>
                <a:cs typeface="Calibri (MS) Bold"/>
                <a:sym typeface="Calibri (MS) Bold"/>
                <a:rtl/>
              </a:rPr>
              <a:t>שנת הקמה: </a:t>
            </a:r>
            <a:r>
              <a:rPr lang="en-US" sz="1780" b="1">
                <a:solidFill>
                  <a:srgbClr val="000000"/>
                </a:solidFill>
                <a:latin typeface="Calibri (MS) Bold"/>
                <a:ea typeface="Calibri (MS) Bold"/>
                <a:cs typeface="Calibri (MS) Bold"/>
                <a:sym typeface="Calibri (MS) Bold"/>
              </a:rPr>
              <a:t>2018</a:t>
            </a:r>
            <a:r>
              <a:rPr lang="he-IL" sz="1780" b="1">
                <a:solidFill>
                  <a:srgbClr val="000000"/>
                </a:solidFill>
                <a:latin typeface="Calibri (MS) Bold"/>
                <a:ea typeface="Calibri (MS) Bold"/>
                <a:cs typeface="Calibri (MS) Bold"/>
                <a:sym typeface="Calibri (MS) Bold"/>
                <a:rtl/>
              </a:rPr>
              <a:t>| מנכ”ל: עידן אביטן </a:t>
            </a:r>
          </a:p>
          <a:p>
            <a:pPr algn="ctr" rtl="1">
              <a:lnSpc>
                <a:spcPts val="2492"/>
              </a:lnSpc>
            </a:pPr>
            <a:endParaRPr lang="he-IL" sz="1780" b="1">
              <a:solidFill>
                <a:srgbClr val="000000"/>
              </a:solidFill>
              <a:latin typeface="Calibri (MS) Bold"/>
              <a:ea typeface="Calibri (MS) Bold"/>
              <a:cs typeface="Calibri (MS) Bold"/>
              <a:sym typeface="Calibri (MS) Bold"/>
              <a:rtl/>
            </a:endParaRPr>
          </a:p>
          <a:p>
            <a:pPr algn="ctr" rtl="1">
              <a:lnSpc>
                <a:spcPts val="2354"/>
              </a:lnSpc>
            </a:pPr>
            <a:r>
              <a:rPr lang="he-IL" sz="1681">
                <a:solidFill>
                  <a:srgbClr val="000000"/>
                </a:solidFill>
                <a:latin typeface="Calibri (MS)"/>
                <a:ea typeface="Calibri (MS)"/>
                <a:cs typeface="Calibri (MS)"/>
                <a:sym typeface="Calibri (MS)"/>
                <a:rtl/>
              </a:rPr>
              <a:t>מערכת הידרופונית חכמה לניטור ושליטה בזמן אמת על מים, דשנים ותנאים סביבתיים.</a:t>
            </a:r>
          </a:p>
          <a:p>
            <a:pPr algn="ctr" rtl="1">
              <a:lnSpc>
                <a:spcPts val="2354"/>
              </a:lnSpc>
            </a:pPr>
            <a:r>
              <a:rPr lang="he-IL" sz="1681">
                <a:solidFill>
                  <a:srgbClr val="000000"/>
                </a:solidFill>
                <a:latin typeface="Calibri (MS)"/>
                <a:ea typeface="Calibri (MS)"/>
                <a:cs typeface="Calibri (MS)"/>
                <a:sym typeface="Calibri (MS)"/>
                <a:rtl/>
              </a:rPr>
              <a:t> מיועדת לגידולים מסחריים קטנים ולחקלאות עירונית.</a:t>
            </a:r>
          </a:p>
          <a:p>
            <a:pPr algn="ctr" rtl="1">
              <a:lnSpc>
                <a:spcPts val="2492"/>
              </a:lnSpc>
            </a:pPr>
            <a:r>
              <a:rPr lang="en-US" sz="1780">
                <a:solidFill>
                  <a:srgbClr val="000000"/>
                </a:solidFill>
                <a:latin typeface="Calibri (MS)"/>
                <a:ea typeface="Calibri (MS)"/>
                <a:cs typeface="Calibri (MS)"/>
                <a:sym typeface="Calibri (MS)"/>
              </a:rPr>
              <a:t>www.getgrowee.com</a:t>
            </a:r>
          </a:p>
        </p:txBody>
      </p:sp>
      <p:sp>
        <p:nvSpPr>
          <p:cNvPr id="12" name="Freeform 12"/>
          <p:cNvSpPr/>
          <p:nvPr/>
        </p:nvSpPr>
        <p:spPr>
          <a:xfrm>
            <a:off x="12223785" y="3340973"/>
            <a:ext cx="5834577" cy="3243262"/>
          </a:xfrm>
          <a:custGeom>
            <a:avLst/>
            <a:gdLst/>
            <a:ahLst/>
            <a:cxnLst/>
            <a:rect l="l" t="t" r="r" b="b"/>
            <a:pathLst>
              <a:path w="5834577" h="3243262">
                <a:moveTo>
                  <a:pt x="0" y="0"/>
                </a:moveTo>
                <a:lnTo>
                  <a:pt x="5834577" y="0"/>
                </a:lnTo>
                <a:lnTo>
                  <a:pt x="5834577" y="3243263"/>
                </a:lnTo>
                <a:lnTo>
                  <a:pt x="0" y="324326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he-IL"/>
          </a:p>
        </p:txBody>
      </p:sp>
      <p:sp>
        <p:nvSpPr>
          <p:cNvPr id="13" name="TextBox 13"/>
          <p:cNvSpPr txBox="1"/>
          <p:nvPr/>
        </p:nvSpPr>
        <p:spPr>
          <a:xfrm>
            <a:off x="12346915" y="3140405"/>
            <a:ext cx="5588318" cy="32506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658"/>
              </a:lnSpc>
            </a:pPr>
            <a:endParaRPr/>
          </a:p>
          <a:p>
            <a:pPr algn="ctr">
              <a:lnSpc>
                <a:spcPts val="2659"/>
              </a:lnSpc>
            </a:pPr>
            <a:r>
              <a:rPr lang="en-US" sz="1899" b="1">
                <a:solidFill>
                  <a:srgbClr val="000000"/>
                </a:solidFill>
                <a:latin typeface="Calibri (MS) Bold"/>
                <a:ea typeface="Calibri (MS) Bold"/>
                <a:cs typeface="Calibri (MS) Bold"/>
                <a:sym typeface="Calibri (MS) Bold"/>
              </a:rPr>
              <a:t>H4BEES</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2021</a:t>
            </a:r>
            <a:r>
              <a:rPr lang="he-IL" sz="1800" b="1">
                <a:solidFill>
                  <a:srgbClr val="000000"/>
                </a:solidFill>
                <a:latin typeface="Calibri (MS) Bold"/>
                <a:ea typeface="Calibri (MS) Bold"/>
                <a:cs typeface="Calibri (MS) Bold"/>
                <a:sym typeface="Calibri (MS) Bold"/>
                <a:rtl/>
              </a:rPr>
              <a:t> | מנכ”לית: עמליה אשד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מסייע לדבורים להתמודד עם לחץ סביבתי, ריסוס ומטען.</a:t>
            </a:r>
          </a:p>
          <a:p>
            <a:pPr algn="ctr" rtl="1">
              <a:lnSpc>
                <a:spcPts val="2520"/>
              </a:lnSpc>
            </a:pPr>
            <a:r>
              <a:rPr lang="he-IL" sz="1800">
                <a:solidFill>
                  <a:srgbClr val="000000"/>
                </a:solidFill>
                <a:latin typeface="Calibri (MS)"/>
                <a:ea typeface="Calibri (MS)"/>
                <a:cs typeface="Calibri (MS)"/>
                <a:sym typeface="Calibri (MS)"/>
                <a:rtl/>
              </a:rPr>
              <a:t> שומר על פעילות המושבות ומגביר יעילותן בייצור דבש.</a:t>
            </a:r>
          </a:p>
          <a:p>
            <a:pPr algn="ctr" rtl="1">
              <a:lnSpc>
                <a:spcPts val="2520"/>
              </a:lnSpc>
            </a:pPr>
            <a:endParaRPr lang="he-IL" sz="1800">
              <a:solidFill>
                <a:srgbClr val="000000"/>
              </a:solidFill>
              <a:latin typeface="Calibri (MS)"/>
              <a:ea typeface="Calibri (MS)"/>
              <a:cs typeface="Calibri (MS)"/>
              <a:sym typeface="Calibri (MS)"/>
              <a:rtl/>
            </a:endParaRPr>
          </a:p>
          <a:p>
            <a:pPr algn="ctr" rtl="1">
              <a:lnSpc>
                <a:spcPts val="2520"/>
              </a:lnSpc>
            </a:pPr>
            <a:r>
              <a:rPr lang="en-US" sz="1800">
                <a:solidFill>
                  <a:srgbClr val="000000"/>
                </a:solidFill>
                <a:latin typeface="Calibri (MS)"/>
                <a:ea typeface="Calibri (MS)"/>
                <a:cs typeface="Calibri (MS)"/>
                <a:sym typeface="Calibri (MS)"/>
              </a:rPr>
              <a:t>https://h4bees.com</a:t>
            </a:r>
            <a:r>
              <a:rPr lang="ar-EG" sz="1800">
                <a:solidFill>
                  <a:srgbClr val="000000"/>
                </a:solidFill>
                <a:latin typeface="Calibri (MS)"/>
                <a:ea typeface="Calibri (MS)"/>
                <a:cs typeface="Calibri (MS)"/>
                <a:sym typeface="Calibri (MS)"/>
                <a:rtl/>
              </a:rPr>
              <a:t>/</a:t>
            </a:r>
          </a:p>
        </p:txBody>
      </p:sp>
      <p:grpSp>
        <p:nvGrpSpPr>
          <p:cNvPr id="14" name="Group 14"/>
          <p:cNvGrpSpPr/>
          <p:nvPr/>
        </p:nvGrpSpPr>
        <p:grpSpPr>
          <a:xfrm>
            <a:off x="8203023" y="3580220"/>
            <a:ext cx="1317793" cy="474978"/>
            <a:chOff x="0" y="0"/>
            <a:chExt cx="1757058" cy="633305"/>
          </a:xfrm>
        </p:grpSpPr>
        <p:sp>
          <p:nvSpPr>
            <p:cNvPr id="15" name="Freeform 15"/>
            <p:cNvSpPr/>
            <p:nvPr/>
          </p:nvSpPr>
          <p:spPr>
            <a:xfrm>
              <a:off x="0" y="0"/>
              <a:ext cx="1757045" cy="633317"/>
            </a:xfrm>
            <a:custGeom>
              <a:avLst/>
              <a:gdLst/>
              <a:ahLst/>
              <a:cxnLst/>
              <a:rect l="l" t="t" r="r" b="b"/>
              <a:pathLst>
                <a:path w="1757045" h="633317">
                  <a:moveTo>
                    <a:pt x="0" y="0"/>
                  </a:moveTo>
                  <a:lnTo>
                    <a:pt x="1757045" y="0"/>
                  </a:lnTo>
                  <a:lnTo>
                    <a:pt x="1757045" y="633317"/>
                  </a:lnTo>
                  <a:lnTo>
                    <a:pt x="0" y="633317"/>
                  </a:lnTo>
                  <a:lnTo>
                    <a:pt x="0" y="0"/>
                  </a:lnTo>
                  <a:close/>
                </a:path>
              </a:pathLst>
            </a:custGeom>
            <a:blipFill>
              <a:blip r:embed="rId7"/>
              <a:stretch>
                <a:fillRect t="-88719" b="-88717"/>
              </a:stretch>
            </a:blipFill>
          </p:spPr>
          <p:txBody>
            <a:bodyPr/>
            <a:lstStyle/>
            <a:p>
              <a:endParaRPr lang="he-IL"/>
            </a:p>
          </p:txBody>
        </p:sp>
      </p:grpSp>
      <p:grpSp>
        <p:nvGrpSpPr>
          <p:cNvPr id="16" name="Group 16"/>
          <p:cNvGrpSpPr/>
          <p:nvPr/>
        </p:nvGrpSpPr>
        <p:grpSpPr>
          <a:xfrm>
            <a:off x="14519415" y="3653441"/>
            <a:ext cx="1224258" cy="309486"/>
            <a:chOff x="0" y="0"/>
            <a:chExt cx="1632344" cy="412648"/>
          </a:xfrm>
        </p:grpSpPr>
        <p:sp>
          <p:nvSpPr>
            <p:cNvPr id="17" name="Freeform 17"/>
            <p:cNvSpPr/>
            <p:nvPr/>
          </p:nvSpPr>
          <p:spPr>
            <a:xfrm>
              <a:off x="0" y="0"/>
              <a:ext cx="1632331" cy="412623"/>
            </a:xfrm>
            <a:custGeom>
              <a:avLst/>
              <a:gdLst/>
              <a:ahLst/>
              <a:cxnLst/>
              <a:rect l="l" t="t" r="r" b="b"/>
              <a:pathLst>
                <a:path w="1632331" h="412623">
                  <a:moveTo>
                    <a:pt x="0" y="0"/>
                  </a:moveTo>
                  <a:lnTo>
                    <a:pt x="1632331" y="0"/>
                  </a:lnTo>
                  <a:lnTo>
                    <a:pt x="1632331" y="412623"/>
                  </a:lnTo>
                  <a:lnTo>
                    <a:pt x="0" y="412623"/>
                  </a:lnTo>
                  <a:lnTo>
                    <a:pt x="0" y="0"/>
                  </a:lnTo>
                  <a:close/>
                </a:path>
              </a:pathLst>
            </a:custGeom>
            <a:blipFill>
              <a:blip r:embed="rId8"/>
              <a:stretch>
                <a:fillRect t="-827" b="-834"/>
              </a:stretch>
            </a:blipFill>
          </p:spPr>
          <p:txBody>
            <a:bodyPr/>
            <a:lstStyle/>
            <a:p>
              <a:endParaRPr lang="he-IL"/>
            </a:p>
          </p:txBody>
        </p:sp>
      </p:grpSp>
      <p:sp>
        <p:nvSpPr>
          <p:cNvPr id="18" name="Freeform 18"/>
          <p:cNvSpPr/>
          <p:nvPr/>
        </p:nvSpPr>
        <p:spPr>
          <a:xfrm>
            <a:off x="6445244" y="7050142"/>
            <a:ext cx="5618407" cy="3213344"/>
          </a:xfrm>
          <a:custGeom>
            <a:avLst/>
            <a:gdLst/>
            <a:ahLst/>
            <a:cxnLst/>
            <a:rect l="l" t="t" r="r" b="b"/>
            <a:pathLst>
              <a:path w="5618407" h="3213344">
                <a:moveTo>
                  <a:pt x="0" y="0"/>
                </a:moveTo>
                <a:lnTo>
                  <a:pt x="5618407" y="0"/>
                </a:lnTo>
                <a:lnTo>
                  <a:pt x="5618407" y="3213344"/>
                </a:lnTo>
                <a:lnTo>
                  <a:pt x="0" y="32133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19" name="TextBox 19"/>
          <p:cNvSpPr txBox="1"/>
          <p:nvPr/>
        </p:nvSpPr>
        <p:spPr>
          <a:xfrm>
            <a:off x="6549323" y="6859099"/>
            <a:ext cx="5372138" cy="32125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Biotization</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מנכ”לית: פנינית גלבוע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חברת ביוטכנולוגיה חקלאית המפתחת פתרונות פרוביוטיים ייחודיים לריפוי עצים.</a:t>
            </a:r>
          </a:p>
          <a:p>
            <a:pPr algn="ctr" rtl="1">
              <a:lnSpc>
                <a:spcPts val="2520"/>
              </a:lnSpc>
            </a:pPr>
            <a:endParaRPr lang="he-IL" sz="1800">
              <a:solidFill>
                <a:srgbClr val="000000"/>
              </a:solidFill>
              <a:latin typeface="Calibri (MS)"/>
              <a:ea typeface="Calibri (MS)"/>
              <a:cs typeface="Calibri (MS)"/>
              <a:sym typeface="Calibri (MS)"/>
              <a:rtl/>
            </a:endParaRPr>
          </a:p>
          <a:p>
            <a:pPr algn="ctr" rtl="1">
              <a:lnSpc>
                <a:spcPts val="2520"/>
              </a:lnSpc>
            </a:pPr>
            <a:r>
              <a:rPr lang="ar-EG" sz="1800">
                <a:solidFill>
                  <a:srgbClr val="000000"/>
                </a:solidFill>
                <a:latin typeface="Calibri (MS)"/>
                <a:ea typeface="Calibri (MS)"/>
                <a:cs typeface="Calibri (MS)"/>
                <a:sym typeface="Calibri (MS)"/>
                <a:rtl/>
              </a:rPr>
              <a:t>.</a:t>
            </a:r>
            <a:r>
              <a:rPr lang="en-US" sz="1800">
                <a:solidFill>
                  <a:srgbClr val="000000"/>
                </a:solidFill>
                <a:latin typeface="Calibri (MS)"/>
                <a:ea typeface="Calibri (MS)"/>
                <a:cs typeface="Calibri (MS)"/>
                <a:sym typeface="Calibri (MS)"/>
              </a:rPr>
              <a:t>www.fungitbio.com</a:t>
            </a:r>
          </a:p>
        </p:txBody>
      </p:sp>
      <p:sp>
        <p:nvSpPr>
          <p:cNvPr id="20" name="TextBox 20"/>
          <p:cNvSpPr txBox="1"/>
          <p:nvPr/>
        </p:nvSpPr>
        <p:spPr>
          <a:xfrm>
            <a:off x="280230" y="2380884"/>
            <a:ext cx="17872653" cy="588072"/>
          </a:xfrm>
          <a:prstGeom prst="rect">
            <a:avLst/>
          </a:prstGeom>
        </p:spPr>
        <p:txBody>
          <a:bodyPr lIns="0" tIns="0" rIns="0" bIns="0" rtlCol="0" anchor="t">
            <a:spAutoFit/>
          </a:bodyPr>
          <a:lstStyle/>
          <a:p>
            <a:pPr algn="ctr">
              <a:lnSpc>
                <a:spcPts val="4336"/>
              </a:lnSpc>
            </a:pPr>
            <a:r>
              <a:rPr lang="en-US" sz="3097">
                <a:solidFill>
                  <a:srgbClr val="000000"/>
                </a:solidFill>
                <a:latin typeface="Calibri (MS)"/>
                <a:ea typeface="Calibri (MS)"/>
                <a:cs typeface="Calibri (MS)"/>
                <a:sym typeface="Calibri (MS)"/>
              </a:rPr>
              <a:t>All | </a:t>
            </a:r>
            <a:r>
              <a:rPr lang="en-US" sz="3097">
                <a:solidFill>
                  <a:srgbClr val="FF8700"/>
                </a:solidFill>
                <a:latin typeface="Calibri (MS)"/>
                <a:ea typeface="Calibri (MS)"/>
                <a:cs typeface="Calibri (MS)"/>
                <a:sym typeface="Calibri (MS)"/>
              </a:rPr>
              <a:t>AgriTech </a:t>
            </a:r>
            <a:r>
              <a:rPr lang="en-US" sz="3097">
                <a:solidFill>
                  <a:srgbClr val="000000"/>
                </a:solidFill>
                <a:latin typeface="Calibri (MS)"/>
                <a:ea typeface="Calibri (MS)"/>
                <a:cs typeface="Calibri (MS)"/>
                <a:sym typeface="Calibri (MS)"/>
              </a:rPr>
              <a:t>| MedTech | DefenceTech| DeepTech, AI | FoodTech </a:t>
            </a:r>
          </a:p>
        </p:txBody>
      </p:sp>
      <p:grpSp>
        <p:nvGrpSpPr>
          <p:cNvPr id="21" name="Group 21"/>
          <p:cNvGrpSpPr/>
          <p:nvPr/>
        </p:nvGrpSpPr>
        <p:grpSpPr>
          <a:xfrm>
            <a:off x="8737887" y="7192550"/>
            <a:ext cx="995010" cy="633393"/>
            <a:chOff x="0" y="0"/>
            <a:chExt cx="1326680" cy="844525"/>
          </a:xfrm>
        </p:grpSpPr>
        <p:sp>
          <p:nvSpPr>
            <p:cNvPr id="22" name="Freeform 22"/>
            <p:cNvSpPr/>
            <p:nvPr/>
          </p:nvSpPr>
          <p:spPr>
            <a:xfrm>
              <a:off x="0" y="0"/>
              <a:ext cx="1326642" cy="844550"/>
            </a:xfrm>
            <a:custGeom>
              <a:avLst/>
              <a:gdLst/>
              <a:ahLst/>
              <a:cxnLst/>
              <a:rect l="l" t="t" r="r" b="b"/>
              <a:pathLst>
                <a:path w="1326642" h="844550">
                  <a:moveTo>
                    <a:pt x="0" y="0"/>
                  </a:moveTo>
                  <a:lnTo>
                    <a:pt x="1326642" y="0"/>
                  </a:lnTo>
                  <a:lnTo>
                    <a:pt x="1326642" y="844550"/>
                  </a:lnTo>
                  <a:lnTo>
                    <a:pt x="0" y="844550"/>
                  </a:lnTo>
                  <a:lnTo>
                    <a:pt x="0" y="0"/>
                  </a:lnTo>
                  <a:close/>
                </a:path>
              </a:pathLst>
            </a:custGeom>
            <a:blipFill>
              <a:blip r:embed="rId9"/>
              <a:stretch>
                <a:fillRect l="-136" r="-138" b="3"/>
              </a:stretch>
            </a:blipFill>
          </p:spPr>
          <p:txBody>
            <a:bodyPr/>
            <a:lstStyle/>
            <a:p>
              <a:endParaRPr lang="he-IL"/>
            </a:p>
          </p:txBody>
        </p:sp>
      </p:grpSp>
      <p:grpSp>
        <p:nvGrpSpPr>
          <p:cNvPr id="23" name="Group 23"/>
          <p:cNvGrpSpPr/>
          <p:nvPr/>
        </p:nvGrpSpPr>
        <p:grpSpPr>
          <a:xfrm>
            <a:off x="0" y="0"/>
            <a:ext cx="18288000" cy="2142759"/>
            <a:chOff x="0" y="0"/>
            <a:chExt cx="4816593" cy="564348"/>
          </a:xfrm>
        </p:grpSpPr>
        <p:sp>
          <p:nvSpPr>
            <p:cNvPr id="24" name="Freeform 24"/>
            <p:cNvSpPr/>
            <p:nvPr/>
          </p:nvSpPr>
          <p:spPr>
            <a:xfrm>
              <a:off x="0" y="0"/>
              <a:ext cx="4816592" cy="564348"/>
            </a:xfrm>
            <a:custGeom>
              <a:avLst/>
              <a:gdLst/>
              <a:ahLst/>
              <a:cxnLst/>
              <a:rect l="l" t="t" r="r" b="b"/>
              <a:pathLst>
                <a:path w="4816592" h="564348">
                  <a:moveTo>
                    <a:pt x="0" y="0"/>
                  </a:moveTo>
                  <a:lnTo>
                    <a:pt x="4816592" y="0"/>
                  </a:lnTo>
                  <a:lnTo>
                    <a:pt x="4816592" y="564348"/>
                  </a:lnTo>
                  <a:lnTo>
                    <a:pt x="0" y="564348"/>
                  </a:lnTo>
                  <a:close/>
                </a:path>
              </a:pathLst>
            </a:custGeom>
            <a:solidFill>
              <a:srgbClr val="483F2B"/>
            </a:solidFill>
          </p:spPr>
          <p:txBody>
            <a:bodyPr/>
            <a:lstStyle/>
            <a:p>
              <a:endParaRPr lang="he-IL"/>
            </a:p>
          </p:txBody>
        </p:sp>
        <p:sp>
          <p:nvSpPr>
            <p:cNvPr id="25" name="TextBox 25"/>
            <p:cNvSpPr txBox="1"/>
            <p:nvPr/>
          </p:nvSpPr>
          <p:spPr>
            <a:xfrm>
              <a:off x="0" y="-47625"/>
              <a:ext cx="4816593" cy="61197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13251987" y="281289"/>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 </a:t>
            </a:r>
            <a:r>
              <a:rPr lang="he-IL" sz="2699">
                <a:solidFill>
                  <a:srgbClr val="FF8700"/>
                </a:solidFill>
                <a:latin typeface="Calibri (MS)"/>
                <a:ea typeface="Calibri (MS)"/>
                <a:cs typeface="Calibri (MS)"/>
                <a:sym typeface="Calibri (MS)"/>
                <a:rtl/>
              </a:rPr>
              <a:t>החברות בחממה </a:t>
            </a:r>
          </a:p>
        </p:txBody>
      </p:sp>
      <p:sp>
        <p:nvSpPr>
          <p:cNvPr id="27" name="TextBox 27"/>
          <p:cNvSpPr txBox="1"/>
          <p:nvPr/>
        </p:nvSpPr>
        <p:spPr>
          <a:xfrm>
            <a:off x="7091014" y="925083"/>
            <a:ext cx="10844218" cy="1027176"/>
          </a:xfrm>
          <a:prstGeom prst="rect">
            <a:avLst/>
          </a:prstGeom>
        </p:spPr>
        <p:txBody>
          <a:bodyPr lIns="0" tIns="0" rIns="0" bIns="0" rtlCol="0" anchor="t">
            <a:spAutoFit/>
          </a:bodyPr>
          <a:lstStyle/>
          <a:p>
            <a:pPr algn="r" rtl="1">
              <a:lnSpc>
                <a:spcPts val="6732"/>
              </a:lnSpc>
            </a:pPr>
            <a:r>
              <a:rPr lang="he-IL" sz="6600" b="1" spc="-171">
                <a:solidFill>
                  <a:srgbClr val="FF8700"/>
                </a:solidFill>
                <a:latin typeface="Calibri (MS) Bold"/>
                <a:ea typeface="Calibri (MS) Bold"/>
                <a:cs typeface="Calibri (MS) Bold"/>
                <a:sym typeface="Calibri (MS) Bold"/>
                <a:rtl/>
              </a:rPr>
              <a:t>החברות </a:t>
            </a:r>
            <a:r>
              <a:rPr lang="he-IL" sz="6600" b="1" spc="-171">
                <a:solidFill>
                  <a:srgbClr val="FFFFFF"/>
                </a:solidFill>
                <a:latin typeface="Calibri (MS) Bold"/>
                <a:ea typeface="Calibri (MS) Bold"/>
                <a:cs typeface="Calibri (MS) Bold"/>
                <a:sym typeface="Calibri (MS) Bold"/>
                <a:rtl/>
              </a:rPr>
              <a:t>שלנו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328289" y="2142603"/>
            <a:ext cx="5618407" cy="3503190"/>
          </a:xfrm>
          <a:custGeom>
            <a:avLst/>
            <a:gdLst/>
            <a:ahLst/>
            <a:cxnLst/>
            <a:rect l="l" t="t" r="r" b="b"/>
            <a:pathLst>
              <a:path w="5618407" h="3503190">
                <a:moveTo>
                  <a:pt x="0" y="0"/>
                </a:moveTo>
                <a:lnTo>
                  <a:pt x="5618407" y="0"/>
                </a:lnTo>
                <a:lnTo>
                  <a:pt x="5618407" y="3503190"/>
                </a:lnTo>
                <a:lnTo>
                  <a:pt x="0" y="35031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384743" y="2085453"/>
            <a:ext cx="5372138" cy="3173730"/>
          </a:xfrm>
          <a:prstGeom prst="rect">
            <a:avLst/>
          </a:prstGeom>
        </p:spPr>
        <p:txBody>
          <a:bodyPr lIns="0" tIns="0" rIns="0" bIns="0" rtlCol="0" anchor="t">
            <a:spAutoFit/>
          </a:bodyPr>
          <a:lstStyle/>
          <a:p>
            <a:pPr algn="ctr" rtl="1">
              <a:lnSpc>
                <a:spcPts val="2520"/>
              </a:lnSpc>
            </a:pPr>
            <a:endParaRPr/>
          </a:p>
          <a:p>
            <a:pPr algn="ctr" rtl="1">
              <a:lnSpc>
                <a:spcPts val="2520"/>
              </a:lnSpc>
            </a:pPr>
            <a:endParaRPr/>
          </a:p>
          <a:p>
            <a:pPr algn="ctr" rtl="1">
              <a:lnSpc>
                <a:spcPts val="2520"/>
              </a:lnSpc>
            </a:pPr>
            <a:endParaRPr/>
          </a:p>
          <a:p>
            <a:pPr algn="ctr" rtl="1">
              <a:lnSpc>
                <a:spcPts val="2520"/>
              </a:lnSpc>
            </a:pPr>
            <a:r>
              <a:rPr lang="en-US" sz="1800" b="1">
                <a:solidFill>
                  <a:srgbClr val="000000"/>
                </a:solidFill>
                <a:latin typeface="Calibri (MS) Bold"/>
                <a:ea typeface="Calibri (MS) Bold"/>
                <a:cs typeface="Calibri (MS) Bold"/>
                <a:sym typeface="Calibri (MS) Bold"/>
              </a:rPr>
              <a:t>Liquid360</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2024</a:t>
            </a:r>
            <a:r>
              <a:rPr lang="he-IL" sz="1800" b="1">
                <a:solidFill>
                  <a:srgbClr val="000000"/>
                </a:solidFill>
                <a:latin typeface="Calibri (MS) Bold"/>
                <a:ea typeface="Calibri (MS) Bold"/>
                <a:cs typeface="Calibri (MS) Bold"/>
                <a:sym typeface="Calibri (MS) Bold"/>
                <a:rtl/>
              </a:rPr>
              <a:t> | מנכ”לית: עליסה גיברץ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מערכת מודיעין וראייה כוללת המאפשרת תגובה מהירה וטקטית לסיטואציות בזמן אמת תוך צמצום סיכונים.</a:t>
            </a:r>
          </a:p>
          <a:p>
            <a:pPr algn="ctr" rtl="1">
              <a:lnSpc>
                <a:spcPts val="2520"/>
              </a:lnSpc>
            </a:pPr>
            <a:r>
              <a:rPr lang="en-US" sz="1800">
                <a:solidFill>
                  <a:srgbClr val="000000"/>
                </a:solidFill>
                <a:latin typeface="Calibri (MS)"/>
                <a:ea typeface="Calibri (MS)"/>
                <a:cs typeface="Calibri (MS)"/>
                <a:sym typeface="Calibri (MS)"/>
              </a:rPr>
              <a:t>www.liquid360.co</a:t>
            </a:r>
          </a:p>
          <a:p>
            <a:pPr algn="ctr" rtl="1">
              <a:lnSpc>
                <a:spcPts val="2520"/>
              </a:lnSpc>
            </a:pPr>
            <a:endParaRPr lang="en-US" sz="1800">
              <a:solidFill>
                <a:srgbClr val="000000"/>
              </a:solidFill>
              <a:latin typeface="Calibri (MS)"/>
              <a:ea typeface="Calibri (MS)"/>
              <a:cs typeface="Calibri (MS)"/>
              <a:sym typeface="Calibri (MS)"/>
            </a:endParaRPr>
          </a:p>
        </p:txBody>
      </p:sp>
      <p:sp>
        <p:nvSpPr>
          <p:cNvPr id="4" name="Freeform 4"/>
          <p:cNvSpPr/>
          <p:nvPr/>
        </p:nvSpPr>
        <p:spPr>
          <a:xfrm>
            <a:off x="6218482" y="2118124"/>
            <a:ext cx="5870610" cy="3527669"/>
          </a:xfrm>
          <a:custGeom>
            <a:avLst/>
            <a:gdLst/>
            <a:ahLst/>
            <a:cxnLst/>
            <a:rect l="l" t="t" r="r" b="b"/>
            <a:pathLst>
              <a:path w="5870610" h="3527669">
                <a:moveTo>
                  <a:pt x="0" y="0"/>
                </a:moveTo>
                <a:lnTo>
                  <a:pt x="5870610" y="0"/>
                </a:lnTo>
                <a:lnTo>
                  <a:pt x="5870610" y="3527669"/>
                </a:lnTo>
                <a:lnTo>
                  <a:pt x="0" y="35276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TextBox 5"/>
          <p:cNvSpPr txBox="1"/>
          <p:nvPr/>
        </p:nvSpPr>
        <p:spPr>
          <a:xfrm>
            <a:off x="6293996" y="2126410"/>
            <a:ext cx="5624351" cy="3212529"/>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Robel Innovation – Asgard</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2020</a:t>
            </a:r>
            <a:r>
              <a:rPr lang="he-IL" sz="1800" b="1">
                <a:solidFill>
                  <a:srgbClr val="000000"/>
                </a:solidFill>
                <a:latin typeface="Calibri (MS) Bold"/>
                <a:ea typeface="Calibri (MS) Bold"/>
                <a:cs typeface="Calibri (MS) Bold"/>
                <a:sym typeface="Calibri (MS) Bold"/>
                <a:rtl/>
              </a:rPr>
              <a:t>| מנכ”ל: רותם מיטל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פתרונות ניהול פרויקטים ושירותי יישום בתחומי ביטחון ותעופה.  תומכת בפרויקטים מורכבים משלב התכנון ועד היישום המבצעי.</a:t>
            </a:r>
          </a:p>
          <a:p>
            <a:pPr algn="ctr" rtl="1">
              <a:lnSpc>
                <a:spcPts val="2520"/>
              </a:lnSpc>
            </a:pPr>
            <a:r>
              <a:rPr lang="en-US" sz="1800">
                <a:solidFill>
                  <a:srgbClr val="000000"/>
                </a:solidFill>
                <a:latin typeface="Calibri (MS)"/>
                <a:ea typeface="Calibri (MS)"/>
                <a:cs typeface="Calibri (MS)"/>
                <a:sym typeface="Calibri (MS)"/>
              </a:rPr>
              <a:t>www.robel-innovations.com</a:t>
            </a:r>
          </a:p>
          <a:p>
            <a:pPr algn="ctr" rtl="1">
              <a:lnSpc>
                <a:spcPts val="2520"/>
              </a:lnSpc>
            </a:pPr>
            <a:endParaRPr lang="en-US" sz="1800">
              <a:solidFill>
                <a:srgbClr val="000000"/>
              </a:solidFill>
              <a:latin typeface="Calibri (MS)"/>
              <a:ea typeface="Calibri (MS)"/>
              <a:cs typeface="Calibri (MS)"/>
              <a:sym typeface="Calibri (MS)"/>
            </a:endParaRPr>
          </a:p>
        </p:txBody>
      </p:sp>
      <p:grpSp>
        <p:nvGrpSpPr>
          <p:cNvPr id="6" name="Group 6"/>
          <p:cNvGrpSpPr/>
          <p:nvPr/>
        </p:nvGrpSpPr>
        <p:grpSpPr>
          <a:xfrm>
            <a:off x="2848232" y="2306795"/>
            <a:ext cx="578501" cy="586283"/>
            <a:chOff x="0" y="0"/>
            <a:chExt cx="771334" cy="781710"/>
          </a:xfrm>
        </p:grpSpPr>
        <p:sp>
          <p:nvSpPr>
            <p:cNvPr id="7" name="Freeform 7"/>
            <p:cNvSpPr/>
            <p:nvPr/>
          </p:nvSpPr>
          <p:spPr>
            <a:xfrm>
              <a:off x="0" y="0"/>
              <a:ext cx="771398" cy="781685"/>
            </a:xfrm>
            <a:custGeom>
              <a:avLst/>
              <a:gdLst/>
              <a:ahLst/>
              <a:cxnLst/>
              <a:rect l="l" t="t" r="r" b="b"/>
              <a:pathLst>
                <a:path w="771398" h="781685">
                  <a:moveTo>
                    <a:pt x="0" y="0"/>
                  </a:moveTo>
                  <a:lnTo>
                    <a:pt x="771398" y="0"/>
                  </a:lnTo>
                  <a:lnTo>
                    <a:pt x="771398" y="781685"/>
                  </a:lnTo>
                  <a:lnTo>
                    <a:pt x="0" y="781685"/>
                  </a:lnTo>
                  <a:lnTo>
                    <a:pt x="0" y="0"/>
                  </a:lnTo>
                  <a:close/>
                </a:path>
              </a:pathLst>
            </a:custGeom>
            <a:blipFill>
              <a:blip r:embed="rId4"/>
              <a:stretch>
                <a:fillRect l="-115" r="-108" b="-3"/>
              </a:stretch>
            </a:blipFill>
          </p:spPr>
          <p:txBody>
            <a:bodyPr/>
            <a:lstStyle/>
            <a:p>
              <a:endParaRPr lang="he-IL"/>
            </a:p>
          </p:txBody>
        </p:sp>
      </p:grpSp>
      <p:grpSp>
        <p:nvGrpSpPr>
          <p:cNvPr id="8" name="Group 8"/>
          <p:cNvGrpSpPr/>
          <p:nvPr/>
        </p:nvGrpSpPr>
        <p:grpSpPr>
          <a:xfrm>
            <a:off x="7792860" y="2297270"/>
            <a:ext cx="2791473" cy="730777"/>
            <a:chOff x="0" y="0"/>
            <a:chExt cx="3721964" cy="974369"/>
          </a:xfrm>
        </p:grpSpPr>
        <p:sp>
          <p:nvSpPr>
            <p:cNvPr id="9" name="Freeform 9"/>
            <p:cNvSpPr/>
            <p:nvPr/>
          </p:nvSpPr>
          <p:spPr>
            <a:xfrm>
              <a:off x="0" y="0"/>
              <a:ext cx="3721989" cy="974344"/>
            </a:xfrm>
            <a:custGeom>
              <a:avLst/>
              <a:gdLst/>
              <a:ahLst/>
              <a:cxnLst/>
              <a:rect l="l" t="t" r="r" b="b"/>
              <a:pathLst>
                <a:path w="3721989" h="974344">
                  <a:moveTo>
                    <a:pt x="0" y="0"/>
                  </a:moveTo>
                  <a:lnTo>
                    <a:pt x="3721989" y="0"/>
                  </a:lnTo>
                  <a:lnTo>
                    <a:pt x="3721989" y="974344"/>
                  </a:lnTo>
                  <a:lnTo>
                    <a:pt x="0" y="974344"/>
                  </a:lnTo>
                  <a:lnTo>
                    <a:pt x="0" y="0"/>
                  </a:lnTo>
                  <a:close/>
                </a:path>
              </a:pathLst>
            </a:custGeom>
            <a:blipFill>
              <a:blip r:embed="rId5"/>
              <a:stretch>
                <a:fillRect t="-140997" b="-140999"/>
              </a:stretch>
            </a:blipFill>
          </p:spPr>
          <p:txBody>
            <a:bodyPr/>
            <a:lstStyle/>
            <a:p>
              <a:endParaRPr lang="he-IL"/>
            </a:p>
          </p:txBody>
        </p:sp>
      </p:grpSp>
      <p:sp>
        <p:nvSpPr>
          <p:cNvPr id="10" name="TextBox 10"/>
          <p:cNvSpPr txBox="1"/>
          <p:nvPr/>
        </p:nvSpPr>
        <p:spPr>
          <a:xfrm>
            <a:off x="3591692" y="989094"/>
            <a:ext cx="11028959" cy="528955"/>
          </a:xfrm>
          <a:prstGeom prst="rect">
            <a:avLst/>
          </a:prstGeom>
        </p:spPr>
        <p:txBody>
          <a:bodyPr lIns="0" tIns="0" rIns="0" bIns="0" rtlCol="0" anchor="t">
            <a:spAutoFit/>
          </a:bodyPr>
          <a:lstStyle/>
          <a:p>
            <a:pPr algn="ctr">
              <a:lnSpc>
                <a:spcPts val="3919"/>
              </a:lnSpc>
            </a:pPr>
            <a:r>
              <a:rPr lang="en-US" sz="2799">
                <a:solidFill>
                  <a:srgbClr val="000000"/>
                </a:solidFill>
                <a:latin typeface="Calibri (MS)"/>
                <a:ea typeface="Calibri (MS)"/>
                <a:cs typeface="Calibri (MS)"/>
                <a:sym typeface="Calibri (MS)"/>
              </a:rPr>
              <a:t>All | AgriTech | MedTech | DefenceTech| </a:t>
            </a:r>
            <a:r>
              <a:rPr lang="en-US" sz="2799">
                <a:solidFill>
                  <a:srgbClr val="FF8700"/>
                </a:solidFill>
                <a:latin typeface="Calibri (MS)"/>
                <a:ea typeface="Calibri (MS)"/>
                <a:cs typeface="Calibri (MS)"/>
                <a:sym typeface="Calibri (MS)"/>
              </a:rPr>
              <a:t>DeepTech,</a:t>
            </a:r>
            <a:r>
              <a:rPr lang="en-US" sz="2799">
                <a:solidFill>
                  <a:srgbClr val="0F55F1"/>
                </a:solidFill>
                <a:latin typeface="Calibri (MS)"/>
                <a:ea typeface="Calibri (MS)"/>
                <a:cs typeface="Calibri (MS)"/>
                <a:sym typeface="Calibri (MS)"/>
              </a:rPr>
              <a:t> </a:t>
            </a:r>
            <a:r>
              <a:rPr lang="en-US" sz="2799">
                <a:solidFill>
                  <a:srgbClr val="FF8700"/>
                </a:solidFill>
                <a:latin typeface="Calibri (MS)"/>
                <a:ea typeface="Calibri (MS)"/>
                <a:cs typeface="Calibri (MS)"/>
                <a:sym typeface="Calibri (MS)"/>
              </a:rPr>
              <a:t>AI </a:t>
            </a:r>
            <a:r>
              <a:rPr lang="en-US" sz="2799">
                <a:solidFill>
                  <a:srgbClr val="000000"/>
                </a:solidFill>
                <a:latin typeface="Calibri (MS)"/>
                <a:ea typeface="Calibri (MS)"/>
                <a:cs typeface="Calibri (MS)"/>
                <a:sym typeface="Calibri (MS)"/>
              </a:rPr>
              <a:t>| FoodTech </a:t>
            </a:r>
          </a:p>
        </p:txBody>
      </p:sp>
      <p:sp>
        <p:nvSpPr>
          <p:cNvPr id="11" name="Freeform 11"/>
          <p:cNvSpPr/>
          <p:nvPr/>
        </p:nvSpPr>
        <p:spPr>
          <a:xfrm>
            <a:off x="12089101" y="2118124"/>
            <a:ext cx="5870610" cy="3527669"/>
          </a:xfrm>
          <a:custGeom>
            <a:avLst/>
            <a:gdLst/>
            <a:ahLst/>
            <a:cxnLst/>
            <a:rect l="l" t="t" r="r" b="b"/>
            <a:pathLst>
              <a:path w="5870610" h="3527669">
                <a:moveTo>
                  <a:pt x="0" y="0"/>
                </a:moveTo>
                <a:lnTo>
                  <a:pt x="5870610" y="0"/>
                </a:lnTo>
                <a:lnTo>
                  <a:pt x="5870610" y="3527669"/>
                </a:lnTo>
                <a:lnTo>
                  <a:pt x="0" y="35276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12" name="TextBox 12"/>
          <p:cNvSpPr txBox="1"/>
          <p:nvPr/>
        </p:nvSpPr>
        <p:spPr>
          <a:xfrm>
            <a:off x="12202706" y="2371831"/>
            <a:ext cx="5624351" cy="2898203"/>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r>
              <a:rPr lang="en-US" sz="1800" b="1">
                <a:solidFill>
                  <a:srgbClr val="000000"/>
                </a:solidFill>
                <a:latin typeface="Calibri (MS) Bold"/>
                <a:ea typeface="Calibri (MS) Bold"/>
                <a:cs typeface="Calibri (MS) Bold"/>
                <a:sym typeface="Calibri (MS) Bold"/>
              </a:rPr>
              <a:t>Degem</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2020</a:t>
            </a:r>
            <a:r>
              <a:rPr lang="he-IL" sz="1800" b="1">
                <a:solidFill>
                  <a:srgbClr val="000000"/>
                </a:solidFill>
                <a:latin typeface="Calibri (MS) Bold"/>
                <a:ea typeface="Calibri (MS) Bold"/>
                <a:cs typeface="Calibri (MS) Bold"/>
                <a:sym typeface="Calibri (MS) Bold"/>
                <a:rtl/>
              </a:rPr>
              <a:t>| מנכ”ל: מאור אברגיל</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טכנולוגיית הדפסה תלת‑ממדית מתקדמת לייצור סדרתי תעשייתי.  המערכת יוצרת מבנים מורכבים וחומרי ביצוע מדויקים בגודל תעשייתי.</a:t>
            </a:r>
          </a:p>
          <a:p>
            <a:pPr algn="ctr" rtl="1">
              <a:lnSpc>
                <a:spcPts val="2520"/>
              </a:lnSpc>
            </a:pPr>
            <a:r>
              <a:rPr lang="en-US" sz="1800">
                <a:solidFill>
                  <a:srgbClr val="000000"/>
                </a:solidFill>
                <a:latin typeface="Calibri (MS)"/>
                <a:ea typeface="Calibri (MS)"/>
                <a:cs typeface="Calibri (MS)"/>
                <a:sym typeface="Calibri (MS)"/>
              </a:rPr>
              <a:t>www</a:t>
            </a:r>
            <a:r>
              <a:rPr lang="en-US" sz="1800" b="1">
                <a:solidFill>
                  <a:srgbClr val="000000"/>
                </a:solidFill>
                <a:latin typeface="Calibri (MS) Bold"/>
                <a:ea typeface="Calibri (MS) Bold"/>
                <a:cs typeface="Calibri (MS) Bold"/>
                <a:sym typeface="Calibri (MS) Bold"/>
              </a:rPr>
              <a:t>.</a:t>
            </a:r>
            <a:r>
              <a:rPr lang="en-US" sz="1800">
                <a:solidFill>
                  <a:srgbClr val="000000"/>
                </a:solidFill>
                <a:latin typeface="Calibri (MS)"/>
                <a:ea typeface="Calibri (MS)"/>
                <a:cs typeface="Calibri (MS)"/>
                <a:sym typeface="Calibri (MS)"/>
              </a:rPr>
              <a:t>3degem.com</a:t>
            </a:r>
          </a:p>
        </p:txBody>
      </p:sp>
      <p:grpSp>
        <p:nvGrpSpPr>
          <p:cNvPr id="13" name="Group 13"/>
          <p:cNvGrpSpPr/>
          <p:nvPr/>
        </p:nvGrpSpPr>
        <p:grpSpPr>
          <a:xfrm>
            <a:off x="14222692" y="2152128"/>
            <a:ext cx="1384135" cy="959227"/>
            <a:chOff x="0" y="0"/>
            <a:chExt cx="1452423" cy="1006551"/>
          </a:xfrm>
        </p:grpSpPr>
        <p:sp>
          <p:nvSpPr>
            <p:cNvPr id="14" name="Freeform 14"/>
            <p:cNvSpPr/>
            <p:nvPr/>
          </p:nvSpPr>
          <p:spPr>
            <a:xfrm>
              <a:off x="0" y="0"/>
              <a:ext cx="1452372" cy="1006602"/>
            </a:xfrm>
            <a:custGeom>
              <a:avLst/>
              <a:gdLst/>
              <a:ahLst/>
              <a:cxnLst/>
              <a:rect l="l" t="t" r="r" b="b"/>
              <a:pathLst>
                <a:path w="1452372" h="1006602">
                  <a:moveTo>
                    <a:pt x="0" y="0"/>
                  </a:moveTo>
                  <a:lnTo>
                    <a:pt x="1452372" y="0"/>
                  </a:lnTo>
                  <a:lnTo>
                    <a:pt x="1452372" y="1006602"/>
                  </a:lnTo>
                  <a:lnTo>
                    <a:pt x="0" y="1006602"/>
                  </a:lnTo>
                  <a:lnTo>
                    <a:pt x="0" y="0"/>
                  </a:lnTo>
                  <a:close/>
                </a:path>
              </a:pathLst>
            </a:custGeom>
            <a:blipFill>
              <a:blip r:embed="rId6"/>
              <a:stretch>
                <a:fillRect t="-22147" r="-3" b="-22142"/>
              </a:stretch>
            </a:blipFill>
          </p:spPr>
          <p:txBody>
            <a:bodyPr/>
            <a:lstStyle/>
            <a:p>
              <a:endParaRPr lang="he-IL"/>
            </a:p>
          </p:txBody>
        </p:sp>
      </p:grpSp>
      <p:sp>
        <p:nvSpPr>
          <p:cNvPr id="15" name="Freeform 15"/>
          <p:cNvSpPr/>
          <p:nvPr/>
        </p:nvSpPr>
        <p:spPr>
          <a:xfrm>
            <a:off x="328289" y="6259517"/>
            <a:ext cx="5870610" cy="3527669"/>
          </a:xfrm>
          <a:custGeom>
            <a:avLst/>
            <a:gdLst/>
            <a:ahLst/>
            <a:cxnLst/>
            <a:rect l="l" t="t" r="r" b="b"/>
            <a:pathLst>
              <a:path w="5870610" h="3527669">
                <a:moveTo>
                  <a:pt x="0" y="0"/>
                </a:moveTo>
                <a:lnTo>
                  <a:pt x="5870610" y="0"/>
                </a:lnTo>
                <a:lnTo>
                  <a:pt x="5870610" y="3527670"/>
                </a:lnTo>
                <a:lnTo>
                  <a:pt x="0" y="35276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he-IL"/>
          </a:p>
        </p:txBody>
      </p:sp>
      <p:sp>
        <p:nvSpPr>
          <p:cNvPr id="16" name="TextBox 16"/>
          <p:cNvSpPr txBox="1"/>
          <p:nvPr/>
        </p:nvSpPr>
        <p:spPr>
          <a:xfrm>
            <a:off x="451418" y="6164267"/>
            <a:ext cx="5624351" cy="3526853"/>
          </a:xfrm>
          <a:prstGeom prst="rect">
            <a:avLst/>
          </a:prstGeom>
        </p:spPr>
        <p:txBody>
          <a:bodyPr lIns="0" tIns="0" rIns="0" bIns="0" rtlCol="0" anchor="t">
            <a:spAutoFit/>
          </a:bodyPr>
          <a:lstStyle/>
          <a:p>
            <a:pPr algn="ctr">
              <a:lnSpc>
                <a:spcPts val="2658"/>
              </a:lnSpc>
            </a:pPr>
            <a:endParaRPr/>
          </a:p>
          <a:p>
            <a:pPr algn="ctr">
              <a:lnSpc>
                <a:spcPts val="2658"/>
              </a:lnSpc>
            </a:pPr>
            <a:endParaRPr/>
          </a:p>
          <a:p>
            <a:pPr algn="ctr">
              <a:lnSpc>
                <a:spcPts val="2520"/>
              </a:lnSpc>
            </a:pPr>
            <a:endParaRPr/>
          </a:p>
          <a:p>
            <a:pPr algn="ctr">
              <a:lnSpc>
                <a:spcPts val="2520"/>
              </a:lnSpc>
            </a:pPr>
            <a:r>
              <a:rPr lang="en-US" sz="1800" b="1">
                <a:solidFill>
                  <a:srgbClr val="000000"/>
                </a:solidFill>
                <a:latin typeface="Calibri (MS) Bold"/>
                <a:ea typeface="Calibri (MS) Bold"/>
                <a:cs typeface="Calibri (MS) Bold"/>
                <a:sym typeface="Calibri (MS) Bold"/>
              </a:rPr>
              <a:t>GENIE</a:t>
            </a:r>
          </a:p>
          <a:p>
            <a:pPr algn="ctr" rtl="1">
              <a:lnSpc>
                <a:spcPts val="2520"/>
              </a:lnSpc>
            </a:pPr>
            <a:endParaRPr lang="en-US" sz="1800" b="1">
              <a:solidFill>
                <a:srgbClr val="000000"/>
              </a:solidFill>
              <a:latin typeface="Calibri (MS) Bold"/>
              <a:ea typeface="Calibri (MS) Bold"/>
              <a:cs typeface="Calibri (MS) Bold"/>
              <a:sym typeface="Calibri (MS) Bold"/>
            </a:endParaRP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2025</a:t>
            </a:r>
            <a:r>
              <a:rPr lang="he-IL" sz="1800" b="1">
                <a:solidFill>
                  <a:srgbClr val="000000"/>
                </a:solidFill>
                <a:latin typeface="Calibri (MS) Bold"/>
                <a:ea typeface="Calibri (MS) Bold"/>
                <a:cs typeface="Calibri (MS) Bold"/>
                <a:sym typeface="Calibri (MS) Bold"/>
                <a:rtl/>
              </a:rPr>
              <a:t> | מנכ”ל: שרון דניאל</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כלי מדויק, מהיר ואובייקטיבי לזיהוי, טיפול ומעקב אחר מצבים נפשיים ונוירולוגיי בזמן אמת.</a:t>
            </a:r>
          </a:p>
          <a:p>
            <a:pPr algn="ctr" rtl="1">
              <a:lnSpc>
                <a:spcPts val="2520"/>
              </a:lnSpc>
            </a:pPr>
            <a:r>
              <a:rPr lang="en-US" sz="1800">
                <a:solidFill>
                  <a:srgbClr val="000000"/>
                </a:solidFill>
                <a:latin typeface="Calibri (MS)"/>
                <a:ea typeface="Calibri (MS)"/>
                <a:cs typeface="Calibri (MS)"/>
                <a:sym typeface="Calibri (MS)"/>
              </a:rPr>
              <a:t>www.mindtension.com</a:t>
            </a:r>
          </a:p>
          <a:p>
            <a:pPr algn="ctr" rtl="1">
              <a:lnSpc>
                <a:spcPts val="2520"/>
              </a:lnSpc>
            </a:pPr>
            <a:endParaRPr lang="en-US" sz="1800">
              <a:solidFill>
                <a:srgbClr val="000000"/>
              </a:solidFill>
              <a:latin typeface="Calibri (MS)"/>
              <a:ea typeface="Calibri (MS)"/>
              <a:cs typeface="Calibri (MS)"/>
              <a:sym typeface="Calibri (MS)"/>
            </a:endParaRPr>
          </a:p>
        </p:txBody>
      </p:sp>
      <p:grpSp>
        <p:nvGrpSpPr>
          <p:cNvPr id="17" name="Group 17"/>
          <p:cNvGrpSpPr/>
          <p:nvPr/>
        </p:nvGrpSpPr>
        <p:grpSpPr>
          <a:xfrm>
            <a:off x="2537174" y="6639241"/>
            <a:ext cx="1607610" cy="382934"/>
            <a:chOff x="0" y="0"/>
            <a:chExt cx="2143481" cy="510578"/>
          </a:xfrm>
        </p:grpSpPr>
        <p:sp>
          <p:nvSpPr>
            <p:cNvPr id="18" name="Freeform 18"/>
            <p:cNvSpPr/>
            <p:nvPr/>
          </p:nvSpPr>
          <p:spPr>
            <a:xfrm>
              <a:off x="0" y="0"/>
              <a:ext cx="2143506" cy="510540"/>
            </a:xfrm>
            <a:custGeom>
              <a:avLst/>
              <a:gdLst/>
              <a:ahLst/>
              <a:cxnLst/>
              <a:rect l="l" t="t" r="r" b="b"/>
              <a:pathLst>
                <a:path w="2143506" h="510540">
                  <a:moveTo>
                    <a:pt x="0" y="0"/>
                  </a:moveTo>
                  <a:lnTo>
                    <a:pt x="2143506" y="0"/>
                  </a:lnTo>
                  <a:lnTo>
                    <a:pt x="2143506" y="510540"/>
                  </a:lnTo>
                  <a:lnTo>
                    <a:pt x="0" y="510540"/>
                  </a:lnTo>
                  <a:lnTo>
                    <a:pt x="0" y="0"/>
                  </a:lnTo>
                  <a:close/>
                </a:path>
              </a:pathLst>
            </a:custGeom>
            <a:blipFill>
              <a:blip r:embed="rId7"/>
              <a:stretch>
                <a:fillRect t="-450" r="1" b="-457"/>
              </a:stretch>
            </a:blipFill>
          </p:spPr>
          <p:txBody>
            <a:bodyPr/>
            <a:lstStyle/>
            <a:p>
              <a:endParaRPr lang="he-IL"/>
            </a:p>
          </p:txBody>
        </p:sp>
      </p:grpSp>
      <p:sp>
        <p:nvSpPr>
          <p:cNvPr id="19" name="Freeform 19"/>
          <p:cNvSpPr/>
          <p:nvPr/>
        </p:nvSpPr>
        <p:spPr>
          <a:xfrm>
            <a:off x="6478867" y="6259517"/>
            <a:ext cx="5610235" cy="3527669"/>
          </a:xfrm>
          <a:custGeom>
            <a:avLst/>
            <a:gdLst/>
            <a:ahLst/>
            <a:cxnLst/>
            <a:rect l="l" t="t" r="r" b="b"/>
            <a:pathLst>
              <a:path w="5610235" h="3527669">
                <a:moveTo>
                  <a:pt x="0" y="0"/>
                </a:moveTo>
                <a:lnTo>
                  <a:pt x="5610234" y="0"/>
                </a:lnTo>
                <a:lnTo>
                  <a:pt x="5610234" y="3527670"/>
                </a:lnTo>
                <a:lnTo>
                  <a:pt x="0" y="352767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he-IL"/>
          </a:p>
        </p:txBody>
      </p:sp>
      <p:sp>
        <p:nvSpPr>
          <p:cNvPr id="20" name="TextBox 20"/>
          <p:cNvSpPr txBox="1"/>
          <p:nvPr/>
        </p:nvSpPr>
        <p:spPr>
          <a:xfrm>
            <a:off x="6601997" y="6293493"/>
            <a:ext cx="5363975" cy="3193479"/>
          </a:xfrm>
          <a:prstGeom prst="rect">
            <a:avLst/>
          </a:prstGeom>
        </p:spPr>
        <p:txBody>
          <a:bodyPr lIns="0" tIns="0" rIns="0" bIns="0" rtlCol="0" anchor="t">
            <a:spAutoFit/>
          </a:bodyPr>
          <a:lstStyle/>
          <a:p>
            <a:pPr algn="ctr">
              <a:lnSpc>
                <a:spcPts val="2658"/>
              </a:lnSpc>
            </a:pPr>
            <a:endParaRPr/>
          </a:p>
          <a:p>
            <a:pPr algn="ctr" rtl="1">
              <a:lnSpc>
                <a:spcPts val="2520"/>
              </a:lnSpc>
            </a:pPr>
            <a:endParaRPr/>
          </a:p>
          <a:p>
            <a:pPr algn="ctr" rtl="1">
              <a:lnSpc>
                <a:spcPts val="2520"/>
              </a:lnSpc>
            </a:pPr>
            <a:endParaRPr/>
          </a:p>
          <a:p>
            <a:pPr algn="ctr" rtl="1">
              <a:lnSpc>
                <a:spcPts val="2520"/>
              </a:lnSpc>
            </a:pPr>
            <a:r>
              <a:rPr lang="en-US" sz="1800">
                <a:solidFill>
                  <a:srgbClr val="000000"/>
                </a:solidFill>
                <a:latin typeface="Calibri (MS)"/>
                <a:ea typeface="Calibri (MS)"/>
                <a:cs typeface="Calibri (MS)"/>
                <a:sym typeface="Calibri (MS)"/>
              </a:rPr>
              <a:t>OtefAI</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2025</a:t>
            </a:r>
            <a:r>
              <a:rPr lang="he-IL" sz="1800" b="1">
                <a:solidFill>
                  <a:srgbClr val="000000"/>
                </a:solidFill>
                <a:latin typeface="Calibri (MS) Bold"/>
                <a:ea typeface="Calibri (MS) Bold"/>
                <a:cs typeface="Calibri (MS) Bold"/>
                <a:sym typeface="Calibri (MS) Bold"/>
                <a:rtl/>
              </a:rPr>
              <a:t> | מנכ”ל: גל קמרון  </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פיתוח טכנולוגיות בינה מלאכותית לשילוב בכלי פיתוח ו‑</a:t>
            </a:r>
            <a:r>
              <a:rPr lang="en-US" sz="1800">
                <a:solidFill>
                  <a:srgbClr val="000000"/>
                </a:solidFill>
                <a:latin typeface="Calibri (MS)"/>
                <a:ea typeface="Calibri (MS)"/>
                <a:cs typeface="Calibri (MS)"/>
                <a:sym typeface="Calibri (MS)"/>
              </a:rPr>
              <a:t>DevOps</a:t>
            </a:r>
            <a:r>
              <a:rPr lang="he-IL" sz="1800">
                <a:solidFill>
                  <a:srgbClr val="000000"/>
                </a:solidFill>
                <a:latin typeface="Calibri (MS)"/>
                <a:ea typeface="Calibri (MS)"/>
                <a:cs typeface="Calibri (MS)"/>
                <a:sym typeface="Calibri (MS)"/>
                <a:rtl/>
              </a:rPr>
              <a:t>.  מסייעת לארגונים לשפר פרודוקטיביות, סקייל ואינטגרציה </a:t>
            </a:r>
            <a:r>
              <a:rPr lang="en-US" sz="1800">
                <a:solidFill>
                  <a:srgbClr val="000000"/>
                </a:solidFill>
                <a:latin typeface="Calibri (MS)"/>
                <a:ea typeface="Calibri (MS)"/>
                <a:cs typeface="Calibri (MS)"/>
                <a:sym typeface="Calibri (MS)"/>
              </a:rPr>
              <a:t>AI</a:t>
            </a:r>
            <a:r>
              <a:rPr lang="he-IL" sz="1800">
                <a:solidFill>
                  <a:srgbClr val="000000"/>
                </a:solidFill>
                <a:latin typeface="Calibri (MS)"/>
                <a:ea typeface="Calibri (MS)"/>
                <a:cs typeface="Calibri (MS)"/>
                <a:sym typeface="Calibri (MS)"/>
                <a:rtl/>
              </a:rPr>
              <a:t> בתהליכי פיתוח.</a:t>
            </a:r>
          </a:p>
          <a:p>
            <a:pPr algn="ctr" rtl="1">
              <a:lnSpc>
                <a:spcPts val="2520"/>
              </a:lnSpc>
            </a:pPr>
            <a:r>
              <a:rPr lang="en-US" sz="1800">
                <a:solidFill>
                  <a:srgbClr val="000000"/>
                </a:solidFill>
                <a:latin typeface="Calibri (MS)"/>
                <a:ea typeface="Calibri (MS)"/>
                <a:cs typeface="Calibri (MS)"/>
                <a:sym typeface="Calibri (MS)"/>
              </a:rPr>
              <a:t>www.otefai.com</a:t>
            </a:r>
          </a:p>
        </p:txBody>
      </p:sp>
      <p:grpSp>
        <p:nvGrpSpPr>
          <p:cNvPr id="21" name="Group 21"/>
          <p:cNvGrpSpPr/>
          <p:nvPr/>
        </p:nvGrpSpPr>
        <p:grpSpPr>
          <a:xfrm>
            <a:off x="8859660" y="6566375"/>
            <a:ext cx="1054389" cy="512950"/>
            <a:chOff x="0" y="0"/>
            <a:chExt cx="1405852" cy="683933"/>
          </a:xfrm>
        </p:grpSpPr>
        <p:sp>
          <p:nvSpPr>
            <p:cNvPr id="22" name="Freeform 22"/>
            <p:cNvSpPr/>
            <p:nvPr/>
          </p:nvSpPr>
          <p:spPr>
            <a:xfrm>
              <a:off x="0" y="0"/>
              <a:ext cx="1405890" cy="683895"/>
            </a:xfrm>
            <a:custGeom>
              <a:avLst/>
              <a:gdLst/>
              <a:ahLst/>
              <a:cxnLst/>
              <a:rect l="l" t="t" r="r" b="b"/>
              <a:pathLst>
                <a:path w="1405890" h="683895">
                  <a:moveTo>
                    <a:pt x="0" y="0"/>
                  </a:moveTo>
                  <a:lnTo>
                    <a:pt x="1405890" y="0"/>
                  </a:lnTo>
                  <a:lnTo>
                    <a:pt x="1405890" y="683895"/>
                  </a:lnTo>
                  <a:lnTo>
                    <a:pt x="0" y="683895"/>
                  </a:lnTo>
                  <a:lnTo>
                    <a:pt x="0" y="0"/>
                  </a:lnTo>
                  <a:close/>
                </a:path>
              </a:pathLst>
            </a:custGeom>
            <a:blipFill>
              <a:blip r:embed="rId9"/>
              <a:stretch>
                <a:fillRect l="-193" r="-190" b="-5"/>
              </a:stretch>
            </a:blipFill>
          </p:spPr>
          <p:txBody>
            <a:bodyPr/>
            <a:lstStyle/>
            <a:p>
              <a:endParaRPr lang="he-IL"/>
            </a:p>
          </p:txBody>
        </p:sp>
      </p:grpSp>
      <p:sp>
        <p:nvSpPr>
          <p:cNvPr id="23" name="TextBox 23"/>
          <p:cNvSpPr txBox="1"/>
          <p:nvPr/>
        </p:nvSpPr>
        <p:spPr>
          <a:xfrm>
            <a:off x="13143811" y="626602"/>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 </a:t>
            </a:r>
            <a:r>
              <a:rPr lang="he-IL" sz="2699">
                <a:solidFill>
                  <a:srgbClr val="FF8700"/>
                </a:solidFill>
                <a:latin typeface="Calibri (MS)"/>
                <a:ea typeface="Calibri (MS)"/>
                <a:cs typeface="Calibri (MS)"/>
                <a:sym typeface="Calibri (MS)"/>
                <a:rtl/>
              </a:rPr>
              <a:t>החברות בחממה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9999A"/>
        </a:solidFill>
        <a:effectLst/>
      </p:bgPr>
    </p:bg>
    <p:spTree>
      <p:nvGrpSpPr>
        <p:cNvPr id="1" name=""/>
        <p:cNvGrpSpPr/>
        <p:nvPr/>
      </p:nvGrpSpPr>
      <p:grpSpPr>
        <a:xfrm>
          <a:off x="0" y="0"/>
          <a:ext cx="0" cy="0"/>
          <a:chOff x="0" y="0"/>
          <a:chExt cx="0" cy="0"/>
        </a:xfrm>
      </p:grpSpPr>
      <p:sp>
        <p:nvSpPr>
          <p:cNvPr id="2" name="Freeform 2"/>
          <p:cNvSpPr/>
          <p:nvPr/>
        </p:nvSpPr>
        <p:spPr>
          <a:xfrm>
            <a:off x="1645958" y="3456519"/>
            <a:ext cx="5618407" cy="3503190"/>
          </a:xfrm>
          <a:custGeom>
            <a:avLst/>
            <a:gdLst/>
            <a:ahLst/>
            <a:cxnLst/>
            <a:rect l="l" t="t" r="r" b="b"/>
            <a:pathLst>
              <a:path w="5618407" h="3503190">
                <a:moveTo>
                  <a:pt x="0" y="0"/>
                </a:moveTo>
                <a:lnTo>
                  <a:pt x="5618407" y="0"/>
                </a:lnTo>
                <a:lnTo>
                  <a:pt x="5618407" y="3503190"/>
                </a:lnTo>
                <a:lnTo>
                  <a:pt x="0" y="350319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he-IL"/>
          </a:p>
        </p:txBody>
      </p:sp>
      <p:sp>
        <p:nvSpPr>
          <p:cNvPr id="3" name="TextBox 3"/>
          <p:cNvSpPr txBox="1"/>
          <p:nvPr/>
        </p:nvSpPr>
        <p:spPr>
          <a:xfrm>
            <a:off x="1769092" y="3409589"/>
            <a:ext cx="5372138" cy="2545080"/>
          </a:xfrm>
          <a:prstGeom prst="rect">
            <a:avLst/>
          </a:prstGeom>
        </p:spPr>
        <p:txBody>
          <a:bodyPr lIns="0" tIns="0" rIns="0" bIns="0" rtlCol="0" anchor="t">
            <a:spAutoFit/>
          </a:bodyPr>
          <a:lstStyle/>
          <a:p>
            <a:pPr algn="ctr" rtl="1">
              <a:lnSpc>
                <a:spcPts val="2520"/>
              </a:lnSpc>
            </a:pPr>
            <a:endParaRPr/>
          </a:p>
          <a:p>
            <a:pPr algn="ctr" rtl="1">
              <a:lnSpc>
                <a:spcPts val="2520"/>
              </a:lnSpc>
            </a:pPr>
            <a:endParaRPr/>
          </a:p>
          <a:p>
            <a:pPr algn="ctr" rtl="1">
              <a:lnSpc>
                <a:spcPts val="2520"/>
              </a:lnSpc>
            </a:pPr>
            <a:endParaRPr/>
          </a:p>
          <a:p>
            <a:pPr algn="ctr" rtl="1">
              <a:lnSpc>
                <a:spcPts val="2520"/>
              </a:lnSpc>
            </a:pPr>
            <a:r>
              <a:rPr lang="en-US" sz="1800" b="1">
                <a:solidFill>
                  <a:srgbClr val="000000"/>
                </a:solidFill>
                <a:latin typeface="Calibri (MS) Bold"/>
                <a:ea typeface="Calibri (MS) Bold"/>
                <a:cs typeface="Calibri (MS) Bold"/>
                <a:sym typeface="Calibri (MS) Bold"/>
              </a:rPr>
              <a:t>BioTip</a:t>
            </a:r>
          </a:p>
          <a:p>
            <a:pPr algn="ctr" rtl="1">
              <a:lnSpc>
                <a:spcPts val="2520"/>
              </a:lnSpc>
            </a:pPr>
            <a:r>
              <a:rPr lang="he-IL" sz="1800" b="1">
                <a:solidFill>
                  <a:srgbClr val="000000"/>
                </a:solidFill>
                <a:latin typeface="Calibri (MS) Bold"/>
                <a:ea typeface="Calibri (MS) Bold"/>
                <a:cs typeface="Calibri (MS) Bold"/>
                <a:sym typeface="Calibri (MS) Bold"/>
                <a:rtl/>
              </a:rPr>
              <a:t>שנת הקמה: </a:t>
            </a:r>
            <a:r>
              <a:rPr lang="en-US" sz="1800" b="1">
                <a:solidFill>
                  <a:srgbClr val="000000"/>
                </a:solidFill>
                <a:latin typeface="Calibri (MS) Bold"/>
                <a:ea typeface="Calibri (MS) Bold"/>
                <a:cs typeface="Calibri (MS) Bold"/>
                <a:sym typeface="Calibri (MS) Bold"/>
              </a:rPr>
              <a:t>2020</a:t>
            </a:r>
            <a:r>
              <a:rPr lang="he-IL" sz="1800" b="1">
                <a:solidFill>
                  <a:srgbClr val="000000"/>
                </a:solidFill>
                <a:latin typeface="Calibri (MS) Bold"/>
                <a:ea typeface="Calibri (MS) Bold"/>
                <a:cs typeface="Calibri (MS) Bold"/>
                <a:sym typeface="Calibri (MS) Bold"/>
                <a:rtl/>
              </a:rPr>
              <a:t> | מנכ”ל: צור גורביץ</a:t>
            </a:r>
          </a:p>
          <a:p>
            <a:pPr algn="ctr" rtl="1">
              <a:lnSpc>
                <a:spcPts val="2520"/>
              </a:lnSpc>
            </a:pPr>
            <a:endParaRPr lang="he-IL" sz="1800" b="1">
              <a:solidFill>
                <a:srgbClr val="000000"/>
              </a:solidFill>
              <a:latin typeface="Calibri (MS) Bold"/>
              <a:ea typeface="Calibri (MS) Bold"/>
              <a:cs typeface="Calibri (MS) Bold"/>
              <a:sym typeface="Calibri (MS) Bold"/>
              <a:rtl/>
            </a:endParaRPr>
          </a:p>
          <a:p>
            <a:pPr algn="ctr" rtl="1">
              <a:lnSpc>
                <a:spcPts val="2520"/>
              </a:lnSpc>
            </a:pPr>
            <a:r>
              <a:rPr lang="he-IL" sz="1800">
                <a:solidFill>
                  <a:srgbClr val="000000"/>
                </a:solidFill>
                <a:latin typeface="Calibri (MS)"/>
                <a:ea typeface="Calibri (MS)"/>
                <a:cs typeface="Calibri (MS)"/>
                <a:sym typeface="Calibri (MS)"/>
                <a:rtl/>
              </a:rPr>
              <a:t>חיישן לבדיקת טריות מוצרי בשר, דגים ועוף לשיפור בטיחות לצרכן.</a:t>
            </a:r>
          </a:p>
          <a:p>
            <a:pPr algn="ctr" rtl="1">
              <a:lnSpc>
                <a:spcPts val="2520"/>
              </a:lnSpc>
            </a:pPr>
            <a:r>
              <a:rPr lang="en-US" sz="1800">
                <a:solidFill>
                  <a:srgbClr val="000000"/>
                </a:solidFill>
                <a:latin typeface="Calibri (MS)"/>
                <a:ea typeface="Calibri (MS)"/>
                <a:cs typeface="Calibri (MS)"/>
                <a:sym typeface="Calibri (MS)"/>
              </a:rPr>
              <a:t>https://biotip.food</a:t>
            </a:r>
            <a:r>
              <a:rPr lang="ar-EG" sz="1800">
                <a:solidFill>
                  <a:srgbClr val="000000"/>
                </a:solidFill>
                <a:latin typeface="Calibri (MS)"/>
                <a:ea typeface="Calibri (MS)"/>
                <a:cs typeface="Calibri (MS)"/>
                <a:sym typeface="Calibri (MS)"/>
                <a:rtl/>
              </a:rPr>
              <a:t>/</a:t>
            </a:r>
          </a:p>
        </p:txBody>
      </p:sp>
      <p:sp>
        <p:nvSpPr>
          <p:cNvPr id="4" name="TextBox 4"/>
          <p:cNvSpPr txBox="1"/>
          <p:nvPr/>
        </p:nvSpPr>
        <p:spPr>
          <a:xfrm>
            <a:off x="4502463" y="1605805"/>
            <a:ext cx="11028959" cy="528955"/>
          </a:xfrm>
          <a:prstGeom prst="rect">
            <a:avLst/>
          </a:prstGeom>
        </p:spPr>
        <p:txBody>
          <a:bodyPr lIns="0" tIns="0" rIns="0" bIns="0" rtlCol="0" anchor="t">
            <a:spAutoFit/>
          </a:bodyPr>
          <a:lstStyle/>
          <a:p>
            <a:pPr algn="ctr">
              <a:lnSpc>
                <a:spcPts val="3919"/>
              </a:lnSpc>
            </a:pPr>
            <a:r>
              <a:rPr lang="en-US" sz="2799">
                <a:solidFill>
                  <a:srgbClr val="000000"/>
                </a:solidFill>
                <a:latin typeface="Calibri (MS)"/>
                <a:ea typeface="Calibri (MS)"/>
                <a:cs typeface="Calibri (MS)"/>
                <a:sym typeface="Calibri (MS)"/>
              </a:rPr>
              <a:t>All | AgriTech | MedTech | DefenceTech| DeepTech, AI</a:t>
            </a:r>
            <a:r>
              <a:rPr lang="en-US" sz="2799">
                <a:solidFill>
                  <a:srgbClr val="0F55F1"/>
                </a:solidFill>
                <a:latin typeface="Calibri (MS)"/>
                <a:ea typeface="Calibri (MS)"/>
                <a:cs typeface="Calibri (MS)"/>
                <a:sym typeface="Calibri (MS)"/>
              </a:rPr>
              <a:t> </a:t>
            </a:r>
            <a:r>
              <a:rPr lang="en-US" sz="2799">
                <a:solidFill>
                  <a:srgbClr val="000000"/>
                </a:solidFill>
                <a:latin typeface="Calibri (MS)"/>
                <a:ea typeface="Calibri (MS)"/>
                <a:cs typeface="Calibri (MS)"/>
                <a:sym typeface="Calibri (MS)"/>
              </a:rPr>
              <a:t>| </a:t>
            </a:r>
            <a:r>
              <a:rPr lang="en-US" sz="2799">
                <a:solidFill>
                  <a:srgbClr val="FF8700"/>
                </a:solidFill>
                <a:latin typeface="Calibri (MS)"/>
                <a:ea typeface="Calibri (MS)"/>
                <a:cs typeface="Calibri (MS)"/>
                <a:sym typeface="Calibri (MS)"/>
              </a:rPr>
              <a:t>FoodTech </a:t>
            </a:r>
          </a:p>
        </p:txBody>
      </p:sp>
      <p:grpSp>
        <p:nvGrpSpPr>
          <p:cNvPr id="5" name="Group 5"/>
          <p:cNvGrpSpPr/>
          <p:nvPr/>
        </p:nvGrpSpPr>
        <p:grpSpPr>
          <a:xfrm>
            <a:off x="3928929" y="3765491"/>
            <a:ext cx="1147067" cy="438750"/>
            <a:chOff x="0" y="0"/>
            <a:chExt cx="1529423" cy="585000"/>
          </a:xfrm>
        </p:grpSpPr>
        <p:sp>
          <p:nvSpPr>
            <p:cNvPr id="6" name="Freeform 6"/>
            <p:cNvSpPr/>
            <p:nvPr/>
          </p:nvSpPr>
          <p:spPr>
            <a:xfrm>
              <a:off x="0" y="0"/>
              <a:ext cx="1529461" cy="584962"/>
            </a:xfrm>
            <a:custGeom>
              <a:avLst/>
              <a:gdLst/>
              <a:ahLst/>
              <a:cxnLst/>
              <a:rect l="l" t="t" r="r" b="b"/>
              <a:pathLst>
                <a:path w="1529461" h="584962">
                  <a:moveTo>
                    <a:pt x="0" y="0"/>
                  </a:moveTo>
                  <a:lnTo>
                    <a:pt x="1529461" y="0"/>
                  </a:lnTo>
                  <a:lnTo>
                    <a:pt x="1529461" y="584962"/>
                  </a:lnTo>
                  <a:lnTo>
                    <a:pt x="0" y="584962"/>
                  </a:lnTo>
                  <a:lnTo>
                    <a:pt x="0" y="0"/>
                  </a:lnTo>
                  <a:close/>
                </a:path>
              </a:pathLst>
            </a:custGeom>
            <a:blipFill>
              <a:blip r:embed="rId3"/>
              <a:stretch>
                <a:fillRect t="-327" r="2" b="-332"/>
              </a:stretch>
            </a:blipFill>
          </p:spPr>
          <p:txBody>
            <a:bodyPr/>
            <a:lstStyle/>
            <a:p>
              <a:endParaRPr lang="he-IL"/>
            </a:p>
          </p:txBody>
        </p:sp>
      </p:grpSp>
      <p:sp>
        <p:nvSpPr>
          <p:cNvPr id="7" name="TextBox 7"/>
          <p:cNvSpPr txBox="1"/>
          <p:nvPr/>
        </p:nvSpPr>
        <p:spPr>
          <a:xfrm>
            <a:off x="12888688" y="626602"/>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a:t>
            </a:r>
            <a:r>
              <a:rPr lang="he-IL" sz="2699">
                <a:solidFill>
                  <a:srgbClr val="070404"/>
                </a:solidFill>
                <a:latin typeface="Calibri (MS)"/>
                <a:ea typeface="Calibri (MS)"/>
                <a:cs typeface="Calibri (MS)"/>
                <a:sym typeface="Calibri (MS)"/>
                <a:rtl/>
              </a:rPr>
              <a:t> החברות בחממה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82221" y="6192848"/>
            <a:ext cx="2606708" cy="1890205"/>
          </a:xfrm>
          <a:custGeom>
            <a:avLst/>
            <a:gdLst/>
            <a:ahLst/>
            <a:cxnLst/>
            <a:rect l="l" t="t" r="r" b="b"/>
            <a:pathLst>
              <a:path w="2606708" h="1890205">
                <a:moveTo>
                  <a:pt x="0" y="0"/>
                </a:moveTo>
                <a:lnTo>
                  <a:pt x="2606708" y="0"/>
                </a:lnTo>
                <a:lnTo>
                  <a:pt x="2606708" y="1890205"/>
                </a:lnTo>
                <a:lnTo>
                  <a:pt x="0" y="1890205"/>
                </a:lnTo>
                <a:lnTo>
                  <a:pt x="0" y="0"/>
                </a:lnTo>
                <a:close/>
              </a:path>
            </a:pathLst>
          </a:custGeom>
          <a:blipFill>
            <a:blip r:embed="rId2"/>
            <a:stretch>
              <a:fillRect/>
            </a:stretch>
          </a:blipFill>
        </p:spPr>
        <p:txBody>
          <a:bodyPr/>
          <a:lstStyle/>
          <a:p>
            <a:endParaRPr lang="he-IL"/>
          </a:p>
        </p:txBody>
      </p:sp>
      <p:grpSp>
        <p:nvGrpSpPr>
          <p:cNvPr id="3" name="Group 3"/>
          <p:cNvGrpSpPr/>
          <p:nvPr/>
        </p:nvGrpSpPr>
        <p:grpSpPr>
          <a:xfrm>
            <a:off x="0" y="0"/>
            <a:ext cx="18288000" cy="4519115"/>
            <a:chOff x="0" y="0"/>
            <a:chExt cx="4816593" cy="1190220"/>
          </a:xfrm>
        </p:grpSpPr>
        <p:sp>
          <p:nvSpPr>
            <p:cNvPr id="4" name="Freeform 4"/>
            <p:cNvSpPr/>
            <p:nvPr/>
          </p:nvSpPr>
          <p:spPr>
            <a:xfrm>
              <a:off x="0" y="0"/>
              <a:ext cx="4816592" cy="1190220"/>
            </a:xfrm>
            <a:custGeom>
              <a:avLst/>
              <a:gdLst/>
              <a:ahLst/>
              <a:cxnLst/>
              <a:rect l="l" t="t" r="r" b="b"/>
              <a:pathLst>
                <a:path w="4816592" h="1190220">
                  <a:moveTo>
                    <a:pt x="0" y="0"/>
                  </a:moveTo>
                  <a:lnTo>
                    <a:pt x="4816592" y="0"/>
                  </a:lnTo>
                  <a:lnTo>
                    <a:pt x="4816592" y="1190220"/>
                  </a:lnTo>
                  <a:lnTo>
                    <a:pt x="0" y="1190220"/>
                  </a:lnTo>
                  <a:close/>
                </a:path>
              </a:pathLst>
            </a:custGeom>
            <a:solidFill>
              <a:srgbClr val="483F2B"/>
            </a:solidFill>
          </p:spPr>
          <p:txBody>
            <a:bodyPr/>
            <a:lstStyle/>
            <a:p>
              <a:endParaRPr lang="he-IL"/>
            </a:p>
          </p:txBody>
        </p:sp>
        <p:sp>
          <p:nvSpPr>
            <p:cNvPr id="5" name="TextBox 5"/>
            <p:cNvSpPr txBox="1"/>
            <p:nvPr/>
          </p:nvSpPr>
          <p:spPr>
            <a:xfrm>
              <a:off x="0" y="-47625"/>
              <a:ext cx="4816593" cy="123784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3311812" y="2896909"/>
            <a:ext cx="4385110" cy="1188140"/>
            <a:chOff x="0" y="0"/>
            <a:chExt cx="1154926" cy="312926"/>
          </a:xfrm>
        </p:grpSpPr>
        <p:sp>
          <p:nvSpPr>
            <p:cNvPr id="7" name="Freeform 7"/>
            <p:cNvSpPr/>
            <p:nvPr/>
          </p:nvSpPr>
          <p:spPr>
            <a:xfrm>
              <a:off x="0" y="0"/>
              <a:ext cx="1154926" cy="312926"/>
            </a:xfrm>
            <a:custGeom>
              <a:avLst/>
              <a:gdLst/>
              <a:ahLst/>
              <a:cxnLst/>
              <a:rect l="l" t="t" r="r" b="b"/>
              <a:pathLst>
                <a:path w="1154926" h="312926">
                  <a:moveTo>
                    <a:pt x="90041" y="0"/>
                  </a:moveTo>
                  <a:lnTo>
                    <a:pt x="1064885" y="0"/>
                  </a:lnTo>
                  <a:cubicBezTo>
                    <a:pt x="1088766" y="0"/>
                    <a:pt x="1111668" y="9486"/>
                    <a:pt x="1128554" y="26372"/>
                  </a:cubicBezTo>
                  <a:cubicBezTo>
                    <a:pt x="1145440" y="43258"/>
                    <a:pt x="1154926" y="66160"/>
                    <a:pt x="1154926" y="90041"/>
                  </a:cubicBezTo>
                  <a:lnTo>
                    <a:pt x="1154926" y="222885"/>
                  </a:lnTo>
                  <a:cubicBezTo>
                    <a:pt x="1154926" y="246765"/>
                    <a:pt x="1145440" y="269668"/>
                    <a:pt x="1128554" y="286554"/>
                  </a:cubicBezTo>
                  <a:cubicBezTo>
                    <a:pt x="1111668" y="303439"/>
                    <a:pt x="1088766" y="312926"/>
                    <a:pt x="1064885" y="312926"/>
                  </a:cubicBezTo>
                  <a:lnTo>
                    <a:pt x="90041" y="312926"/>
                  </a:lnTo>
                  <a:cubicBezTo>
                    <a:pt x="66160" y="312926"/>
                    <a:pt x="43258" y="303439"/>
                    <a:pt x="26372" y="286554"/>
                  </a:cubicBezTo>
                  <a:cubicBezTo>
                    <a:pt x="9486" y="269668"/>
                    <a:pt x="0" y="246765"/>
                    <a:pt x="0" y="222885"/>
                  </a:cubicBezTo>
                  <a:lnTo>
                    <a:pt x="0" y="90041"/>
                  </a:lnTo>
                  <a:cubicBezTo>
                    <a:pt x="0" y="66160"/>
                    <a:pt x="9486" y="43258"/>
                    <a:pt x="26372" y="26372"/>
                  </a:cubicBezTo>
                  <a:cubicBezTo>
                    <a:pt x="43258" y="9486"/>
                    <a:pt x="66160" y="0"/>
                    <a:pt x="90041" y="0"/>
                  </a:cubicBezTo>
                  <a:close/>
                </a:path>
              </a:pathLst>
            </a:custGeom>
            <a:ln w="19050" cap="rnd">
              <a:solidFill>
                <a:srgbClr val="A6A6A6"/>
              </a:solidFill>
              <a:prstDash val="sysDot"/>
              <a:round/>
            </a:ln>
          </p:spPr>
          <p:txBody>
            <a:bodyPr/>
            <a:lstStyle/>
            <a:p>
              <a:endParaRPr lang="he-IL"/>
            </a:p>
          </p:txBody>
        </p:sp>
        <p:sp>
          <p:nvSpPr>
            <p:cNvPr id="8" name="TextBox 8"/>
            <p:cNvSpPr txBox="1"/>
            <p:nvPr/>
          </p:nvSpPr>
          <p:spPr>
            <a:xfrm>
              <a:off x="0" y="-47625"/>
              <a:ext cx="1154926" cy="360551"/>
            </a:xfrm>
            <a:prstGeom prst="rect">
              <a:avLst/>
            </a:prstGeom>
          </p:spPr>
          <p:txBody>
            <a:bodyPr lIns="50800" tIns="50800" rIns="50800" bIns="50800" rtlCol="0" anchor="ctr"/>
            <a:lstStyle/>
            <a:p>
              <a:pPr algn="ctr" rtl="1">
                <a:lnSpc>
                  <a:spcPts val="2659"/>
                </a:lnSpc>
              </a:pPr>
              <a:endParaRPr/>
            </a:p>
          </p:txBody>
        </p:sp>
      </p:grpSp>
      <p:grpSp>
        <p:nvGrpSpPr>
          <p:cNvPr id="9" name="Group 9"/>
          <p:cNvGrpSpPr/>
          <p:nvPr/>
        </p:nvGrpSpPr>
        <p:grpSpPr>
          <a:xfrm>
            <a:off x="14553404" y="3548129"/>
            <a:ext cx="261255" cy="26125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C31A"/>
            </a:solidFill>
          </p:spPr>
          <p:txBody>
            <a:bodyPr/>
            <a:lstStyle/>
            <a:p>
              <a:endParaRPr lang="he-IL"/>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265067" y="507609"/>
            <a:ext cx="2439014" cy="502041"/>
            <a:chOff x="0" y="0"/>
            <a:chExt cx="642374" cy="132225"/>
          </a:xfrm>
        </p:grpSpPr>
        <p:sp>
          <p:nvSpPr>
            <p:cNvPr id="13" name="Freeform 13"/>
            <p:cNvSpPr/>
            <p:nvPr/>
          </p:nvSpPr>
          <p:spPr>
            <a:xfrm>
              <a:off x="0" y="0"/>
              <a:ext cx="642374" cy="132225"/>
            </a:xfrm>
            <a:custGeom>
              <a:avLst/>
              <a:gdLst/>
              <a:ahLst/>
              <a:cxnLst/>
              <a:rect l="l" t="t" r="r" b="b"/>
              <a:pathLst>
                <a:path w="642374" h="132225">
                  <a:moveTo>
                    <a:pt x="66112" y="0"/>
                  </a:moveTo>
                  <a:lnTo>
                    <a:pt x="576262" y="0"/>
                  </a:lnTo>
                  <a:cubicBezTo>
                    <a:pt x="593796" y="0"/>
                    <a:pt x="610612" y="6965"/>
                    <a:pt x="623010" y="19364"/>
                  </a:cubicBezTo>
                  <a:cubicBezTo>
                    <a:pt x="635409" y="31762"/>
                    <a:pt x="642374" y="48578"/>
                    <a:pt x="642374" y="66112"/>
                  </a:cubicBezTo>
                  <a:lnTo>
                    <a:pt x="642374" y="66112"/>
                  </a:lnTo>
                  <a:cubicBezTo>
                    <a:pt x="642374" y="102625"/>
                    <a:pt x="612774" y="132225"/>
                    <a:pt x="576262" y="132225"/>
                  </a:cubicBezTo>
                  <a:lnTo>
                    <a:pt x="66112" y="132225"/>
                  </a:lnTo>
                  <a:cubicBezTo>
                    <a:pt x="29600" y="132225"/>
                    <a:pt x="0" y="102625"/>
                    <a:pt x="0" y="66112"/>
                  </a:cubicBezTo>
                  <a:lnTo>
                    <a:pt x="0" y="66112"/>
                  </a:lnTo>
                  <a:cubicBezTo>
                    <a:pt x="0" y="29600"/>
                    <a:pt x="29600" y="0"/>
                    <a:pt x="66112" y="0"/>
                  </a:cubicBezTo>
                  <a:close/>
                </a:path>
              </a:pathLst>
            </a:custGeom>
            <a:solidFill>
              <a:srgbClr val="FF8C0A"/>
            </a:solidFill>
            <a:ln w="19050" cap="rnd">
              <a:solidFill>
                <a:srgbClr val="A6A6A6"/>
              </a:solidFill>
              <a:prstDash val="sysDot"/>
              <a:round/>
            </a:ln>
          </p:spPr>
          <p:txBody>
            <a:bodyPr/>
            <a:lstStyle/>
            <a:p>
              <a:endParaRPr lang="he-IL"/>
            </a:p>
          </p:txBody>
        </p:sp>
        <p:sp>
          <p:nvSpPr>
            <p:cNvPr id="14" name="TextBox 14"/>
            <p:cNvSpPr txBox="1"/>
            <p:nvPr/>
          </p:nvSpPr>
          <p:spPr>
            <a:xfrm>
              <a:off x="0" y="-47625"/>
              <a:ext cx="642374" cy="179850"/>
            </a:xfrm>
            <a:prstGeom prst="rect">
              <a:avLst/>
            </a:prstGeom>
          </p:spPr>
          <p:txBody>
            <a:bodyPr lIns="50800" tIns="50800" rIns="50800" bIns="50800" rtlCol="0" anchor="ctr"/>
            <a:lstStyle/>
            <a:p>
              <a:pPr algn="ctr" rtl="1">
                <a:lnSpc>
                  <a:spcPts val="2659"/>
                </a:lnSpc>
              </a:pPr>
              <a:endParaRPr/>
            </a:p>
          </p:txBody>
        </p:sp>
      </p:grpSp>
      <p:grpSp>
        <p:nvGrpSpPr>
          <p:cNvPr id="15" name="Group 15"/>
          <p:cNvGrpSpPr/>
          <p:nvPr/>
        </p:nvGrpSpPr>
        <p:grpSpPr>
          <a:xfrm>
            <a:off x="7904619" y="2896909"/>
            <a:ext cx="4385110" cy="1188140"/>
            <a:chOff x="0" y="0"/>
            <a:chExt cx="1154926" cy="312926"/>
          </a:xfrm>
        </p:grpSpPr>
        <p:sp>
          <p:nvSpPr>
            <p:cNvPr id="16" name="Freeform 16"/>
            <p:cNvSpPr/>
            <p:nvPr/>
          </p:nvSpPr>
          <p:spPr>
            <a:xfrm>
              <a:off x="0" y="0"/>
              <a:ext cx="1154926" cy="312926"/>
            </a:xfrm>
            <a:custGeom>
              <a:avLst/>
              <a:gdLst/>
              <a:ahLst/>
              <a:cxnLst/>
              <a:rect l="l" t="t" r="r" b="b"/>
              <a:pathLst>
                <a:path w="1154926" h="312926">
                  <a:moveTo>
                    <a:pt x="90041" y="0"/>
                  </a:moveTo>
                  <a:lnTo>
                    <a:pt x="1064885" y="0"/>
                  </a:lnTo>
                  <a:cubicBezTo>
                    <a:pt x="1088766" y="0"/>
                    <a:pt x="1111668" y="9486"/>
                    <a:pt x="1128554" y="26372"/>
                  </a:cubicBezTo>
                  <a:cubicBezTo>
                    <a:pt x="1145440" y="43258"/>
                    <a:pt x="1154926" y="66160"/>
                    <a:pt x="1154926" y="90041"/>
                  </a:cubicBezTo>
                  <a:lnTo>
                    <a:pt x="1154926" y="222885"/>
                  </a:lnTo>
                  <a:cubicBezTo>
                    <a:pt x="1154926" y="246765"/>
                    <a:pt x="1145440" y="269668"/>
                    <a:pt x="1128554" y="286554"/>
                  </a:cubicBezTo>
                  <a:cubicBezTo>
                    <a:pt x="1111668" y="303439"/>
                    <a:pt x="1088766" y="312926"/>
                    <a:pt x="1064885" y="312926"/>
                  </a:cubicBezTo>
                  <a:lnTo>
                    <a:pt x="90041" y="312926"/>
                  </a:lnTo>
                  <a:cubicBezTo>
                    <a:pt x="66160" y="312926"/>
                    <a:pt x="43258" y="303439"/>
                    <a:pt x="26372" y="286554"/>
                  </a:cubicBezTo>
                  <a:cubicBezTo>
                    <a:pt x="9486" y="269668"/>
                    <a:pt x="0" y="246765"/>
                    <a:pt x="0" y="222885"/>
                  </a:cubicBezTo>
                  <a:lnTo>
                    <a:pt x="0" y="90041"/>
                  </a:lnTo>
                  <a:cubicBezTo>
                    <a:pt x="0" y="66160"/>
                    <a:pt x="9486" y="43258"/>
                    <a:pt x="26372" y="26372"/>
                  </a:cubicBezTo>
                  <a:cubicBezTo>
                    <a:pt x="43258" y="9486"/>
                    <a:pt x="66160" y="0"/>
                    <a:pt x="90041" y="0"/>
                  </a:cubicBezTo>
                  <a:close/>
                </a:path>
              </a:pathLst>
            </a:custGeom>
            <a:ln w="19050" cap="rnd">
              <a:solidFill>
                <a:srgbClr val="A6A6A6"/>
              </a:solidFill>
              <a:prstDash val="sysDot"/>
              <a:round/>
            </a:ln>
          </p:spPr>
          <p:txBody>
            <a:bodyPr/>
            <a:lstStyle/>
            <a:p>
              <a:endParaRPr lang="he-IL"/>
            </a:p>
          </p:txBody>
        </p:sp>
        <p:sp>
          <p:nvSpPr>
            <p:cNvPr id="17" name="TextBox 17"/>
            <p:cNvSpPr txBox="1"/>
            <p:nvPr/>
          </p:nvSpPr>
          <p:spPr>
            <a:xfrm>
              <a:off x="0" y="-47625"/>
              <a:ext cx="1154926" cy="360551"/>
            </a:xfrm>
            <a:prstGeom prst="rect">
              <a:avLst/>
            </a:prstGeom>
          </p:spPr>
          <p:txBody>
            <a:bodyPr lIns="50800" tIns="50800" rIns="50800" bIns="50800" rtlCol="0" anchor="ctr"/>
            <a:lstStyle/>
            <a:p>
              <a:pPr algn="ctr" rtl="1">
                <a:lnSpc>
                  <a:spcPts val="2659"/>
                </a:lnSpc>
              </a:pPr>
              <a:endParaRPr/>
            </a:p>
          </p:txBody>
        </p:sp>
      </p:grpSp>
      <p:sp>
        <p:nvSpPr>
          <p:cNvPr id="18" name="TextBox 18"/>
          <p:cNvSpPr txBox="1"/>
          <p:nvPr/>
        </p:nvSpPr>
        <p:spPr>
          <a:xfrm>
            <a:off x="8620578" y="3005239"/>
            <a:ext cx="3029391" cy="838131"/>
          </a:xfrm>
          <a:prstGeom prst="rect">
            <a:avLst/>
          </a:prstGeom>
        </p:spPr>
        <p:txBody>
          <a:bodyPr lIns="0" tIns="0" rIns="0" bIns="0" rtlCol="0" anchor="t">
            <a:spAutoFit/>
          </a:bodyPr>
          <a:lstStyle/>
          <a:p>
            <a:pPr algn="ctr" rtl="1">
              <a:lnSpc>
                <a:spcPts val="3153"/>
              </a:lnSpc>
            </a:pPr>
            <a:r>
              <a:rPr lang="he-IL" sz="2252">
                <a:solidFill>
                  <a:srgbClr val="000000"/>
                </a:solidFill>
                <a:latin typeface="Calibri (MS)"/>
                <a:ea typeface="Calibri (MS)"/>
                <a:cs typeface="Calibri (MS)"/>
                <a:sym typeface="Calibri (MS)"/>
                <a:rtl/>
              </a:rPr>
              <a:t>החממה הבטחונית </a:t>
            </a:r>
          </a:p>
          <a:p>
            <a:pPr algn="ctr">
              <a:lnSpc>
                <a:spcPts val="3153"/>
              </a:lnSpc>
              <a:spcBef>
                <a:spcPct val="0"/>
              </a:spcBef>
            </a:pPr>
            <a:r>
              <a:rPr lang="en-US" sz="2252">
                <a:solidFill>
                  <a:srgbClr val="000000"/>
                </a:solidFill>
                <a:latin typeface="Calibri (MS)"/>
                <a:ea typeface="Calibri (MS)"/>
                <a:cs typeface="Calibri (MS)"/>
                <a:sym typeface="Calibri (MS)"/>
              </a:rPr>
              <a:t>D.Tech</a:t>
            </a:r>
          </a:p>
        </p:txBody>
      </p:sp>
      <p:grpSp>
        <p:nvGrpSpPr>
          <p:cNvPr id="19" name="Group 19"/>
          <p:cNvGrpSpPr/>
          <p:nvPr/>
        </p:nvGrpSpPr>
        <p:grpSpPr>
          <a:xfrm>
            <a:off x="9239250" y="3553540"/>
            <a:ext cx="261255" cy="26125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55F1"/>
            </a:solidFill>
          </p:spPr>
          <p:txBody>
            <a:bodyPr/>
            <a:lstStyle/>
            <a:p>
              <a:endParaRPr lang="he-IL"/>
            </a:p>
          </p:txBody>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2185784" y="2896909"/>
            <a:ext cx="4385110" cy="1188140"/>
            <a:chOff x="0" y="0"/>
            <a:chExt cx="1154926" cy="312926"/>
          </a:xfrm>
        </p:grpSpPr>
        <p:sp>
          <p:nvSpPr>
            <p:cNvPr id="23" name="Freeform 23"/>
            <p:cNvSpPr/>
            <p:nvPr/>
          </p:nvSpPr>
          <p:spPr>
            <a:xfrm>
              <a:off x="0" y="0"/>
              <a:ext cx="1154926" cy="312926"/>
            </a:xfrm>
            <a:custGeom>
              <a:avLst/>
              <a:gdLst/>
              <a:ahLst/>
              <a:cxnLst/>
              <a:rect l="l" t="t" r="r" b="b"/>
              <a:pathLst>
                <a:path w="1154926" h="312926">
                  <a:moveTo>
                    <a:pt x="90041" y="0"/>
                  </a:moveTo>
                  <a:lnTo>
                    <a:pt x="1064885" y="0"/>
                  </a:lnTo>
                  <a:cubicBezTo>
                    <a:pt x="1088766" y="0"/>
                    <a:pt x="1111668" y="9486"/>
                    <a:pt x="1128554" y="26372"/>
                  </a:cubicBezTo>
                  <a:cubicBezTo>
                    <a:pt x="1145440" y="43258"/>
                    <a:pt x="1154926" y="66160"/>
                    <a:pt x="1154926" y="90041"/>
                  </a:cubicBezTo>
                  <a:lnTo>
                    <a:pt x="1154926" y="222885"/>
                  </a:lnTo>
                  <a:cubicBezTo>
                    <a:pt x="1154926" y="246765"/>
                    <a:pt x="1145440" y="269668"/>
                    <a:pt x="1128554" y="286554"/>
                  </a:cubicBezTo>
                  <a:cubicBezTo>
                    <a:pt x="1111668" y="303439"/>
                    <a:pt x="1088766" y="312926"/>
                    <a:pt x="1064885" y="312926"/>
                  </a:cubicBezTo>
                  <a:lnTo>
                    <a:pt x="90041" y="312926"/>
                  </a:lnTo>
                  <a:cubicBezTo>
                    <a:pt x="66160" y="312926"/>
                    <a:pt x="43258" y="303439"/>
                    <a:pt x="26372" y="286554"/>
                  </a:cubicBezTo>
                  <a:cubicBezTo>
                    <a:pt x="9486" y="269668"/>
                    <a:pt x="0" y="246765"/>
                    <a:pt x="0" y="222885"/>
                  </a:cubicBezTo>
                  <a:lnTo>
                    <a:pt x="0" y="90041"/>
                  </a:lnTo>
                  <a:cubicBezTo>
                    <a:pt x="0" y="66160"/>
                    <a:pt x="9486" y="43258"/>
                    <a:pt x="26372" y="26372"/>
                  </a:cubicBezTo>
                  <a:cubicBezTo>
                    <a:pt x="43258" y="9486"/>
                    <a:pt x="66160" y="0"/>
                    <a:pt x="90041" y="0"/>
                  </a:cubicBezTo>
                  <a:close/>
                </a:path>
              </a:pathLst>
            </a:custGeom>
            <a:ln w="19050" cap="rnd">
              <a:solidFill>
                <a:srgbClr val="A6A6A6"/>
              </a:solidFill>
              <a:prstDash val="sysDot"/>
              <a:round/>
            </a:ln>
          </p:spPr>
          <p:txBody>
            <a:bodyPr/>
            <a:lstStyle/>
            <a:p>
              <a:endParaRPr lang="he-IL"/>
            </a:p>
          </p:txBody>
        </p:sp>
        <p:sp>
          <p:nvSpPr>
            <p:cNvPr id="24" name="TextBox 24"/>
            <p:cNvSpPr txBox="1"/>
            <p:nvPr/>
          </p:nvSpPr>
          <p:spPr>
            <a:xfrm>
              <a:off x="0" y="-47625"/>
              <a:ext cx="1154926" cy="360551"/>
            </a:xfrm>
            <a:prstGeom prst="rect">
              <a:avLst/>
            </a:prstGeom>
          </p:spPr>
          <p:txBody>
            <a:bodyPr lIns="50800" tIns="50800" rIns="50800" bIns="50800" rtlCol="0" anchor="ctr"/>
            <a:lstStyle/>
            <a:p>
              <a:pPr algn="ctr" rtl="1">
                <a:lnSpc>
                  <a:spcPts val="2659"/>
                </a:lnSpc>
              </a:pPr>
              <a:endParaRPr/>
            </a:p>
          </p:txBody>
        </p:sp>
      </p:grpSp>
      <p:sp>
        <p:nvSpPr>
          <p:cNvPr id="25" name="Freeform 25"/>
          <p:cNvSpPr/>
          <p:nvPr/>
        </p:nvSpPr>
        <p:spPr>
          <a:xfrm>
            <a:off x="15504367" y="8528772"/>
            <a:ext cx="2295766" cy="1116157"/>
          </a:xfrm>
          <a:custGeom>
            <a:avLst/>
            <a:gdLst/>
            <a:ahLst/>
            <a:cxnLst/>
            <a:rect l="l" t="t" r="r" b="b"/>
            <a:pathLst>
              <a:path w="2295766" h="1116157">
                <a:moveTo>
                  <a:pt x="0" y="0"/>
                </a:moveTo>
                <a:lnTo>
                  <a:pt x="2295766" y="0"/>
                </a:lnTo>
                <a:lnTo>
                  <a:pt x="2295766" y="1116156"/>
                </a:lnTo>
                <a:lnTo>
                  <a:pt x="0" y="1116156"/>
                </a:lnTo>
                <a:lnTo>
                  <a:pt x="0" y="0"/>
                </a:lnTo>
                <a:close/>
              </a:path>
            </a:pathLst>
          </a:custGeom>
          <a:blipFill>
            <a:blip r:embed="rId3"/>
            <a:stretch>
              <a:fillRect t="-2373" b="-2373"/>
            </a:stretch>
          </a:blipFill>
        </p:spPr>
        <p:txBody>
          <a:bodyPr/>
          <a:lstStyle/>
          <a:p>
            <a:endParaRPr lang="he-IL"/>
          </a:p>
        </p:txBody>
      </p:sp>
      <p:sp>
        <p:nvSpPr>
          <p:cNvPr id="26" name="TextBox 26"/>
          <p:cNvSpPr txBox="1"/>
          <p:nvPr/>
        </p:nvSpPr>
        <p:spPr>
          <a:xfrm>
            <a:off x="13210810" y="406339"/>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 </a:t>
            </a:r>
            <a:r>
              <a:rPr lang="he-IL" sz="2699">
                <a:solidFill>
                  <a:srgbClr val="FF8700"/>
                </a:solidFill>
                <a:latin typeface="Calibri (MS)"/>
                <a:ea typeface="Calibri (MS)"/>
                <a:cs typeface="Calibri (MS)"/>
                <a:sym typeface="Calibri (MS)"/>
                <a:rtl/>
              </a:rPr>
              <a:t>תוכניות ייעודיות</a:t>
            </a:r>
          </a:p>
        </p:txBody>
      </p:sp>
      <p:sp>
        <p:nvSpPr>
          <p:cNvPr id="27" name="TextBox 27"/>
          <p:cNvSpPr txBox="1"/>
          <p:nvPr/>
        </p:nvSpPr>
        <p:spPr>
          <a:xfrm>
            <a:off x="10787334" y="627626"/>
            <a:ext cx="6762027" cy="2330573"/>
          </a:xfrm>
          <a:prstGeom prst="rect">
            <a:avLst/>
          </a:prstGeom>
        </p:spPr>
        <p:txBody>
          <a:bodyPr lIns="0" tIns="0" rIns="0" bIns="0" rtlCol="0" anchor="t">
            <a:spAutoFit/>
          </a:bodyPr>
          <a:lstStyle/>
          <a:p>
            <a:pPr algn="r" rtl="1">
              <a:lnSpc>
                <a:spcPts val="8363"/>
              </a:lnSpc>
            </a:pPr>
            <a:r>
              <a:rPr lang="he-IL" sz="8199" b="1" spc="-213">
                <a:solidFill>
                  <a:srgbClr val="FFFFFF"/>
                </a:solidFill>
                <a:latin typeface="Calibri (MS) Bold"/>
                <a:ea typeface="Calibri (MS) Bold"/>
                <a:cs typeface="Calibri (MS) Bold"/>
                <a:sym typeface="Calibri (MS) Bold"/>
                <a:rtl/>
              </a:rPr>
              <a:t>תוכניות </a:t>
            </a:r>
          </a:p>
          <a:p>
            <a:pPr algn="r" rtl="1">
              <a:lnSpc>
                <a:spcPts val="8363"/>
              </a:lnSpc>
            </a:pPr>
            <a:r>
              <a:rPr lang="he-IL" sz="8199" b="1" spc="-213">
                <a:solidFill>
                  <a:srgbClr val="FF8700"/>
                </a:solidFill>
                <a:latin typeface="Calibri (MS) Bold"/>
                <a:ea typeface="Calibri (MS) Bold"/>
                <a:cs typeface="Calibri (MS) Bold"/>
                <a:sym typeface="Calibri (MS) Bold"/>
                <a:rtl/>
              </a:rPr>
              <a:t>ייעודיות</a:t>
            </a:r>
          </a:p>
        </p:txBody>
      </p:sp>
      <p:sp>
        <p:nvSpPr>
          <p:cNvPr id="28" name="TextBox 28"/>
          <p:cNvSpPr txBox="1"/>
          <p:nvPr/>
        </p:nvSpPr>
        <p:spPr>
          <a:xfrm>
            <a:off x="941303" y="4681040"/>
            <a:ext cx="16230600" cy="1359408"/>
          </a:xfrm>
          <a:prstGeom prst="rect">
            <a:avLst/>
          </a:prstGeom>
        </p:spPr>
        <p:txBody>
          <a:bodyPr lIns="0" tIns="0" rIns="0" bIns="0" rtlCol="0" anchor="t">
            <a:spAutoFit/>
          </a:bodyPr>
          <a:lstStyle/>
          <a:p>
            <a:pPr algn="ctr" rtl="1">
              <a:lnSpc>
                <a:spcPts val="3440"/>
              </a:lnSpc>
            </a:pPr>
            <a:r>
              <a:rPr lang="he-IL" sz="3099">
                <a:solidFill>
                  <a:srgbClr val="767883"/>
                </a:solidFill>
                <a:latin typeface="Calibri (MS)"/>
                <a:ea typeface="Calibri (MS)"/>
                <a:cs typeface="Calibri (MS)"/>
                <a:sym typeface="Calibri (MS)"/>
                <a:rtl/>
              </a:rPr>
              <a:t>אנו מספקים מגוון תוכניות לסטארט-אפים בוורטיקלים שונים — מדיפנס-טק וטכנולוגיות חקלאיות ועד תקשורת. כל חממה מתמחה בתחום שלה ומעניקה מעטפת מלאה הכוללת ידע מקצועי, תשתיות מותאמות, חיבורים אסטרטגי</a:t>
            </a:r>
            <a:r>
              <a:rPr lang="he-IL" sz="3099" u="none">
                <a:solidFill>
                  <a:srgbClr val="767883"/>
                </a:solidFill>
                <a:latin typeface="Calibri (MS)"/>
                <a:ea typeface="Calibri (MS)"/>
                <a:cs typeface="Calibri (MS)"/>
                <a:sym typeface="Calibri (MS)"/>
                <a:rtl/>
              </a:rPr>
              <a:t>י</a:t>
            </a:r>
            <a:r>
              <a:rPr lang="he-IL" sz="3099">
                <a:solidFill>
                  <a:srgbClr val="767883"/>
                </a:solidFill>
                <a:latin typeface="Calibri (MS)"/>
                <a:ea typeface="Calibri (MS)"/>
                <a:cs typeface="Calibri (MS)"/>
                <a:sym typeface="Calibri (MS)"/>
                <a:rtl/>
              </a:rPr>
              <a:t>ם ומסלולי מימון.</a:t>
            </a:r>
          </a:p>
        </p:txBody>
      </p:sp>
      <p:sp>
        <p:nvSpPr>
          <p:cNvPr id="29" name="TextBox 29"/>
          <p:cNvSpPr txBox="1"/>
          <p:nvPr/>
        </p:nvSpPr>
        <p:spPr>
          <a:xfrm>
            <a:off x="14037737" y="3033951"/>
            <a:ext cx="3029391" cy="838131"/>
          </a:xfrm>
          <a:prstGeom prst="rect">
            <a:avLst/>
          </a:prstGeom>
        </p:spPr>
        <p:txBody>
          <a:bodyPr lIns="0" tIns="0" rIns="0" bIns="0" rtlCol="0" anchor="t">
            <a:spAutoFit/>
          </a:bodyPr>
          <a:lstStyle/>
          <a:p>
            <a:pPr algn="ctr" rtl="1">
              <a:lnSpc>
                <a:spcPts val="3153"/>
              </a:lnSpc>
            </a:pPr>
            <a:r>
              <a:rPr lang="he-IL" sz="2252">
                <a:solidFill>
                  <a:srgbClr val="000000"/>
                </a:solidFill>
                <a:latin typeface="Calibri (MS)"/>
                <a:ea typeface="Calibri (MS)"/>
                <a:cs typeface="Calibri (MS)"/>
                <a:sym typeface="Calibri (MS)"/>
                <a:rtl/>
              </a:rPr>
              <a:t>המכון לחקלאות מתקדמת</a:t>
            </a:r>
          </a:p>
          <a:p>
            <a:pPr algn="ctr">
              <a:lnSpc>
                <a:spcPts val="3153"/>
              </a:lnSpc>
              <a:spcBef>
                <a:spcPct val="0"/>
              </a:spcBef>
            </a:pPr>
            <a:r>
              <a:rPr lang="en-US" sz="2252">
                <a:solidFill>
                  <a:srgbClr val="000000"/>
                </a:solidFill>
                <a:latin typeface="Calibri (MS)"/>
                <a:ea typeface="Calibri (MS)"/>
                <a:cs typeface="Calibri (MS)"/>
                <a:sym typeface="Calibri (MS)"/>
              </a:rPr>
              <a:t>AgroSNG</a:t>
            </a:r>
          </a:p>
        </p:txBody>
      </p:sp>
      <p:sp>
        <p:nvSpPr>
          <p:cNvPr id="30" name="TextBox 30"/>
          <p:cNvSpPr txBox="1"/>
          <p:nvPr/>
        </p:nvSpPr>
        <p:spPr>
          <a:xfrm>
            <a:off x="941303" y="475261"/>
            <a:ext cx="3029391" cy="438081"/>
          </a:xfrm>
          <a:prstGeom prst="rect">
            <a:avLst/>
          </a:prstGeom>
        </p:spPr>
        <p:txBody>
          <a:bodyPr lIns="0" tIns="0" rIns="0" bIns="0" rtlCol="0" anchor="t">
            <a:spAutoFit/>
          </a:bodyPr>
          <a:lstStyle/>
          <a:p>
            <a:pPr algn="ctr" rtl="1">
              <a:lnSpc>
                <a:spcPts val="3153"/>
              </a:lnSpc>
              <a:spcBef>
                <a:spcPct val="0"/>
              </a:spcBef>
            </a:pPr>
            <a:r>
              <a:rPr lang="he-IL" sz="2252">
                <a:solidFill>
                  <a:srgbClr val="000000"/>
                </a:solidFill>
                <a:latin typeface="Calibri (MS)"/>
                <a:ea typeface="Calibri (MS)"/>
                <a:cs typeface="Calibri (MS)"/>
                <a:sym typeface="Calibri (MS)"/>
                <a:rtl/>
              </a:rPr>
              <a:t>להגשת מועמדות </a:t>
            </a:r>
          </a:p>
        </p:txBody>
      </p:sp>
      <p:sp>
        <p:nvSpPr>
          <p:cNvPr id="31" name="TextBox 31"/>
          <p:cNvSpPr txBox="1"/>
          <p:nvPr/>
        </p:nvSpPr>
        <p:spPr>
          <a:xfrm>
            <a:off x="693539" y="6126173"/>
            <a:ext cx="14422160" cy="2055034"/>
          </a:xfrm>
          <a:prstGeom prst="rect">
            <a:avLst/>
          </a:prstGeom>
        </p:spPr>
        <p:txBody>
          <a:bodyPr lIns="0" tIns="0" rIns="0" bIns="0" rtlCol="0" anchor="t">
            <a:spAutoFit/>
          </a:bodyPr>
          <a:lstStyle/>
          <a:p>
            <a:pPr algn="r" rtl="1">
              <a:lnSpc>
                <a:spcPts val="4083"/>
              </a:lnSpc>
            </a:pPr>
            <a:r>
              <a:rPr lang="he-IL" sz="2199">
                <a:solidFill>
                  <a:srgbClr val="767883"/>
                </a:solidFill>
                <a:latin typeface="Calibri (MS)"/>
                <a:ea typeface="Calibri (MS)"/>
                <a:cs typeface="Calibri (MS)"/>
                <a:sym typeface="Calibri (MS)"/>
                <a:rtl/>
              </a:rPr>
              <a:t>החממה הביטחונית מאפשרת לחברות סטארטאפ אקוסיסטם מלא הכולל סביבות ניסוי (יבשתי, אווירי וימי), מקיימת קשר ישיר עם מפא"ת משהב"ט ומפעילה תוכניות מאיץ בתחומי ביטחון </a:t>
            </a:r>
            <a:r>
              <a:rPr lang="en-US" sz="2199">
                <a:solidFill>
                  <a:srgbClr val="767883"/>
                </a:solidFill>
                <a:latin typeface="Calibri (MS)"/>
                <a:ea typeface="Calibri (MS)"/>
                <a:cs typeface="Calibri (MS)"/>
                <a:sym typeface="Calibri (MS)"/>
              </a:rPr>
              <a:t>HLS</a:t>
            </a:r>
            <a:r>
              <a:rPr lang="he-IL" sz="2199">
                <a:solidFill>
                  <a:srgbClr val="767883"/>
                </a:solidFill>
                <a:latin typeface="Calibri (MS)"/>
                <a:ea typeface="Calibri (MS)"/>
                <a:cs typeface="Calibri (MS)"/>
                <a:sym typeface="Calibri (MS)"/>
                <a:rtl/>
              </a:rPr>
              <a:t> ופתרונות דואליים. </a:t>
            </a:r>
          </a:p>
          <a:p>
            <a:pPr algn="r" rtl="1">
              <a:lnSpc>
                <a:spcPts val="4084"/>
              </a:lnSpc>
            </a:pPr>
            <a:r>
              <a:rPr lang="he-IL" sz="2199">
                <a:solidFill>
                  <a:srgbClr val="767883"/>
                </a:solidFill>
                <a:latin typeface="Calibri (MS)"/>
                <a:ea typeface="Calibri (MS)"/>
                <a:cs typeface="Calibri (MS)"/>
                <a:sym typeface="Calibri (MS)"/>
                <a:rtl/>
              </a:rPr>
              <a:t>החממה אחראית לאתר סטארטאפים, לבצע בדיקות היתכנות, לשלבם בתוכניות תמיכה שונות ובחיבור לגורמים הרלוונטי</a:t>
            </a:r>
            <a:r>
              <a:rPr lang="he-IL" sz="2199" u="none">
                <a:solidFill>
                  <a:srgbClr val="767883"/>
                </a:solidFill>
                <a:latin typeface="Calibri (MS)"/>
                <a:ea typeface="Calibri (MS)"/>
                <a:cs typeface="Calibri (MS)"/>
                <a:sym typeface="Calibri (MS)"/>
                <a:rtl/>
              </a:rPr>
              <a:t>י</a:t>
            </a:r>
            <a:r>
              <a:rPr lang="he-IL" sz="2199">
                <a:solidFill>
                  <a:srgbClr val="767883"/>
                </a:solidFill>
                <a:latin typeface="Calibri (MS)"/>
                <a:ea typeface="Calibri (MS)"/>
                <a:cs typeface="Calibri (MS)"/>
                <a:sym typeface="Calibri (MS)"/>
                <a:rtl/>
              </a:rPr>
              <a:t>ם, הן בתעשיה והן מצד הלקוחות.</a:t>
            </a:r>
          </a:p>
        </p:txBody>
      </p:sp>
      <p:sp>
        <p:nvSpPr>
          <p:cNvPr id="32" name="TextBox 32"/>
          <p:cNvSpPr txBox="1"/>
          <p:nvPr/>
        </p:nvSpPr>
        <p:spPr>
          <a:xfrm>
            <a:off x="2863643" y="3195739"/>
            <a:ext cx="3029391" cy="438081"/>
          </a:xfrm>
          <a:prstGeom prst="rect">
            <a:avLst/>
          </a:prstGeom>
        </p:spPr>
        <p:txBody>
          <a:bodyPr lIns="0" tIns="0" rIns="0" bIns="0" rtlCol="0" anchor="t">
            <a:spAutoFit/>
          </a:bodyPr>
          <a:lstStyle/>
          <a:p>
            <a:pPr algn="ctr" rtl="1">
              <a:lnSpc>
                <a:spcPts val="3153"/>
              </a:lnSpc>
              <a:spcBef>
                <a:spcPct val="0"/>
              </a:spcBef>
            </a:pPr>
            <a:r>
              <a:rPr lang="he-IL" sz="2252">
                <a:solidFill>
                  <a:srgbClr val="000000"/>
                </a:solidFill>
                <a:latin typeface="Calibri (MS)"/>
                <a:ea typeface="Calibri (MS)"/>
                <a:cs typeface="Calibri (MS)"/>
                <a:sym typeface="Calibri (MS)"/>
                <a:rtl/>
              </a:rPr>
              <a:t>קהילית </a:t>
            </a:r>
            <a:r>
              <a:rPr lang="en-US" sz="2252">
                <a:solidFill>
                  <a:srgbClr val="000000"/>
                </a:solidFill>
                <a:latin typeface="Calibri (MS)"/>
                <a:ea typeface="Calibri (MS)"/>
                <a:cs typeface="Calibri (MS)"/>
                <a:sym typeface="Calibri (MS)"/>
              </a:rPr>
              <a:t>HLS.IL</a:t>
            </a:r>
          </a:p>
        </p:txBody>
      </p:sp>
      <p:sp>
        <p:nvSpPr>
          <p:cNvPr id="33" name="TextBox 33"/>
          <p:cNvSpPr txBox="1"/>
          <p:nvPr/>
        </p:nvSpPr>
        <p:spPr>
          <a:xfrm>
            <a:off x="707661" y="8409807"/>
            <a:ext cx="14422160" cy="1540739"/>
          </a:xfrm>
          <a:prstGeom prst="rect">
            <a:avLst/>
          </a:prstGeom>
        </p:spPr>
        <p:txBody>
          <a:bodyPr lIns="0" tIns="0" rIns="0" bIns="0" rtlCol="0" anchor="t">
            <a:spAutoFit/>
          </a:bodyPr>
          <a:lstStyle/>
          <a:p>
            <a:pPr algn="r" rtl="1">
              <a:lnSpc>
                <a:spcPts val="4083"/>
              </a:lnSpc>
            </a:pPr>
            <a:r>
              <a:rPr lang="en-US" sz="2199">
                <a:solidFill>
                  <a:srgbClr val="767883"/>
                </a:solidFill>
                <a:latin typeface="Calibri (MS)"/>
                <a:ea typeface="Calibri (MS)"/>
                <a:cs typeface="Calibri (MS)"/>
                <a:sym typeface="Calibri (MS)"/>
              </a:rPr>
              <a:t>AgroSNG</a:t>
            </a:r>
            <a:r>
              <a:rPr lang="he-IL" sz="2199">
                <a:solidFill>
                  <a:srgbClr val="767883"/>
                </a:solidFill>
                <a:latin typeface="Calibri (MS)"/>
                <a:ea typeface="Calibri (MS)"/>
                <a:cs typeface="Calibri (MS)"/>
                <a:sym typeface="Calibri (MS)"/>
                <a:rtl/>
              </a:rPr>
              <a:t> המכון לחקלאות מתקדמת בשיתוף המכללה האקדמית ספיר (מרכז ח"י), קרן נס ואשכול רשויות הנגב המערבי. הפעילות תתמקד בארבעה נושאים חשובים שבכוחם לשנות את תחום החקלאות באזורינו – מו"פ, מאיץ ליזמים וחברות, הכשרות מקצועיות וליווי והטמעה של טכנולוגיות חדשות בקרב החקלאים בשער הנגב ובאזור הנגב המערבי כולו.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250"/>
            <a:ext cx="18783463" cy="4519115"/>
            <a:chOff x="0" y="0"/>
            <a:chExt cx="4947085" cy="1190220"/>
          </a:xfrm>
        </p:grpSpPr>
        <p:sp>
          <p:nvSpPr>
            <p:cNvPr id="3" name="Freeform 3"/>
            <p:cNvSpPr/>
            <p:nvPr/>
          </p:nvSpPr>
          <p:spPr>
            <a:xfrm>
              <a:off x="0" y="0"/>
              <a:ext cx="4947085" cy="1190220"/>
            </a:xfrm>
            <a:custGeom>
              <a:avLst/>
              <a:gdLst/>
              <a:ahLst/>
              <a:cxnLst/>
              <a:rect l="l" t="t" r="r" b="b"/>
              <a:pathLst>
                <a:path w="4947085" h="1190220">
                  <a:moveTo>
                    <a:pt x="0" y="0"/>
                  </a:moveTo>
                  <a:lnTo>
                    <a:pt x="4947085" y="0"/>
                  </a:lnTo>
                  <a:lnTo>
                    <a:pt x="4947085" y="1190220"/>
                  </a:lnTo>
                  <a:lnTo>
                    <a:pt x="0" y="1190220"/>
                  </a:lnTo>
                  <a:close/>
                </a:path>
              </a:pathLst>
            </a:custGeom>
            <a:solidFill>
              <a:srgbClr val="483F2B"/>
            </a:solidFill>
          </p:spPr>
          <p:txBody>
            <a:bodyPr/>
            <a:lstStyle/>
            <a:p>
              <a:endParaRPr lang="he-IL"/>
            </a:p>
          </p:txBody>
        </p:sp>
        <p:sp>
          <p:nvSpPr>
            <p:cNvPr id="4" name="TextBox 4"/>
            <p:cNvSpPr txBox="1"/>
            <p:nvPr/>
          </p:nvSpPr>
          <p:spPr>
            <a:xfrm>
              <a:off x="0" y="-47625"/>
              <a:ext cx="4947085" cy="123784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079563" y="3696307"/>
            <a:ext cx="2205073" cy="498268"/>
            <a:chOff x="0" y="0"/>
            <a:chExt cx="580760" cy="131231"/>
          </a:xfrm>
        </p:grpSpPr>
        <p:sp>
          <p:nvSpPr>
            <p:cNvPr id="6" name="Freeform 6"/>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7" name="TextBox 7"/>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אירועים בחממה</a:t>
              </a:r>
            </a:p>
          </p:txBody>
        </p:sp>
      </p:grpSp>
      <p:grpSp>
        <p:nvGrpSpPr>
          <p:cNvPr id="8" name="Group 8"/>
          <p:cNvGrpSpPr/>
          <p:nvPr/>
        </p:nvGrpSpPr>
        <p:grpSpPr>
          <a:xfrm>
            <a:off x="5152725" y="3696307"/>
            <a:ext cx="2205073" cy="498268"/>
            <a:chOff x="0" y="0"/>
            <a:chExt cx="580760" cy="131231"/>
          </a:xfrm>
        </p:grpSpPr>
        <p:sp>
          <p:nvSpPr>
            <p:cNvPr id="9" name="Freeform 9"/>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solidFill>
              <a:srgbClr val="FF8C0A"/>
            </a:solidFill>
            <a:ln w="19050" cap="rnd">
              <a:solidFill>
                <a:srgbClr val="EFE3E3"/>
              </a:solidFill>
              <a:prstDash val="sysDot"/>
              <a:round/>
            </a:ln>
          </p:spPr>
          <p:txBody>
            <a:bodyPr/>
            <a:lstStyle/>
            <a:p>
              <a:endParaRPr lang="he-IL"/>
            </a:p>
          </p:txBody>
        </p:sp>
        <p:sp>
          <p:nvSpPr>
            <p:cNvPr id="10" name="TextBox 10"/>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en-US" sz="1899">
                  <a:solidFill>
                    <a:srgbClr val="000000"/>
                  </a:solidFill>
                  <a:latin typeface="Arimo"/>
                  <a:ea typeface="Arimo"/>
                  <a:cs typeface="Arimo"/>
                  <a:sym typeface="Arimo"/>
                </a:rPr>
                <a:t>SouthUp</a:t>
              </a:r>
              <a:r>
                <a:rPr lang="he-IL" sz="1899">
                  <a:solidFill>
                    <a:srgbClr val="000000"/>
                  </a:solidFill>
                  <a:latin typeface="Arimo"/>
                  <a:ea typeface="Arimo"/>
                  <a:cs typeface="Arimo"/>
                  <a:sym typeface="Arimo"/>
                  <a:rtl/>
                </a:rPr>
                <a:t> בתקשורת</a:t>
              </a:r>
            </a:p>
          </p:txBody>
        </p:sp>
      </p:grpSp>
      <p:grpSp>
        <p:nvGrpSpPr>
          <p:cNvPr id="11" name="Group 11"/>
          <p:cNvGrpSpPr/>
          <p:nvPr/>
        </p:nvGrpSpPr>
        <p:grpSpPr>
          <a:xfrm>
            <a:off x="2206837" y="3696307"/>
            <a:ext cx="2205073" cy="498268"/>
            <a:chOff x="0" y="0"/>
            <a:chExt cx="580760" cy="131231"/>
          </a:xfrm>
        </p:grpSpPr>
        <p:sp>
          <p:nvSpPr>
            <p:cNvPr id="12" name="Freeform 12"/>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13" name="TextBox 13"/>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הניולזטר שלנו</a:t>
              </a:r>
            </a:p>
          </p:txBody>
        </p:sp>
      </p:grpSp>
      <p:sp>
        <p:nvSpPr>
          <p:cNvPr id="14" name="Freeform 14"/>
          <p:cNvSpPr/>
          <p:nvPr/>
        </p:nvSpPr>
        <p:spPr>
          <a:xfrm>
            <a:off x="14620079" y="5248275"/>
            <a:ext cx="3271543" cy="1971105"/>
          </a:xfrm>
          <a:custGeom>
            <a:avLst/>
            <a:gdLst/>
            <a:ahLst/>
            <a:cxnLst/>
            <a:rect l="l" t="t" r="r" b="b"/>
            <a:pathLst>
              <a:path w="3271543" h="1971105">
                <a:moveTo>
                  <a:pt x="0" y="0"/>
                </a:moveTo>
                <a:lnTo>
                  <a:pt x="3271543" y="0"/>
                </a:lnTo>
                <a:lnTo>
                  <a:pt x="3271543" y="1971105"/>
                </a:lnTo>
                <a:lnTo>
                  <a:pt x="0" y="1971105"/>
                </a:lnTo>
                <a:lnTo>
                  <a:pt x="0" y="0"/>
                </a:lnTo>
                <a:close/>
              </a:path>
            </a:pathLst>
          </a:custGeom>
          <a:blipFill>
            <a:blip r:embed="rId2"/>
            <a:stretch>
              <a:fillRect/>
            </a:stretch>
          </a:blipFill>
        </p:spPr>
        <p:txBody>
          <a:bodyPr/>
          <a:lstStyle/>
          <a:p>
            <a:endParaRPr lang="he-IL"/>
          </a:p>
        </p:txBody>
      </p:sp>
      <p:sp>
        <p:nvSpPr>
          <p:cNvPr id="15" name="Freeform 15"/>
          <p:cNvSpPr/>
          <p:nvPr/>
        </p:nvSpPr>
        <p:spPr>
          <a:xfrm>
            <a:off x="8848191" y="5248275"/>
            <a:ext cx="2933799" cy="1853628"/>
          </a:xfrm>
          <a:custGeom>
            <a:avLst/>
            <a:gdLst/>
            <a:ahLst/>
            <a:cxnLst/>
            <a:rect l="l" t="t" r="r" b="b"/>
            <a:pathLst>
              <a:path w="2933799" h="1853628">
                <a:moveTo>
                  <a:pt x="0" y="0"/>
                </a:moveTo>
                <a:lnTo>
                  <a:pt x="2933799" y="0"/>
                </a:lnTo>
                <a:lnTo>
                  <a:pt x="2933799" y="1853628"/>
                </a:lnTo>
                <a:lnTo>
                  <a:pt x="0" y="1853628"/>
                </a:lnTo>
                <a:lnTo>
                  <a:pt x="0" y="0"/>
                </a:lnTo>
                <a:close/>
              </a:path>
            </a:pathLst>
          </a:custGeom>
          <a:blipFill>
            <a:blip r:embed="rId3"/>
            <a:stretch>
              <a:fillRect t="-4510" b="-45058"/>
            </a:stretch>
          </a:blipFill>
        </p:spPr>
        <p:txBody>
          <a:bodyPr/>
          <a:lstStyle/>
          <a:p>
            <a:endParaRPr lang="he-IL"/>
          </a:p>
        </p:txBody>
      </p:sp>
      <p:sp>
        <p:nvSpPr>
          <p:cNvPr id="16" name="Freeform 16"/>
          <p:cNvSpPr/>
          <p:nvPr/>
        </p:nvSpPr>
        <p:spPr>
          <a:xfrm>
            <a:off x="2428486" y="5260977"/>
            <a:ext cx="3398529" cy="1958403"/>
          </a:xfrm>
          <a:custGeom>
            <a:avLst/>
            <a:gdLst/>
            <a:ahLst/>
            <a:cxnLst/>
            <a:rect l="l" t="t" r="r" b="b"/>
            <a:pathLst>
              <a:path w="3398529" h="1958403">
                <a:moveTo>
                  <a:pt x="0" y="0"/>
                </a:moveTo>
                <a:lnTo>
                  <a:pt x="3398529" y="0"/>
                </a:lnTo>
                <a:lnTo>
                  <a:pt x="3398529" y="1958403"/>
                </a:lnTo>
                <a:lnTo>
                  <a:pt x="0" y="1958403"/>
                </a:lnTo>
                <a:lnTo>
                  <a:pt x="0" y="0"/>
                </a:lnTo>
                <a:close/>
              </a:path>
            </a:pathLst>
          </a:custGeom>
          <a:blipFill>
            <a:blip r:embed="rId4"/>
            <a:stretch>
              <a:fillRect/>
            </a:stretch>
          </a:blipFill>
        </p:spPr>
        <p:txBody>
          <a:bodyPr/>
          <a:lstStyle/>
          <a:p>
            <a:endParaRPr lang="he-IL"/>
          </a:p>
        </p:txBody>
      </p:sp>
      <p:sp>
        <p:nvSpPr>
          <p:cNvPr id="17" name="TextBox 17"/>
          <p:cNvSpPr txBox="1"/>
          <p:nvPr/>
        </p:nvSpPr>
        <p:spPr>
          <a:xfrm>
            <a:off x="12827377" y="779002"/>
            <a:ext cx="4683245" cy="402098"/>
          </a:xfrm>
          <a:prstGeom prst="rect">
            <a:avLst/>
          </a:prstGeom>
        </p:spPr>
        <p:txBody>
          <a:bodyPr lIns="0" tIns="0" rIns="0" bIns="0" rtlCol="0" anchor="t">
            <a:spAutoFit/>
          </a:bodyPr>
          <a:lstStyle/>
          <a:p>
            <a:pPr algn="r" rtl="1">
              <a:lnSpc>
                <a:spcPts val="2698"/>
              </a:lnSpc>
            </a:pPr>
            <a:r>
              <a:rPr lang="he-IL" sz="2699">
                <a:solidFill>
                  <a:srgbClr val="EFE3E3"/>
                </a:solidFill>
                <a:latin typeface="Calibri (MS)"/>
                <a:ea typeface="Calibri (MS)"/>
                <a:cs typeface="Calibri (MS)"/>
                <a:sym typeface="Calibri (MS)"/>
                <a:rtl/>
              </a:rPr>
              <a:t>דף הבית &gt; </a:t>
            </a:r>
            <a:r>
              <a:rPr lang="he-IL" sz="2699">
                <a:solidFill>
                  <a:srgbClr val="FF8700"/>
                </a:solidFill>
                <a:latin typeface="Calibri (MS)"/>
                <a:ea typeface="Calibri (MS)"/>
                <a:cs typeface="Calibri (MS)"/>
                <a:sym typeface="Calibri (MS)"/>
                <a:rtl/>
              </a:rPr>
              <a:t>חדשות ואירועים </a:t>
            </a:r>
          </a:p>
        </p:txBody>
      </p:sp>
      <p:sp>
        <p:nvSpPr>
          <p:cNvPr id="18" name="TextBox 18"/>
          <p:cNvSpPr txBox="1"/>
          <p:nvPr/>
        </p:nvSpPr>
        <p:spPr>
          <a:xfrm>
            <a:off x="10812804" y="1013309"/>
            <a:ext cx="6762027" cy="2330573"/>
          </a:xfrm>
          <a:prstGeom prst="rect">
            <a:avLst/>
          </a:prstGeom>
        </p:spPr>
        <p:txBody>
          <a:bodyPr lIns="0" tIns="0" rIns="0" bIns="0" rtlCol="0" anchor="t">
            <a:spAutoFit/>
          </a:bodyPr>
          <a:lstStyle/>
          <a:p>
            <a:pPr algn="r" rtl="1">
              <a:lnSpc>
                <a:spcPts val="8363"/>
              </a:lnSpc>
            </a:pPr>
            <a:r>
              <a:rPr lang="he-IL" sz="8199" b="1" spc="-213">
                <a:solidFill>
                  <a:srgbClr val="FF8700"/>
                </a:solidFill>
                <a:latin typeface="Calibri (MS) Bold"/>
                <a:ea typeface="Calibri (MS) Bold"/>
                <a:cs typeface="Calibri (MS) Bold"/>
                <a:sym typeface="Calibri (MS) Bold"/>
                <a:rtl/>
              </a:rPr>
              <a:t>חדשות </a:t>
            </a:r>
          </a:p>
          <a:p>
            <a:pPr algn="r" rtl="1">
              <a:lnSpc>
                <a:spcPts val="8363"/>
              </a:lnSpc>
            </a:pPr>
            <a:r>
              <a:rPr lang="he-IL" sz="8199" b="1" spc="-213">
                <a:solidFill>
                  <a:srgbClr val="FFFFFF"/>
                </a:solidFill>
                <a:latin typeface="Calibri (MS) Bold"/>
                <a:ea typeface="Calibri (MS) Bold"/>
                <a:cs typeface="Calibri (MS) Bold"/>
                <a:sym typeface="Calibri (MS) Bold"/>
                <a:rtl/>
              </a:rPr>
              <a:t>ואירועים </a:t>
            </a:r>
          </a:p>
        </p:txBody>
      </p:sp>
      <p:sp>
        <p:nvSpPr>
          <p:cNvPr id="19" name="TextBox 19"/>
          <p:cNvSpPr txBox="1"/>
          <p:nvPr/>
        </p:nvSpPr>
        <p:spPr>
          <a:xfrm>
            <a:off x="13841558" y="7362255"/>
            <a:ext cx="4078639" cy="2678673"/>
          </a:xfrm>
          <a:prstGeom prst="rect">
            <a:avLst/>
          </a:prstGeom>
        </p:spPr>
        <p:txBody>
          <a:bodyPr lIns="0" tIns="0" rIns="0" bIns="0" rtlCol="0" anchor="t">
            <a:spAutoFit/>
          </a:bodyPr>
          <a:lstStyle/>
          <a:p>
            <a:pPr algn="r" rtl="1">
              <a:lnSpc>
                <a:spcPts val="2697"/>
              </a:lnSpc>
            </a:pPr>
            <a:r>
              <a:rPr lang="en-US" sz="2699">
                <a:solidFill>
                  <a:srgbClr val="070404"/>
                </a:solidFill>
                <a:latin typeface="Calibri (MS)"/>
                <a:ea typeface="Calibri (MS)"/>
                <a:cs typeface="Calibri (MS)"/>
                <a:sym typeface="Calibri (MS)"/>
              </a:rPr>
              <a:t>26</a:t>
            </a:r>
            <a:r>
              <a:rPr lang="he-IL" sz="2699">
                <a:solidFill>
                  <a:srgbClr val="070404"/>
                </a:solidFill>
                <a:latin typeface="Calibri (MS)"/>
                <a:ea typeface="Calibri (MS)"/>
                <a:cs typeface="Calibri (MS)"/>
                <a:sym typeface="Calibri (MS)"/>
                <a:rtl/>
              </a:rPr>
              <a:t> בינואר, </a:t>
            </a:r>
            <a:r>
              <a:rPr lang="en-US" sz="2699">
                <a:solidFill>
                  <a:srgbClr val="070404"/>
                </a:solidFill>
                <a:latin typeface="Calibri (MS)"/>
                <a:ea typeface="Calibri (MS)"/>
                <a:cs typeface="Calibri (MS)"/>
                <a:sym typeface="Calibri (MS)"/>
              </a:rPr>
              <a:t>2026</a:t>
            </a:r>
          </a:p>
          <a:p>
            <a:pPr algn="r" rtl="1">
              <a:lnSpc>
                <a:spcPts val="2697"/>
              </a:lnSpc>
            </a:pPr>
            <a:r>
              <a:rPr lang="en-US" sz="2699">
                <a:solidFill>
                  <a:srgbClr val="070404"/>
                </a:solidFill>
                <a:latin typeface="Calibri (MS)"/>
                <a:ea typeface="Calibri (MS)"/>
                <a:cs typeface="Calibri (MS)"/>
                <a:sym typeface="Calibri (MS)"/>
              </a:rPr>
              <a:t>IsraelDefence</a:t>
            </a:r>
          </a:p>
          <a:p>
            <a:pPr algn="r" rtl="1">
              <a:lnSpc>
                <a:spcPts val="2697"/>
              </a:lnSpc>
            </a:pPr>
            <a:endParaRPr lang="en-US" sz="2699">
              <a:solidFill>
                <a:srgbClr val="070404"/>
              </a:solidFill>
              <a:latin typeface="Calibri (MS)"/>
              <a:ea typeface="Calibri (MS)"/>
              <a:cs typeface="Calibri (MS)"/>
              <a:sym typeface="Calibri (MS)"/>
            </a:endParaRPr>
          </a:p>
          <a:p>
            <a:pPr algn="r" rtl="1">
              <a:lnSpc>
                <a:spcPts val="2497"/>
              </a:lnSpc>
            </a:pPr>
            <a:r>
              <a:rPr lang="he-IL" sz="2499" b="1">
                <a:solidFill>
                  <a:srgbClr val="070404"/>
                </a:solidFill>
                <a:latin typeface="Calibri (MS) Bold"/>
                <a:ea typeface="Calibri (MS) Bold"/>
                <a:cs typeface="Calibri (MS) Bold"/>
                <a:sym typeface="Calibri (MS) Bold"/>
                <a:rtl/>
              </a:rPr>
              <a:t>מחזון לביטחון: ההייטק הישראלי מעתיק את חזית החדשנות לנגב המערבי</a:t>
            </a:r>
          </a:p>
          <a:p>
            <a:pPr algn="r" rtl="1">
              <a:lnSpc>
                <a:spcPts val="26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a:solidFill>
                  <a:srgbClr val="FF8C0A"/>
                </a:solidFill>
                <a:latin typeface="Calibri (MS) Bold"/>
                <a:ea typeface="Calibri (MS) Bold"/>
                <a:cs typeface="Calibri (MS) Bold"/>
                <a:sym typeface="Calibri (MS) Bold"/>
                <a:hlinkClick r:id="rId5" tooltip="https://www.israeldefense.co.il/node/67609"/>
                <a:rtl/>
              </a:rPr>
              <a:t>לכתבה </a:t>
            </a:r>
          </a:p>
        </p:txBody>
      </p:sp>
      <p:sp>
        <p:nvSpPr>
          <p:cNvPr id="20" name="TextBox 20"/>
          <p:cNvSpPr txBox="1"/>
          <p:nvPr/>
        </p:nvSpPr>
        <p:spPr>
          <a:xfrm>
            <a:off x="7722401" y="7295580"/>
            <a:ext cx="4078639" cy="2659623"/>
          </a:xfrm>
          <a:prstGeom prst="rect">
            <a:avLst/>
          </a:prstGeom>
        </p:spPr>
        <p:txBody>
          <a:bodyPr lIns="0" tIns="0" rIns="0" bIns="0" rtlCol="0" anchor="t">
            <a:spAutoFit/>
          </a:bodyPr>
          <a:lstStyle/>
          <a:p>
            <a:pPr algn="r" rtl="1">
              <a:lnSpc>
                <a:spcPts val="2697"/>
              </a:lnSpc>
            </a:pPr>
            <a:r>
              <a:rPr lang="en-US" sz="2699">
                <a:solidFill>
                  <a:srgbClr val="000000"/>
                </a:solidFill>
                <a:latin typeface="Calibri (MS)"/>
                <a:ea typeface="Calibri (MS)"/>
                <a:cs typeface="Calibri (MS)"/>
                <a:sym typeface="Calibri (MS)"/>
              </a:rPr>
              <a:t>13</a:t>
            </a:r>
            <a:r>
              <a:rPr lang="he-IL" sz="2699">
                <a:solidFill>
                  <a:srgbClr val="000000"/>
                </a:solidFill>
                <a:latin typeface="Calibri (MS)"/>
                <a:ea typeface="Calibri (MS)"/>
                <a:cs typeface="Calibri (MS)"/>
                <a:sym typeface="Calibri (MS)"/>
                <a:rtl/>
              </a:rPr>
              <a:t> באפריל, </a:t>
            </a:r>
            <a:r>
              <a:rPr lang="en-US" sz="2699">
                <a:solidFill>
                  <a:srgbClr val="000000"/>
                </a:solidFill>
                <a:latin typeface="Calibri (MS)"/>
                <a:ea typeface="Calibri (MS)"/>
                <a:cs typeface="Calibri (MS)"/>
                <a:sym typeface="Calibri (MS)"/>
              </a:rPr>
              <a:t>2025</a:t>
            </a:r>
          </a:p>
          <a:p>
            <a:pPr algn="r" rtl="1">
              <a:lnSpc>
                <a:spcPts val="2697"/>
              </a:lnSpc>
            </a:pPr>
            <a:r>
              <a:rPr lang="he-IL" sz="2699">
                <a:solidFill>
                  <a:srgbClr val="000000"/>
                </a:solidFill>
                <a:latin typeface="Calibri (MS)"/>
                <a:ea typeface="Calibri (MS)"/>
                <a:cs typeface="Calibri (MS)"/>
                <a:sym typeface="Calibri (MS)"/>
                <a:rtl/>
              </a:rPr>
              <a:t>דה מרקר</a:t>
            </a:r>
          </a:p>
          <a:p>
            <a:pPr algn="r" rtl="1">
              <a:lnSpc>
                <a:spcPts val="2697"/>
              </a:lnSpc>
            </a:pPr>
            <a:endParaRPr lang="he-IL" sz="2699">
              <a:solidFill>
                <a:srgbClr val="000000"/>
              </a:solidFill>
              <a:latin typeface="Calibri (MS)"/>
              <a:ea typeface="Calibri (MS)"/>
              <a:cs typeface="Calibri (MS)"/>
              <a:sym typeface="Calibri (MS)"/>
              <a:rtl/>
            </a:endParaRPr>
          </a:p>
          <a:p>
            <a:pPr algn="r" rtl="1">
              <a:lnSpc>
                <a:spcPts val="2497"/>
              </a:lnSpc>
            </a:pPr>
            <a:r>
              <a:rPr lang="he-IL" sz="2499" b="1">
                <a:solidFill>
                  <a:srgbClr val="070404"/>
                </a:solidFill>
                <a:latin typeface="Calibri (MS) Bold"/>
                <a:ea typeface="Calibri (MS) Bold"/>
                <a:cs typeface="Calibri (MS) Bold"/>
                <a:sym typeface="Calibri (MS) Bold"/>
                <a:rtl/>
              </a:rPr>
              <a:t>תקומת הסטארט-אפים של עוטף עזה </a:t>
            </a:r>
          </a:p>
          <a:p>
            <a:pPr algn="l">
              <a:lnSpc>
                <a:spcPts val="2497"/>
              </a:lnSpc>
            </a:pPr>
            <a:endParaRPr lang="he-IL" sz="2499" b="1">
              <a:solidFill>
                <a:srgbClr val="070404"/>
              </a:solidFill>
              <a:latin typeface="Calibri (MS) Bold"/>
              <a:ea typeface="Calibri (MS) Bold"/>
              <a:cs typeface="Calibri (MS) Bold"/>
              <a:sym typeface="Calibri (MS) Bold"/>
              <a:rtl/>
            </a:endParaRPr>
          </a:p>
          <a:p>
            <a:pPr algn="l">
              <a:lnSpc>
                <a:spcPts val="24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u="sng">
                <a:solidFill>
                  <a:srgbClr val="FF8C0A"/>
                </a:solidFill>
                <a:latin typeface="Calibri (MS) Bold"/>
                <a:ea typeface="Calibri (MS) Bold"/>
                <a:cs typeface="Calibri (MS) Bold"/>
                <a:sym typeface="Calibri (MS) Bold"/>
                <a:hlinkClick r:id="rId6" tooltip="https://www.themarker.com/weekend/2025-04-11/ty-article-magazine/.highlight/00000196-157b-d294-ad97-bf7f59450000"/>
                <a:rtl/>
              </a:rPr>
              <a:t>לכתבה </a:t>
            </a:r>
          </a:p>
        </p:txBody>
      </p:sp>
      <p:sp>
        <p:nvSpPr>
          <p:cNvPr id="21" name="TextBox 21"/>
          <p:cNvSpPr txBox="1"/>
          <p:nvPr/>
        </p:nvSpPr>
        <p:spPr>
          <a:xfrm>
            <a:off x="1719801" y="7362255"/>
            <a:ext cx="4078639" cy="2345298"/>
          </a:xfrm>
          <a:prstGeom prst="rect">
            <a:avLst/>
          </a:prstGeom>
        </p:spPr>
        <p:txBody>
          <a:bodyPr lIns="0" tIns="0" rIns="0" bIns="0" rtlCol="0" anchor="t">
            <a:spAutoFit/>
          </a:bodyPr>
          <a:lstStyle/>
          <a:p>
            <a:pPr algn="r" rtl="1">
              <a:lnSpc>
                <a:spcPts val="2697"/>
              </a:lnSpc>
            </a:pPr>
            <a:r>
              <a:rPr lang="en-US" sz="2699">
                <a:solidFill>
                  <a:srgbClr val="000000"/>
                </a:solidFill>
                <a:latin typeface="Calibri (MS)"/>
                <a:ea typeface="Calibri (MS)"/>
                <a:cs typeface="Calibri (MS)"/>
                <a:sym typeface="Calibri (MS)"/>
              </a:rPr>
              <a:t>10</a:t>
            </a:r>
            <a:r>
              <a:rPr lang="he-IL" sz="2699">
                <a:solidFill>
                  <a:srgbClr val="000000"/>
                </a:solidFill>
                <a:latin typeface="Calibri (MS)"/>
                <a:ea typeface="Calibri (MS)"/>
                <a:cs typeface="Calibri (MS)"/>
                <a:sym typeface="Calibri (MS)"/>
                <a:rtl/>
              </a:rPr>
              <a:t> באוקטובר, </a:t>
            </a:r>
            <a:r>
              <a:rPr lang="en-US" sz="2699">
                <a:solidFill>
                  <a:srgbClr val="000000"/>
                </a:solidFill>
                <a:latin typeface="Calibri (MS)"/>
                <a:ea typeface="Calibri (MS)"/>
                <a:cs typeface="Calibri (MS)"/>
                <a:sym typeface="Calibri (MS)"/>
              </a:rPr>
              <a:t>2024</a:t>
            </a:r>
            <a:r>
              <a:rPr lang="ar-EG" sz="2699">
                <a:solidFill>
                  <a:srgbClr val="000000"/>
                </a:solidFill>
                <a:latin typeface="Calibri (MS)"/>
                <a:ea typeface="Calibri (MS)"/>
                <a:cs typeface="Calibri (MS)"/>
                <a:sym typeface="Calibri (MS)"/>
                <a:rtl/>
              </a:rPr>
              <a:t> </a:t>
            </a:r>
          </a:p>
          <a:p>
            <a:pPr algn="r" rtl="1">
              <a:lnSpc>
                <a:spcPts val="2697"/>
              </a:lnSpc>
            </a:pPr>
            <a:r>
              <a:rPr lang="en-US" sz="2699">
                <a:solidFill>
                  <a:srgbClr val="000000"/>
                </a:solidFill>
                <a:latin typeface="Calibri (MS)"/>
                <a:ea typeface="Calibri (MS)"/>
                <a:cs typeface="Calibri (MS)"/>
                <a:sym typeface="Calibri (MS)"/>
              </a:rPr>
              <a:t>N12</a:t>
            </a:r>
          </a:p>
          <a:p>
            <a:pPr algn="r" rtl="1">
              <a:lnSpc>
                <a:spcPts val="2697"/>
              </a:lnSpc>
            </a:pPr>
            <a:endParaRPr lang="en-US" sz="2699">
              <a:solidFill>
                <a:srgbClr val="000000"/>
              </a:solidFill>
              <a:latin typeface="Calibri (MS)"/>
              <a:ea typeface="Calibri (MS)"/>
              <a:cs typeface="Calibri (MS)"/>
              <a:sym typeface="Calibri (MS)"/>
            </a:endParaRPr>
          </a:p>
          <a:p>
            <a:pPr algn="r" rtl="1">
              <a:lnSpc>
                <a:spcPts val="2497"/>
              </a:lnSpc>
            </a:pPr>
            <a:r>
              <a:rPr lang="he-IL" sz="2499" b="1">
                <a:solidFill>
                  <a:srgbClr val="070404"/>
                </a:solidFill>
                <a:latin typeface="Calibri (MS) Bold"/>
                <a:ea typeface="Calibri (MS) Bold"/>
                <a:cs typeface="Calibri (MS) Bold"/>
                <a:sym typeface="Calibri (MS) Bold"/>
                <a:rtl/>
              </a:rPr>
              <a:t>תחייתו של המיזם הייחודי בעוטף עזה</a:t>
            </a:r>
          </a:p>
          <a:p>
            <a:pPr algn="l">
              <a:lnSpc>
                <a:spcPts val="24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u="sng">
                <a:solidFill>
                  <a:srgbClr val="FF8C0A"/>
                </a:solidFill>
                <a:latin typeface="Calibri (MS) Bold"/>
                <a:ea typeface="Calibri (MS) Bold"/>
                <a:cs typeface="Calibri (MS) Bold"/>
                <a:sym typeface="Calibri (MS) Bold"/>
                <a:hlinkClick r:id="rId7" tooltip="https://www.mako.co.il/news-n12_magazine/7c2e4b3aeab21910/Article-104d2a0006b1291026.htm"/>
                <a:rtl/>
              </a:rPr>
              <a:t>לכתבה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70363" y="504825"/>
            <a:ext cx="4179962" cy="2600467"/>
          </a:xfrm>
          <a:custGeom>
            <a:avLst/>
            <a:gdLst/>
            <a:ahLst/>
            <a:cxnLst/>
            <a:rect l="l" t="t" r="r" b="b"/>
            <a:pathLst>
              <a:path w="4179962" h="2600467">
                <a:moveTo>
                  <a:pt x="0" y="0"/>
                </a:moveTo>
                <a:lnTo>
                  <a:pt x="4179962" y="0"/>
                </a:lnTo>
                <a:lnTo>
                  <a:pt x="4179962" y="2600467"/>
                </a:lnTo>
                <a:lnTo>
                  <a:pt x="0" y="2600467"/>
                </a:lnTo>
                <a:lnTo>
                  <a:pt x="0" y="0"/>
                </a:lnTo>
                <a:close/>
              </a:path>
            </a:pathLst>
          </a:custGeom>
          <a:blipFill>
            <a:blip r:embed="rId2"/>
            <a:stretch>
              <a:fillRect l="-9126" r="-3511"/>
            </a:stretch>
          </a:blipFill>
        </p:spPr>
        <p:txBody>
          <a:bodyPr/>
          <a:lstStyle/>
          <a:p>
            <a:endParaRPr lang="he-IL"/>
          </a:p>
        </p:txBody>
      </p:sp>
      <p:sp>
        <p:nvSpPr>
          <p:cNvPr id="3" name="Freeform 3"/>
          <p:cNvSpPr/>
          <p:nvPr/>
        </p:nvSpPr>
        <p:spPr>
          <a:xfrm>
            <a:off x="7130936" y="409575"/>
            <a:ext cx="4043022" cy="2600467"/>
          </a:xfrm>
          <a:custGeom>
            <a:avLst/>
            <a:gdLst/>
            <a:ahLst/>
            <a:cxnLst/>
            <a:rect l="l" t="t" r="r" b="b"/>
            <a:pathLst>
              <a:path w="4043022" h="2600467">
                <a:moveTo>
                  <a:pt x="0" y="0"/>
                </a:moveTo>
                <a:lnTo>
                  <a:pt x="4043022" y="0"/>
                </a:lnTo>
                <a:lnTo>
                  <a:pt x="4043022" y="2600467"/>
                </a:lnTo>
                <a:lnTo>
                  <a:pt x="0" y="2600467"/>
                </a:lnTo>
                <a:lnTo>
                  <a:pt x="0" y="0"/>
                </a:lnTo>
                <a:close/>
              </a:path>
            </a:pathLst>
          </a:custGeom>
          <a:blipFill>
            <a:blip r:embed="rId3"/>
            <a:stretch>
              <a:fillRect t="-18899" b="-15778"/>
            </a:stretch>
          </a:blipFill>
        </p:spPr>
        <p:txBody>
          <a:bodyPr/>
          <a:lstStyle/>
          <a:p>
            <a:endParaRPr lang="he-IL"/>
          </a:p>
        </p:txBody>
      </p:sp>
      <p:sp>
        <p:nvSpPr>
          <p:cNvPr id="4" name="Freeform 4"/>
          <p:cNvSpPr/>
          <p:nvPr/>
        </p:nvSpPr>
        <p:spPr>
          <a:xfrm>
            <a:off x="1028700" y="485775"/>
            <a:ext cx="4377116" cy="2600467"/>
          </a:xfrm>
          <a:custGeom>
            <a:avLst/>
            <a:gdLst/>
            <a:ahLst/>
            <a:cxnLst/>
            <a:rect l="l" t="t" r="r" b="b"/>
            <a:pathLst>
              <a:path w="4377116" h="2600467">
                <a:moveTo>
                  <a:pt x="0" y="0"/>
                </a:moveTo>
                <a:lnTo>
                  <a:pt x="4377116" y="0"/>
                </a:lnTo>
                <a:lnTo>
                  <a:pt x="4377116" y="2600467"/>
                </a:lnTo>
                <a:lnTo>
                  <a:pt x="0" y="2600467"/>
                </a:lnTo>
                <a:lnTo>
                  <a:pt x="0" y="0"/>
                </a:lnTo>
                <a:close/>
              </a:path>
            </a:pathLst>
          </a:custGeom>
          <a:blipFill>
            <a:blip r:embed="rId4"/>
            <a:stretch>
              <a:fillRect l="-9846" r="-4130"/>
            </a:stretch>
          </a:blipFill>
        </p:spPr>
        <p:txBody>
          <a:bodyPr/>
          <a:lstStyle/>
          <a:p>
            <a:endParaRPr lang="he-IL"/>
          </a:p>
        </p:txBody>
      </p:sp>
      <p:sp>
        <p:nvSpPr>
          <p:cNvPr id="5" name="Freeform 5"/>
          <p:cNvSpPr/>
          <p:nvPr/>
        </p:nvSpPr>
        <p:spPr>
          <a:xfrm>
            <a:off x="14273374" y="5559775"/>
            <a:ext cx="3569319" cy="2739452"/>
          </a:xfrm>
          <a:custGeom>
            <a:avLst/>
            <a:gdLst/>
            <a:ahLst/>
            <a:cxnLst/>
            <a:rect l="l" t="t" r="r" b="b"/>
            <a:pathLst>
              <a:path w="3569319" h="2739452">
                <a:moveTo>
                  <a:pt x="0" y="0"/>
                </a:moveTo>
                <a:lnTo>
                  <a:pt x="3569319" y="0"/>
                </a:lnTo>
                <a:lnTo>
                  <a:pt x="3569319" y="2739452"/>
                </a:lnTo>
                <a:lnTo>
                  <a:pt x="0" y="2739452"/>
                </a:lnTo>
                <a:lnTo>
                  <a:pt x="0" y="0"/>
                </a:lnTo>
                <a:close/>
              </a:path>
            </a:pathLst>
          </a:custGeom>
          <a:blipFill>
            <a:blip r:embed="rId5"/>
            <a:stretch>
              <a:fillRect/>
            </a:stretch>
          </a:blipFill>
        </p:spPr>
        <p:txBody>
          <a:bodyPr/>
          <a:lstStyle/>
          <a:p>
            <a:endParaRPr lang="he-IL"/>
          </a:p>
        </p:txBody>
      </p:sp>
      <p:sp>
        <p:nvSpPr>
          <p:cNvPr id="6" name="Freeform 6"/>
          <p:cNvSpPr/>
          <p:nvPr/>
        </p:nvSpPr>
        <p:spPr>
          <a:xfrm>
            <a:off x="7270179" y="5609432"/>
            <a:ext cx="4442803" cy="2699320"/>
          </a:xfrm>
          <a:custGeom>
            <a:avLst/>
            <a:gdLst/>
            <a:ahLst/>
            <a:cxnLst/>
            <a:rect l="l" t="t" r="r" b="b"/>
            <a:pathLst>
              <a:path w="4442803" h="2699320">
                <a:moveTo>
                  <a:pt x="0" y="0"/>
                </a:moveTo>
                <a:lnTo>
                  <a:pt x="4442803" y="0"/>
                </a:lnTo>
                <a:lnTo>
                  <a:pt x="4442803" y="2699320"/>
                </a:lnTo>
                <a:lnTo>
                  <a:pt x="0" y="2699320"/>
                </a:lnTo>
                <a:lnTo>
                  <a:pt x="0" y="0"/>
                </a:lnTo>
                <a:close/>
              </a:path>
            </a:pathLst>
          </a:custGeom>
          <a:blipFill>
            <a:blip r:embed="rId6"/>
            <a:stretch>
              <a:fillRect l="-8253"/>
            </a:stretch>
          </a:blipFill>
        </p:spPr>
        <p:txBody>
          <a:bodyPr/>
          <a:lstStyle/>
          <a:p>
            <a:endParaRPr lang="he-IL"/>
          </a:p>
        </p:txBody>
      </p:sp>
      <p:sp>
        <p:nvSpPr>
          <p:cNvPr id="7" name="Freeform 7"/>
          <p:cNvSpPr/>
          <p:nvPr/>
        </p:nvSpPr>
        <p:spPr>
          <a:xfrm>
            <a:off x="1474887" y="5540725"/>
            <a:ext cx="3878468" cy="2661220"/>
          </a:xfrm>
          <a:custGeom>
            <a:avLst/>
            <a:gdLst/>
            <a:ahLst/>
            <a:cxnLst/>
            <a:rect l="l" t="t" r="r" b="b"/>
            <a:pathLst>
              <a:path w="3878468" h="2661220">
                <a:moveTo>
                  <a:pt x="0" y="0"/>
                </a:moveTo>
                <a:lnTo>
                  <a:pt x="3878468" y="0"/>
                </a:lnTo>
                <a:lnTo>
                  <a:pt x="3878468" y="2661220"/>
                </a:lnTo>
                <a:lnTo>
                  <a:pt x="0" y="2661220"/>
                </a:lnTo>
                <a:lnTo>
                  <a:pt x="0" y="0"/>
                </a:lnTo>
                <a:close/>
              </a:path>
            </a:pathLst>
          </a:custGeom>
          <a:blipFill>
            <a:blip r:embed="rId7"/>
            <a:stretch>
              <a:fillRect t="-25018" r="-2513" b="-25018"/>
            </a:stretch>
          </a:blipFill>
        </p:spPr>
        <p:txBody>
          <a:bodyPr/>
          <a:lstStyle/>
          <a:p>
            <a:endParaRPr lang="he-IL"/>
          </a:p>
        </p:txBody>
      </p:sp>
      <p:sp>
        <p:nvSpPr>
          <p:cNvPr id="8" name="TextBox 8"/>
          <p:cNvSpPr txBox="1"/>
          <p:nvPr/>
        </p:nvSpPr>
        <p:spPr>
          <a:xfrm>
            <a:off x="13490735" y="3162442"/>
            <a:ext cx="4078639" cy="2011923"/>
          </a:xfrm>
          <a:prstGeom prst="rect">
            <a:avLst/>
          </a:prstGeom>
        </p:spPr>
        <p:txBody>
          <a:bodyPr lIns="0" tIns="0" rIns="0" bIns="0" rtlCol="0" anchor="t">
            <a:spAutoFit/>
          </a:bodyPr>
          <a:lstStyle/>
          <a:p>
            <a:pPr algn="r" rtl="1">
              <a:lnSpc>
                <a:spcPts val="2697"/>
              </a:lnSpc>
            </a:pPr>
            <a:r>
              <a:rPr lang="en-US" sz="2699">
                <a:solidFill>
                  <a:srgbClr val="070404"/>
                </a:solidFill>
                <a:latin typeface="Calibri (MS)"/>
                <a:ea typeface="Calibri (MS)"/>
                <a:cs typeface="Calibri (MS)"/>
                <a:sym typeface="Calibri (MS)"/>
              </a:rPr>
              <a:t>10</a:t>
            </a:r>
            <a:r>
              <a:rPr lang="he-IL" sz="2699">
                <a:solidFill>
                  <a:srgbClr val="070404"/>
                </a:solidFill>
                <a:latin typeface="Calibri (MS)"/>
                <a:ea typeface="Calibri (MS)"/>
                <a:cs typeface="Calibri (MS)"/>
                <a:sym typeface="Calibri (MS)"/>
                <a:rtl/>
              </a:rPr>
              <a:t> ביוני, </a:t>
            </a:r>
            <a:r>
              <a:rPr lang="en-US" sz="2699">
                <a:solidFill>
                  <a:srgbClr val="070404"/>
                </a:solidFill>
                <a:latin typeface="Calibri (MS)"/>
                <a:ea typeface="Calibri (MS)"/>
                <a:cs typeface="Calibri (MS)"/>
                <a:sym typeface="Calibri (MS)"/>
              </a:rPr>
              <a:t>2025</a:t>
            </a:r>
          </a:p>
          <a:p>
            <a:pPr algn="r" rtl="1">
              <a:lnSpc>
                <a:spcPts val="2697"/>
              </a:lnSpc>
            </a:pPr>
            <a:r>
              <a:rPr lang="he-IL" sz="2699">
                <a:solidFill>
                  <a:srgbClr val="070404"/>
                </a:solidFill>
                <a:latin typeface="Calibri (MS)"/>
                <a:ea typeface="Calibri (MS)"/>
                <a:cs typeface="Calibri (MS)"/>
                <a:sym typeface="Calibri (MS)"/>
                <a:rtl/>
              </a:rPr>
              <a:t>הערוץ הכלכלי</a:t>
            </a:r>
          </a:p>
          <a:p>
            <a:pPr algn="r" rtl="1">
              <a:lnSpc>
                <a:spcPts val="2497"/>
              </a:lnSpc>
            </a:pPr>
            <a:endParaRPr lang="he-IL" sz="2699">
              <a:solidFill>
                <a:srgbClr val="070404"/>
              </a:solidFill>
              <a:latin typeface="Calibri (MS)"/>
              <a:ea typeface="Calibri (MS)"/>
              <a:cs typeface="Calibri (MS)"/>
              <a:sym typeface="Calibri (MS)"/>
              <a:rtl/>
            </a:endParaRPr>
          </a:p>
          <a:p>
            <a:pPr algn="r" rtl="1">
              <a:lnSpc>
                <a:spcPts val="2497"/>
              </a:lnSpc>
            </a:pPr>
            <a:r>
              <a:rPr lang="he-IL" sz="2499" b="1">
                <a:solidFill>
                  <a:srgbClr val="070404"/>
                </a:solidFill>
                <a:latin typeface="Calibri (MS) Bold"/>
                <a:ea typeface="Calibri (MS) Bold"/>
                <a:cs typeface="Calibri (MS) Bold"/>
                <a:sym typeface="Calibri (MS) Bold"/>
                <a:rtl/>
              </a:rPr>
              <a:t>הסטאראט-אפים חוזרים לעוטף</a:t>
            </a:r>
          </a:p>
          <a:p>
            <a:pPr algn="r" rtl="1">
              <a:lnSpc>
                <a:spcPts val="24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u="sng">
                <a:solidFill>
                  <a:srgbClr val="FF8C0A"/>
                </a:solidFill>
                <a:latin typeface="Calibri (MS) Bold"/>
                <a:ea typeface="Calibri (MS) Bold"/>
                <a:cs typeface="Calibri (MS) Bold"/>
                <a:sym typeface="Calibri (MS) Bold"/>
                <a:hlinkClick r:id="rId8" tooltip="https://www.linkedin.com/posts/southup1_%D7%92%D7%99%D7%9C-%D7%A9%D7%95%D7%95%D7%A8%D7%A6%D7%9E%D7%9F-%D7%9E%D7%A0%D7%9B%D7%9C-southup-%D7%94%D7%AA%D7%A8%D7%90%D7%99%D7%99%D7%9F-%D7%90%D7%A6%D7%9C-%D7%93%D7%A0%D7%99-ugcPost-7330180397256929283-IuLr?utm_source=share&amp;utm_medium=member_desktop&amp;rcm=ACoAAADJLBAB1D0To0nQrEC8_Bbe7soiSFUxsZ4"/>
                <a:rtl/>
              </a:rPr>
              <a:t>לכתבה </a:t>
            </a:r>
          </a:p>
        </p:txBody>
      </p:sp>
      <p:sp>
        <p:nvSpPr>
          <p:cNvPr id="9" name="TextBox 9"/>
          <p:cNvSpPr txBox="1"/>
          <p:nvPr/>
        </p:nvSpPr>
        <p:spPr>
          <a:xfrm>
            <a:off x="7073424" y="3124342"/>
            <a:ext cx="4078639" cy="2326248"/>
          </a:xfrm>
          <a:prstGeom prst="rect">
            <a:avLst/>
          </a:prstGeom>
        </p:spPr>
        <p:txBody>
          <a:bodyPr lIns="0" tIns="0" rIns="0" bIns="0" rtlCol="0" anchor="t">
            <a:spAutoFit/>
          </a:bodyPr>
          <a:lstStyle/>
          <a:p>
            <a:pPr algn="r" rtl="1">
              <a:lnSpc>
                <a:spcPts val="2697"/>
              </a:lnSpc>
            </a:pPr>
            <a:r>
              <a:rPr lang="en-US" sz="2699">
                <a:solidFill>
                  <a:srgbClr val="070404"/>
                </a:solidFill>
                <a:latin typeface="Calibri (MS)"/>
                <a:ea typeface="Calibri (MS)"/>
                <a:cs typeface="Calibri (MS)"/>
                <a:sym typeface="Calibri (MS)"/>
              </a:rPr>
              <a:t>10</a:t>
            </a:r>
            <a:r>
              <a:rPr lang="he-IL" sz="2699">
                <a:solidFill>
                  <a:srgbClr val="070404"/>
                </a:solidFill>
                <a:latin typeface="Calibri (MS)"/>
                <a:ea typeface="Calibri (MS)"/>
                <a:cs typeface="Calibri (MS)"/>
                <a:sym typeface="Calibri (MS)"/>
                <a:rtl/>
              </a:rPr>
              <a:t> באוגוסט, </a:t>
            </a:r>
            <a:r>
              <a:rPr lang="en-US" sz="2699">
                <a:solidFill>
                  <a:srgbClr val="070404"/>
                </a:solidFill>
                <a:latin typeface="Calibri (MS)"/>
                <a:ea typeface="Calibri (MS)"/>
                <a:cs typeface="Calibri (MS)"/>
                <a:sym typeface="Calibri (MS)"/>
              </a:rPr>
              <a:t>2025</a:t>
            </a:r>
            <a:r>
              <a:rPr lang="ar-EG" sz="2699">
                <a:solidFill>
                  <a:srgbClr val="070404"/>
                </a:solidFill>
                <a:latin typeface="Calibri (MS)"/>
                <a:ea typeface="Calibri (MS)"/>
                <a:cs typeface="Calibri (MS)"/>
                <a:sym typeface="Calibri (MS)"/>
                <a:rtl/>
              </a:rPr>
              <a:t> </a:t>
            </a:r>
          </a:p>
          <a:p>
            <a:pPr algn="r" rtl="1">
              <a:lnSpc>
                <a:spcPts val="2697"/>
              </a:lnSpc>
            </a:pPr>
            <a:r>
              <a:rPr lang="he-IL" sz="2699">
                <a:solidFill>
                  <a:srgbClr val="070404"/>
                </a:solidFill>
                <a:latin typeface="Calibri (MS)"/>
                <a:ea typeface="Calibri (MS)"/>
                <a:cs typeface="Calibri (MS)"/>
                <a:sym typeface="Calibri (MS)"/>
                <a:rtl/>
              </a:rPr>
              <a:t>גלובס</a:t>
            </a:r>
          </a:p>
          <a:p>
            <a:pPr algn="r" rtl="1">
              <a:lnSpc>
                <a:spcPts val="2497"/>
              </a:lnSpc>
            </a:pPr>
            <a:endParaRPr lang="he-IL" sz="2699">
              <a:solidFill>
                <a:srgbClr val="070404"/>
              </a:solidFill>
              <a:latin typeface="Calibri (MS)"/>
              <a:ea typeface="Calibri (MS)"/>
              <a:cs typeface="Calibri (MS)"/>
              <a:sym typeface="Calibri (MS)"/>
              <a:rtl/>
            </a:endParaRPr>
          </a:p>
          <a:p>
            <a:pPr algn="r" rtl="1">
              <a:lnSpc>
                <a:spcPts val="2497"/>
              </a:lnSpc>
            </a:pPr>
            <a:r>
              <a:rPr lang="he-IL" sz="2499" b="1">
                <a:solidFill>
                  <a:srgbClr val="070404"/>
                </a:solidFill>
                <a:latin typeface="Calibri (MS) Bold"/>
                <a:ea typeface="Calibri (MS) Bold"/>
                <a:cs typeface="Calibri (MS) Bold"/>
                <a:sym typeface="Calibri (MS) Bold"/>
                <a:rtl/>
              </a:rPr>
              <a:t>הוא התחיל כחקלאי וכיום מגדל סטארט-אפים בעוטף</a:t>
            </a:r>
          </a:p>
          <a:p>
            <a:pPr algn="r" rtl="1">
              <a:lnSpc>
                <a:spcPts val="24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u="sng">
                <a:solidFill>
                  <a:srgbClr val="FF8C0A"/>
                </a:solidFill>
                <a:latin typeface="Calibri (MS) Bold"/>
                <a:ea typeface="Calibri (MS) Bold"/>
                <a:cs typeface="Calibri (MS) Bold"/>
                <a:sym typeface="Calibri (MS) Bold"/>
                <a:hlinkClick r:id="rId9" tooltip="https://www.globes.co.il/news/article.aspx?did=1001486154"/>
                <a:rtl/>
              </a:rPr>
              <a:t>לכתבה </a:t>
            </a:r>
          </a:p>
        </p:txBody>
      </p:sp>
      <p:sp>
        <p:nvSpPr>
          <p:cNvPr id="10" name="TextBox 10"/>
          <p:cNvSpPr txBox="1"/>
          <p:nvPr/>
        </p:nvSpPr>
        <p:spPr>
          <a:xfrm>
            <a:off x="1346226" y="3133867"/>
            <a:ext cx="4078639" cy="2326248"/>
          </a:xfrm>
          <a:prstGeom prst="rect">
            <a:avLst/>
          </a:prstGeom>
        </p:spPr>
        <p:txBody>
          <a:bodyPr lIns="0" tIns="0" rIns="0" bIns="0" rtlCol="0" anchor="t">
            <a:spAutoFit/>
          </a:bodyPr>
          <a:lstStyle/>
          <a:p>
            <a:pPr algn="r" rtl="1">
              <a:lnSpc>
                <a:spcPts val="2697"/>
              </a:lnSpc>
            </a:pPr>
            <a:r>
              <a:rPr lang="en-US" sz="2699">
                <a:solidFill>
                  <a:srgbClr val="070404"/>
                </a:solidFill>
                <a:latin typeface="Calibri (MS)"/>
                <a:ea typeface="Calibri (MS)"/>
                <a:cs typeface="Calibri (MS)"/>
                <a:sym typeface="Calibri (MS)"/>
              </a:rPr>
              <a:t>13</a:t>
            </a:r>
            <a:r>
              <a:rPr lang="he-IL" sz="2699">
                <a:solidFill>
                  <a:srgbClr val="070404"/>
                </a:solidFill>
                <a:latin typeface="Calibri (MS)"/>
                <a:ea typeface="Calibri (MS)"/>
                <a:cs typeface="Calibri (MS)"/>
                <a:sym typeface="Calibri (MS)"/>
                <a:rtl/>
              </a:rPr>
              <a:t> במאי, </a:t>
            </a:r>
            <a:r>
              <a:rPr lang="en-US" sz="2699">
                <a:solidFill>
                  <a:srgbClr val="070404"/>
                </a:solidFill>
                <a:latin typeface="Calibri (MS)"/>
                <a:ea typeface="Calibri (MS)"/>
                <a:cs typeface="Calibri (MS)"/>
                <a:sym typeface="Calibri (MS)"/>
              </a:rPr>
              <a:t>2025</a:t>
            </a:r>
            <a:r>
              <a:rPr lang="ar-EG" sz="2699">
                <a:solidFill>
                  <a:srgbClr val="070404"/>
                </a:solidFill>
                <a:latin typeface="Calibri (MS)"/>
                <a:ea typeface="Calibri (MS)"/>
                <a:cs typeface="Calibri (MS)"/>
                <a:sym typeface="Calibri (MS)"/>
                <a:rtl/>
              </a:rPr>
              <a:t>  </a:t>
            </a:r>
          </a:p>
          <a:p>
            <a:pPr algn="r" rtl="1">
              <a:lnSpc>
                <a:spcPts val="2697"/>
              </a:lnSpc>
            </a:pPr>
            <a:r>
              <a:rPr lang="he-IL" sz="2699">
                <a:solidFill>
                  <a:srgbClr val="000000"/>
                </a:solidFill>
                <a:latin typeface="Calibri (MS)"/>
                <a:ea typeface="Calibri (MS)"/>
                <a:cs typeface="Calibri (MS)"/>
                <a:sym typeface="Calibri (MS)"/>
                <a:rtl/>
              </a:rPr>
              <a:t>וואלה </a:t>
            </a:r>
          </a:p>
          <a:p>
            <a:pPr algn="r" rtl="1">
              <a:lnSpc>
                <a:spcPts val="2497"/>
              </a:lnSpc>
            </a:pPr>
            <a:endParaRPr lang="he-IL" sz="2699">
              <a:solidFill>
                <a:srgbClr val="000000"/>
              </a:solidFill>
              <a:latin typeface="Calibri (MS)"/>
              <a:ea typeface="Calibri (MS)"/>
              <a:cs typeface="Calibri (MS)"/>
              <a:sym typeface="Calibri (MS)"/>
              <a:rtl/>
            </a:endParaRPr>
          </a:p>
          <a:p>
            <a:pPr algn="r" rtl="1">
              <a:lnSpc>
                <a:spcPts val="2497"/>
              </a:lnSpc>
            </a:pPr>
            <a:r>
              <a:rPr lang="he-IL" sz="2499" b="1">
                <a:solidFill>
                  <a:srgbClr val="070404"/>
                </a:solidFill>
                <a:latin typeface="Calibri (MS) Bold"/>
                <a:ea typeface="Calibri (MS) Bold"/>
                <a:cs typeface="Calibri (MS) Bold"/>
                <a:sym typeface="Calibri (MS) Bold"/>
                <a:rtl/>
              </a:rPr>
              <a:t>הונחה אבן פינה במרכז שחזה ראש מועצת שער הנגב</a:t>
            </a:r>
          </a:p>
          <a:p>
            <a:pPr algn="r" rtl="1">
              <a:lnSpc>
                <a:spcPts val="2497"/>
              </a:lnSpc>
            </a:pPr>
            <a:endParaRPr lang="he-IL" sz="2499" b="1">
              <a:solidFill>
                <a:srgbClr val="070404"/>
              </a:solidFill>
              <a:latin typeface="Calibri (MS) Bold"/>
              <a:ea typeface="Calibri (MS) Bold"/>
              <a:cs typeface="Calibri (MS) Bold"/>
              <a:sym typeface="Calibri (MS) Bold"/>
              <a:rtl/>
            </a:endParaRPr>
          </a:p>
          <a:p>
            <a:pPr algn="r" rtl="1">
              <a:lnSpc>
                <a:spcPts val="2698"/>
              </a:lnSpc>
            </a:pPr>
            <a:r>
              <a:rPr lang="he-IL" sz="2699" b="1" u="sng">
                <a:solidFill>
                  <a:srgbClr val="FF8C0A"/>
                </a:solidFill>
                <a:latin typeface="Calibri (MS) Bold"/>
                <a:ea typeface="Calibri (MS) Bold"/>
                <a:cs typeface="Calibri (MS) Bold"/>
                <a:sym typeface="Calibri (MS) Bold"/>
                <a:hlinkClick r:id="rId10" tooltip="https://news.walla.co.il/item/3749321"/>
                <a:rtl/>
              </a:rPr>
              <a:t>לכתבה </a:t>
            </a:r>
          </a:p>
        </p:txBody>
      </p:sp>
      <p:sp>
        <p:nvSpPr>
          <p:cNvPr id="11" name="TextBox 11"/>
          <p:cNvSpPr txBox="1"/>
          <p:nvPr/>
        </p:nvSpPr>
        <p:spPr>
          <a:xfrm>
            <a:off x="13922887" y="8299227"/>
            <a:ext cx="3911026" cy="1929607"/>
          </a:xfrm>
          <a:prstGeom prst="rect">
            <a:avLst/>
          </a:prstGeom>
        </p:spPr>
        <p:txBody>
          <a:bodyPr lIns="0" tIns="0" rIns="0" bIns="0" rtlCol="0" anchor="t">
            <a:spAutoFit/>
          </a:bodyPr>
          <a:lstStyle/>
          <a:p>
            <a:pPr algn="r" rtl="1">
              <a:lnSpc>
                <a:spcPts val="2084"/>
              </a:lnSpc>
            </a:pPr>
            <a:r>
              <a:rPr lang="en-US" sz="2086">
                <a:solidFill>
                  <a:srgbClr val="000000"/>
                </a:solidFill>
                <a:latin typeface="Calibri (MS)"/>
                <a:ea typeface="Calibri (MS)"/>
                <a:cs typeface="Calibri (MS)"/>
                <a:sym typeface="Calibri (MS)"/>
              </a:rPr>
              <a:t>10</a:t>
            </a:r>
            <a:r>
              <a:rPr lang="he-IL" sz="2086">
                <a:solidFill>
                  <a:srgbClr val="000000"/>
                </a:solidFill>
                <a:latin typeface="Calibri (MS)"/>
                <a:ea typeface="Calibri (MS)"/>
                <a:cs typeface="Calibri (MS)"/>
                <a:sym typeface="Calibri (MS)"/>
                <a:rtl/>
              </a:rPr>
              <a:t> באפריל, </a:t>
            </a:r>
            <a:r>
              <a:rPr lang="en-US" sz="2086">
                <a:solidFill>
                  <a:srgbClr val="000000"/>
                </a:solidFill>
                <a:latin typeface="Calibri (MS)"/>
                <a:ea typeface="Calibri (MS)"/>
                <a:cs typeface="Calibri (MS)"/>
                <a:sym typeface="Calibri (MS)"/>
              </a:rPr>
              <a:t>2024</a:t>
            </a:r>
          </a:p>
          <a:p>
            <a:pPr algn="r" rtl="1">
              <a:lnSpc>
                <a:spcPts val="2084"/>
              </a:lnSpc>
            </a:pPr>
            <a:r>
              <a:rPr lang="he-IL" sz="2086">
                <a:solidFill>
                  <a:srgbClr val="000000"/>
                </a:solidFill>
                <a:latin typeface="Calibri (MS)"/>
                <a:ea typeface="Calibri (MS)"/>
                <a:cs typeface="Calibri (MS)"/>
                <a:sym typeface="Calibri (MS)"/>
                <a:rtl/>
              </a:rPr>
              <a:t>גלובס</a:t>
            </a:r>
          </a:p>
          <a:p>
            <a:pPr algn="r" rtl="1">
              <a:lnSpc>
                <a:spcPts val="1929"/>
              </a:lnSpc>
            </a:pPr>
            <a:endParaRPr lang="he-IL" sz="2086">
              <a:solidFill>
                <a:srgbClr val="000000"/>
              </a:solidFill>
              <a:latin typeface="Calibri (MS)"/>
              <a:ea typeface="Calibri (MS)"/>
              <a:cs typeface="Calibri (MS)"/>
              <a:sym typeface="Calibri (MS)"/>
              <a:rtl/>
            </a:endParaRPr>
          </a:p>
          <a:p>
            <a:pPr algn="r" rtl="1">
              <a:lnSpc>
                <a:spcPts val="2529"/>
              </a:lnSpc>
            </a:pPr>
            <a:r>
              <a:rPr lang="he-IL" sz="2531" b="1">
                <a:solidFill>
                  <a:srgbClr val="000000"/>
                </a:solidFill>
                <a:latin typeface="Calibri (MS) Bold"/>
                <a:ea typeface="Calibri (MS) Bold"/>
                <a:cs typeface="Calibri (MS) Bold"/>
                <a:sym typeface="Calibri (MS) Bold"/>
                <a:rtl/>
              </a:rPr>
              <a:t>חממת </a:t>
            </a:r>
            <a:r>
              <a:rPr lang="en-US" sz="2531" b="1">
                <a:solidFill>
                  <a:srgbClr val="000000"/>
                </a:solidFill>
                <a:latin typeface="Calibri (MS) Bold"/>
                <a:ea typeface="Calibri (MS) Bold"/>
                <a:cs typeface="Calibri (MS) Bold"/>
                <a:sym typeface="Calibri (MS) Bold"/>
              </a:rPr>
              <a:t>SouthUp</a:t>
            </a:r>
            <a:r>
              <a:rPr lang="he-IL" sz="2531" b="1">
                <a:solidFill>
                  <a:srgbClr val="000000"/>
                </a:solidFill>
                <a:latin typeface="Calibri (MS) Bold"/>
                <a:ea typeface="Calibri (MS) Bold"/>
                <a:cs typeface="Calibri (MS) Bold"/>
                <a:sym typeface="Calibri (MS) Bold"/>
                <a:rtl/>
              </a:rPr>
              <a:t> מקימה קרן אימפקט</a:t>
            </a:r>
          </a:p>
          <a:p>
            <a:pPr algn="r" rtl="1">
              <a:lnSpc>
                <a:spcPts val="1929"/>
              </a:lnSpc>
            </a:pPr>
            <a:endParaRPr lang="he-IL" sz="2531" b="1">
              <a:solidFill>
                <a:srgbClr val="000000"/>
              </a:solidFill>
              <a:latin typeface="Calibri (MS) Bold"/>
              <a:ea typeface="Calibri (MS) Bold"/>
              <a:cs typeface="Calibri (MS) Bold"/>
              <a:sym typeface="Calibri (MS) Bold"/>
              <a:rtl/>
            </a:endParaRPr>
          </a:p>
          <a:p>
            <a:pPr algn="r" rtl="1">
              <a:lnSpc>
                <a:spcPts val="2085"/>
              </a:lnSpc>
            </a:pPr>
            <a:r>
              <a:rPr lang="he-IL" sz="2086" b="1" u="sng">
                <a:solidFill>
                  <a:srgbClr val="FF8C0A"/>
                </a:solidFill>
                <a:latin typeface="Calibri (MS) Bold"/>
                <a:ea typeface="Calibri (MS) Bold"/>
                <a:cs typeface="Calibri (MS) Bold"/>
                <a:sym typeface="Calibri (MS) Bold"/>
                <a:hlinkClick r:id="rId11" tooltip="https://www.globes.co.il/news/article.aspx?did=1001476059"/>
                <a:rtl/>
              </a:rPr>
              <a:t>לכתבה </a:t>
            </a:r>
          </a:p>
        </p:txBody>
      </p:sp>
      <p:sp>
        <p:nvSpPr>
          <p:cNvPr id="12" name="TextBox 12"/>
          <p:cNvSpPr txBox="1"/>
          <p:nvPr/>
        </p:nvSpPr>
        <p:spPr>
          <a:xfrm>
            <a:off x="7146249" y="8413527"/>
            <a:ext cx="4566733" cy="1634332"/>
          </a:xfrm>
          <a:prstGeom prst="rect">
            <a:avLst/>
          </a:prstGeom>
        </p:spPr>
        <p:txBody>
          <a:bodyPr lIns="0" tIns="0" rIns="0" bIns="0" rtlCol="0" anchor="t">
            <a:spAutoFit/>
          </a:bodyPr>
          <a:lstStyle/>
          <a:p>
            <a:pPr algn="r" rtl="1">
              <a:lnSpc>
                <a:spcPts val="2084"/>
              </a:lnSpc>
            </a:pPr>
            <a:r>
              <a:rPr lang="en-US" sz="2086">
                <a:solidFill>
                  <a:srgbClr val="000000"/>
                </a:solidFill>
                <a:latin typeface="Calibri (MS)"/>
                <a:ea typeface="Calibri (MS)"/>
                <a:cs typeface="Calibri (MS)"/>
                <a:sym typeface="Calibri (MS)"/>
              </a:rPr>
              <a:t>22</a:t>
            </a:r>
            <a:r>
              <a:rPr lang="he-IL" sz="2086">
                <a:solidFill>
                  <a:srgbClr val="000000"/>
                </a:solidFill>
                <a:latin typeface="Calibri (MS)"/>
                <a:ea typeface="Calibri (MS)"/>
                <a:cs typeface="Calibri (MS)"/>
                <a:sym typeface="Calibri (MS)"/>
                <a:rtl/>
              </a:rPr>
              <a:t> בדצמבר, </a:t>
            </a:r>
            <a:r>
              <a:rPr lang="en-US" sz="2086">
                <a:solidFill>
                  <a:srgbClr val="000000"/>
                </a:solidFill>
                <a:latin typeface="Calibri (MS)"/>
                <a:ea typeface="Calibri (MS)"/>
                <a:cs typeface="Calibri (MS)"/>
                <a:sym typeface="Calibri (MS)"/>
              </a:rPr>
              <a:t>2023</a:t>
            </a:r>
            <a:r>
              <a:rPr lang="ar-EG" sz="2086">
                <a:solidFill>
                  <a:srgbClr val="000000"/>
                </a:solidFill>
                <a:latin typeface="Calibri (MS)"/>
                <a:ea typeface="Calibri (MS)"/>
                <a:cs typeface="Calibri (MS)"/>
                <a:sym typeface="Calibri (MS)"/>
                <a:rtl/>
              </a:rPr>
              <a:t> </a:t>
            </a:r>
          </a:p>
          <a:p>
            <a:pPr algn="r" rtl="1">
              <a:lnSpc>
                <a:spcPts val="2084"/>
              </a:lnSpc>
            </a:pPr>
            <a:r>
              <a:rPr lang="he-IL" sz="2086">
                <a:solidFill>
                  <a:srgbClr val="000000"/>
                </a:solidFill>
                <a:latin typeface="Calibri (MS)"/>
                <a:ea typeface="Calibri (MS)"/>
                <a:cs typeface="Calibri (MS)"/>
                <a:sym typeface="Calibri (MS)"/>
                <a:rtl/>
              </a:rPr>
              <a:t>כאן </a:t>
            </a:r>
            <a:r>
              <a:rPr lang="en-US" sz="2086">
                <a:solidFill>
                  <a:srgbClr val="000000"/>
                </a:solidFill>
                <a:latin typeface="Calibri (MS)"/>
                <a:ea typeface="Calibri (MS)"/>
                <a:cs typeface="Calibri (MS)"/>
                <a:sym typeface="Calibri (MS)"/>
              </a:rPr>
              <a:t>11</a:t>
            </a:r>
          </a:p>
          <a:p>
            <a:pPr algn="r" rtl="1">
              <a:lnSpc>
                <a:spcPts val="1929"/>
              </a:lnSpc>
            </a:pPr>
            <a:endParaRPr lang="en-US" sz="2086">
              <a:solidFill>
                <a:srgbClr val="000000"/>
              </a:solidFill>
              <a:latin typeface="Calibri (MS)"/>
              <a:ea typeface="Calibri (MS)"/>
              <a:cs typeface="Calibri (MS)"/>
              <a:sym typeface="Calibri (MS)"/>
            </a:endParaRPr>
          </a:p>
          <a:p>
            <a:pPr algn="r" rtl="1">
              <a:lnSpc>
                <a:spcPts val="2529"/>
              </a:lnSpc>
            </a:pPr>
            <a:r>
              <a:rPr lang="he-IL" sz="2531" b="1">
                <a:solidFill>
                  <a:srgbClr val="000000"/>
                </a:solidFill>
                <a:latin typeface="Calibri (MS) Bold"/>
                <a:ea typeface="Calibri (MS) Bold"/>
                <a:cs typeface="Calibri (MS) Bold"/>
                <a:sym typeface="Calibri (MS) Bold"/>
                <a:rtl/>
              </a:rPr>
              <a:t>האם החברות בעוטף יתאוששו?</a:t>
            </a:r>
          </a:p>
          <a:p>
            <a:pPr algn="r" rtl="1">
              <a:lnSpc>
                <a:spcPts val="2029"/>
              </a:lnSpc>
            </a:pPr>
            <a:endParaRPr lang="he-IL" sz="2531" b="1">
              <a:solidFill>
                <a:srgbClr val="000000"/>
              </a:solidFill>
              <a:latin typeface="Calibri (MS) Bold"/>
              <a:ea typeface="Calibri (MS) Bold"/>
              <a:cs typeface="Calibri (MS) Bold"/>
              <a:sym typeface="Calibri (MS) Bold"/>
              <a:rtl/>
            </a:endParaRPr>
          </a:p>
          <a:p>
            <a:pPr algn="r" rtl="1">
              <a:lnSpc>
                <a:spcPts val="2085"/>
              </a:lnSpc>
            </a:pPr>
            <a:r>
              <a:rPr lang="he-IL" sz="2086" b="1" u="sng">
                <a:solidFill>
                  <a:srgbClr val="FF8C0A"/>
                </a:solidFill>
                <a:latin typeface="Calibri (MS) Bold"/>
                <a:ea typeface="Calibri (MS) Bold"/>
                <a:cs typeface="Calibri (MS) Bold"/>
                <a:sym typeface="Calibri (MS) Bold"/>
                <a:hlinkClick r:id="rId12" tooltip="https://www.youtube.com/watch?v=6_mCQBbvBjA"/>
                <a:rtl/>
              </a:rPr>
              <a:t>לכתבה </a:t>
            </a:r>
          </a:p>
        </p:txBody>
      </p:sp>
      <p:sp>
        <p:nvSpPr>
          <p:cNvPr id="13" name="TextBox 13"/>
          <p:cNvSpPr txBox="1"/>
          <p:nvPr/>
        </p:nvSpPr>
        <p:spPr>
          <a:xfrm>
            <a:off x="786622" y="8308752"/>
            <a:ext cx="4566733" cy="1691482"/>
          </a:xfrm>
          <a:prstGeom prst="rect">
            <a:avLst/>
          </a:prstGeom>
        </p:spPr>
        <p:txBody>
          <a:bodyPr lIns="0" tIns="0" rIns="0" bIns="0" rtlCol="0" anchor="t">
            <a:spAutoFit/>
          </a:bodyPr>
          <a:lstStyle/>
          <a:p>
            <a:pPr algn="r" rtl="1">
              <a:lnSpc>
                <a:spcPts val="2084"/>
              </a:lnSpc>
            </a:pPr>
            <a:r>
              <a:rPr lang="en-US" sz="2086">
                <a:solidFill>
                  <a:srgbClr val="000000"/>
                </a:solidFill>
                <a:latin typeface="Calibri (MS)"/>
                <a:ea typeface="Calibri (MS)"/>
                <a:cs typeface="Calibri (MS)"/>
                <a:sym typeface="Calibri (MS)"/>
              </a:rPr>
              <a:t>23</a:t>
            </a:r>
            <a:r>
              <a:rPr lang="he-IL" sz="2086">
                <a:solidFill>
                  <a:srgbClr val="000000"/>
                </a:solidFill>
                <a:latin typeface="Calibri (MS)"/>
                <a:ea typeface="Calibri (MS)"/>
                <a:cs typeface="Calibri (MS)"/>
                <a:sym typeface="Calibri (MS)"/>
                <a:rtl/>
              </a:rPr>
              <a:t> באוקטובר, </a:t>
            </a:r>
            <a:r>
              <a:rPr lang="en-US" sz="2086">
                <a:solidFill>
                  <a:srgbClr val="000000"/>
                </a:solidFill>
                <a:latin typeface="Calibri (MS)"/>
                <a:ea typeface="Calibri (MS)"/>
                <a:cs typeface="Calibri (MS)"/>
                <a:sym typeface="Calibri (MS)"/>
              </a:rPr>
              <a:t>2023</a:t>
            </a:r>
            <a:r>
              <a:rPr lang="ar-EG" sz="2086">
                <a:solidFill>
                  <a:srgbClr val="000000"/>
                </a:solidFill>
                <a:latin typeface="Calibri (MS)"/>
                <a:ea typeface="Calibri (MS)"/>
                <a:cs typeface="Calibri (MS)"/>
                <a:sym typeface="Calibri (MS)"/>
                <a:rtl/>
              </a:rPr>
              <a:t> </a:t>
            </a:r>
          </a:p>
          <a:p>
            <a:pPr algn="r" rtl="1">
              <a:lnSpc>
                <a:spcPts val="2084"/>
              </a:lnSpc>
            </a:pPr>
            <a:r>
              <a:rPr lang="he-IL" sz="2086">
                <a:solidFill>
                  <a:srgbClr val="000000"/>
                </a:solidFill>
                <a:latin typeface="Calibri (MS)"/>
                <a:ea typeface="Calibri (MS)"/>
                <a:cs typeface="Calibri (MS)"/>
                <a:sym typeface="Calibri (MS)"/>
                <a:rtl/>
              </a:rPr>
              <a:t>ידיעות אחרונות</a:t>
            </a:r>
          </a:p>
          <a:p>
            <a:pPr algn="r" rtl="1">
              <a:lnSpc>
                <a:spcPts val="1929"/>
              </a:lnSpc>
            </a:pPr>
            <a:endParaRPr lang="he-IL" sz="2086">
              <a:solidFill>
                <a:srgbClr val="000000"/>
              </a:solidFill>
              <a:latin typeface="Calibri (MS)"/>
              <a:ea typeface="Calibri (MS)"/>
              <a:cs typeface="Calibri (MS)"/>
              <a:sym typeface="Calibri (MS)"/>
              <a:rtl/>
            </a:endParaRPr>
          </a:p>
          <a:p>
            <a:pPr algn="r" rtl="1">
              <a:lnSpc>
                <a:spcPts val="2529"/>
              </a:lnSpc>
            </a:pPr>
            <a:r>
              <a:rPr lang="he-IL" sz="2531" b="1">
                <a:solidFill>
                  <a:srgbClr val="000000"/>
                </a:solidFill>
                <a:latin typeface="Calibri (MS) Bold"/>
                <a:ea typeface="Calibri (MS) Bold"/>
                <a:cs typeface="Calibri (MS) Bold"/>
                <a:sym typeface="Calibri (MS) Bold"/>
                <a:rtl/>
              </a:rPr>
              <a:t>הרבש”צ של ההיי-טק </a:t>
            </a:r>
          </a:p>
          <a:p>
            <a:pPr algn="r" rtl="1">
              <a:lnSpc>
                <a:spcPts val="2529"/>
              </a:lnSpc>
            </a:pPr>
            <a:endParaRPr lang="he-IL" sz="2531" b="1">
              <a:solidFill>
                <a:srgbClr val="000000"/>
              </a:solidFill>
              <a:latin typeface="Calibri (MS) Bold"/>
              <a:ea typeface="Calibri (MS) Bold"/>
              <a:cs typeface="Calibri (MS) Bold"/>
              <a:sym typeface="Calibri (MS) Bold"/>
              <a:rtl/>
            </a:endParaRPr>
          </a:p>
          <a:p>
            <a:pPr algn="r" rtl="1">
              <a:lnSpc>
                <a:spcPts val="2085"/>
              </a:lnSpc>
            </a:pPr>
            <a:r>
              <a:rPr lang="he-IL" sz="2086" b="1" u="sng">
                <a:solidFill>
                  <a:srgbClr val="FF8C0A"/>
                </a:solidFill>
                <a:latin typeface="Calibri (MS) Bold"/>
                <a:ea typeface="Calibri (MS) Bold"/>
                <a:cs typeface="Calibri (MS) Bold"/>
                <a:sym typeface="Calibri (MS) Bold"/>
                <a:hlinkClick r:id="rId13" tooltip="https://www.ynet.co.il/digital/technology/article/hkoyn1dg6"/>
                <a:rtl/>
              </a:rPr>
              <a:t>לכתבה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9050"/>
            <a:ext cx="18783463" cy="4196514"/>
            <a:chOff x="0" y="0"/>
            <a:chExt cx="4947085" cy="1105255"/>
          </a:xfrm>
        </p:grpSpPr>
        <p:sp>
          <p:nvSpPr>
            <p:cNvPr id="3" name="Freeform 3"/>
            <p:cNvSpPr/>
            <p:nvPr/>
          </p:nvSpPr>
          <p:spPr>
            <a:xfrm>
              <a:off x="0" y="0"/>
              <a:ext cx="4947085" cy="1105255"/>
            </a:xfrm>
            <a:custGeom>
              <a:avLst/>
              <a:gdLst/>
              <a:ahLst/>
              <a:cxnLst/>
              <a:rect l="l" t="t" r="r" b="b"/>
              <a:pathLst>
                <a:path w="4947085" h="1105255">
                  <a:moveTo>
                    <a:pt x="0" y="0"/>
                  </a:moveTo>
                  <a:lnTo>
                    <a:pt x="4947085" y="0"/>
                  </a:lnTo>
                  <a:lnTo>
                    <a:pt x="4947085" y="1105255"/>
                  </a:lnTo>
                  <a:lnTo>
                    <a:pt x="0" y="1105255"/>
                  </a:lnTo>
                  <a:close/>
                </a:path>
              </a:pathLst>
            </a:custGeom>
            <a:solidFill>
              <a:srgbClr val="483F2B"/>
            </a:solidFill>
          </p:spPr>
          <p:txBody>
            <a:bodyPr/>
            <a:lstStyle/>
            <a:p>
              <a:endParaRPr lang="he-IL"/>
            </a:p>
          </p:txBody>
        </p:sp>
        <p:sp>
          <p:nvSpPr>
            <p:cNvPr id="4" name="TextBox 4"/>
            <p:cNvSpPr txBox="1"/>
            <p:nvPr/>
          </p:nvSpPr>
          <p:spPr>
            <a:xfrm>
              <a:off x="0" y="-47625"/>
              <a:ext cx="4947085" cy="115288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098613" y="3140889"/>
            <a:ext cx="2205073" cy="498268"/>
            <a:chOff x="0" y="0"/>
            <a:chExt cx="580760" cy="131231"/>
          </a:xfrm>
        </p:grpSpPr>
        <p:sp>
          <p:nvSpPr>
            <p:cNvPr id="6" name="Freeform 6"/>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7" name="TextBox 7"/>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אירועים בחממה</a:t>
              </a:r>
            </a:p>
          </p:txBody>
        </p:sp>
      </p:grpSp>
      <p:grpSp>
        <p:nvGrpSpPr>
          <p:cNvPr id="8" name="Group 8"/>
          <p:cNvGrpSpPr/>
          <p:nvPr/>
        </p:nvGrpSpPr>
        <p:grpSpPr>
          <a:xfrm>
            <a:off x="5162250" y="3121839"/>
            <a:ext cx="2205073" cy="498268"/>
            <a:chOff x="0" y="0"/>
            <a:chExt cx="580760" cy="131231"/>
          </a:xfrm>
        </p:grpSpPr>
        <p:sp>
          <p:nvSpPr>
            <p:cNvPr id="9" name="Freeform 9"/>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10" name="TextBox 10"/>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en-US" sz="1899">
                  <a:solidFill>
                    <a:srgbClr val="000000"/>
                  </a:solidFill>
                  <a:latin typeface="Arimo"/>
                  <a:ea typeface="Arimo"/>
                  <a:cs typeface="Arimo"/>
                  <a:sym typeface="Arimo"/>
                </a:rPr>
                <a:t>SouthUp</a:t>
              </a:r>
              <a:r>
                <a:rPr lang="he-IL" sz="1899">
                  <a:solidFill>
                    <a:srgbClr val="000000"/>
                  </a:solidFill>
                  <a:latin typeface="Arimo"/>
                  <a:ea typeface="Arimo"/>
                  <a:cs typeface="Arimo"/>
                  <a:sym typeface="Arimo"/>
                  <a:rtl/>
                </a:rPr>
                <a:t> בתקשורת</a:t>
              </a:r>
            </a:p>
          </p:txBody>
        </p:sp>
      </p:grpSp>
      <p:grpSp>
        <p:nvGrpSpPr>
          <p:cNvPr id="11" name="Group 11"/>
          <p:cNvGrpSpPr/>
          <p:nvPr/>
        </p:nvGrpSpPr>
        <p:grpSpPr>
          <a:xfrm>
            <a:off x="2102062" y="3121839"/>
            <a:ext cx="2205073" cy="498268"/>
            <a:chOff x="0" y="0"/>
            <a:chExt cx="580760" cy="131231"/>
          </a:xfrm>
        </p:grpSpPr>
        <p:sp>
          <p:nvSpPr>
            <p:cNvPr id="12" name="Freeform 12"/>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solidFill>
              <a:srgbClr val="FF8C0A"/>
            </a:solidFill>
            <a:ln w="19050" cap="rnd">
              <a:solidFill>
                <a:srgbClr val="EFE3E3"/>
              </a:solidFill>
              <a:prstDash val="sysDot"/>
              <a:round/>
            </a:ln>
          </p:spPr>
          <p:txBody>
            <a:bodyPr/>
            <a:lstStyle/>
            <a:p>
              <a:endParaRPr lang="he-IL"/>
            </a:p>
          </p:txBody>
        </p:sp>
        <p:sp>
          <p:nvSpPr>
            <p:cNvPr id="13" name="TextBox 13"/>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הניולזטר שלנו</a:t>
              </a:r>
            </a:p>
          </p:txBody>
        </p:sp>
      </p:grpSp>
      <p:sp>
        <p:nvSpPr>
          <p:cNvPr id="14" name="Freeform 14"/>
          <p:cNvSpPr/>
          <p:nvPr/>
        </p:nvSpPr>
        <p:spPr>
          <a:xfrm>
            <a:off x="15407834" y="6079821"/>
            <a:ext cx="2471267" cy="3178479"/>
          </a:xfrm>
          <a:custGeom>
            <a:avLst/>
            <a:gdLst/>
            <a:ahLst/>
            <a:cxnLst/>
            <a:rect l="l" t="t" r="r" b="b"/>
            <a:pathLst>
              <a:path w="2471267" h="3178479">
                <a:moveTo>
                  <a:pt x="0" y="0"/>
                </a:moveTo>
                <a:lnTo>
                  <a:pt x="2471268" y="0"/>
                </a:lnTo>
                <a:lnTo>
                  <a:pt x="2471268" y="3178479"/>
                </a:lnTo>
                <a:lnTo>
                  <a:pt x="0" y="3178479"/>
                </a:lnTo>
                <a:lnTo>
                  <a:pt x="0" y="0"/>
                </a:lnTo>
                <a:close/>
              </a:path>
            </a:pathLst>
          </a:custGeom>
          <a:blipFill>
            <a:blip r:embed="rId2"/>
            <a:stretch>
              <a:fillRect/>
            </a:stretch>
          </a:blipFill>
        </p:spPr>
        <p:txBody>
          <a:bodyPr/>
          <a:lstStyle/>
          <a:p>
            <a:endParaRPr lang="he-IL"/>
          </a:p>
        </p:txBody>
      </p:sp>
      <p:sp>
        <p:nvSpPr>
          <p:cNvPr id="15" name="Freeform 15"/>
          <p:cNvSpPr/>
          <p:nvPr/>
        </p:nvSpPr>
        <p:spPr>
          <a:xfrm>
            <a:off x="11420189" y="6079821"/>
            <a:ext cx="2471267" cy="3178479"/>
          </a:xfrm>
          <a:custGeom>
            <a:avLst/>
            <a:gdLst/>
            <a:ahLst/>
            <a:cxnLst/>
            <a:rect l="l" t="t" r="r" b="b"/>
            <a:pathLst>
              <a:path w="2471267" h="3178479">
                <a:moveTo>
                  <a:pt x="0" y="0"/>
                </a:moveTo>
                <a:lnTo>
                  <a:pt x="2471268" y="0"/>
                </a:lnTo>
                <a:lnTo>
                  <a:pt x="2471268" y="3178479"/>
                </a:lnTo>
                <a:lnTo>
                  <a:pt x="0" y="3178479"/>
                </a:lnTo>
                <a:lnTo>
                  <a:pt x="0" y="0"/>
                </a:lnTo>
                <a:close/>
              </a:path>
            </a:pathLst>
          </a:custGeom>
          <a:blipFill>
            <a:blip r:embed="rId2"/>
            <a:stretch>
              <a:fillRect/>
            </a:stretch>
          </a:blipFill>
        </p:spPr>
        <p:txBody>
          <a:bodyPr/>
          <a:lstStyle/>
          <a:p>
            <a:endParaRPr lang="he-IL"/>
          </a:p>
        </p:txBody>
      </p:sp>
      <p:sp>
        <p:nvSpPr>
          <p:cNvPr id="16" name="Freeform 16"/>
          <p:cNvSpPr/>
          <p:nvPr/>
        </p:nvSpPr>
        <p:spPr>
          <a:xfrm>
            <a:off x="7615422" y="6079821"/>
            <a:ext cx="2471267" cy="3178479"/>
          </a:xfrm>
          <a:custGeom>
            <a:avLst/>
            <a:gdLst/>
            <a:ahLst/>
            <a:cxnLst/>
            <a:rect l="l" t="t" r="r" b="b"/>
            <a:pathLst>
              <a:path w="2471267" h="3178479">
                <a:moveTo>
                  <a:pt x="0" y="0"/>
                </a:moveTo>
                <a:lnTo>
                  <a:pt x="2471267" y="0"/>
                </a:lnTo>
                <a:lnTo>
                  <a:pt x="2471267" y="3178479"/>
                </a:lnTo>
                <a:lnTo>
                  <a:pt x="0" y="3178479"/>
                </a:lnTo>
                <a:lnTo>
                  <a:pt x="0" y="0"/>
                </a:lnTo>
                <a:close/>
              </a:path>
            </a:pathLst>
          </a:custGeom>
          <a:blipFill>
            <a:blip r:embed="rId2"/>
            <a:stretch>
              <a:fillRect/>
            </a:stretch>
          </a:blipFill>
        </p:spPr>
        <p:txBody>
          <a:bodyPr/>
          <a:lstStyle/>
          <a:p>
            <a:endParaRPr lang="he-IL"/>
          </a:p>
        </p:txBody>
      </p:sp>
      <p:sp>
        <p:nvSpPr>
          <p:cNvPr id="17" name="Freeform 17"/>
          <p:cNvSpPr/>
          <p:nvPr/>
        </p:nvSpPr>
        <p:spPr>
          <a:xfrm>
            <a:off x="4098770" y="6079821"/>
            <a:ext cx="2471267" cy="3178479"/>
          </a:xfrm>
          <a:custGeom>
            <a:avLst/>
            <a:gdLst/>
            <a:ahLst/>
            <a:cxnLst/>
            <a:rect l="l" t="t" r="r" b="b"/>
            <a:pathLst>
              <a:path w="2471267" h="3178479">
                <a:moveTo>
                  <a:pt x="0" y="0"/>
                </a:moveTo>
                <a:lnTo>
                  <a:pt x="2471268" y="0"/>
                </a:lnTo>
                <a:lnTo>
                  <a:pt x="2471268" y="3178479"/>
                </a:lnTo>
                <a:lnTo>
                  <a:pt x="0" y="3178479"/>
                </a:lnTo>
                <a:lnTo>
                  <a:pt x="0" y="0"/>
                </a:lnTo>
                <a:close/>
              </a:path>
            </a:pathLst>
          </a:custGeom>
          <a:blipFill>
            <a:blip r:embed="rId2"/>
            <a:stretch>
              <a:fillRect/>
            </a:stretch>
          </a:blipFill>
        </p:spPr>
        <p:txBody>
          <a:bodyPr/>
          <a:lstStyle/>
          <a:p>
            <a:endParaRPr lang="he-IL"/>
          </a:p>
        </p:txBody>
      </p:sp>
      <p:sp>
        <p:nvSpPr>
          <p:cNvPr id="18" name="Freeform 18"/>
          <p:cNvSpPr/>
          <p:nvPr/>
        </p:nvSpPr>
        <p:spPr>
          <a:xfrm>
            <a:off x="589372" y="6089346"/>
            <a:ext cx="2175898" cy="3082137"/>
          </a:xfrm>
          <a:custGeom>
            <a:avLst/>
            <a:gdLst/>
            <a:ahLst/>
            <a:cxnLst/>
            <a:rect l="l" t="t" r="r" b="b"/>
            <a:pathLst>
              <a:path w="2175898" h="3082137">
                <a:moveTo>
                  <a:pt x="0" y="0"/>
                </a:moveTo>
                <a:lnTo>
                  <a:pt x="2175898" y="0"/>
                </a:lnTo>
                <a:lnTo>
                  <a:pt x="2175898" y="3082137"/>
                </a:lnTo>
                <a:lnTo>
                  <a:pt x="0" y="3082137"/>
                </a:lnTo>
                <a:lnTo>
                  <a:pt x="0" y="0"/>
                </a:lnTo>
                <a:close/>
              </a:path>
            </a:pathLst>
          </a:custGeom>
          <a:blipFill>
            <a:blip r:embed="rId3"/>
            <a:stretch>
              <a:fillRect l="-1613" r="-1613"/>
            </a:stretch>
          </a:blipFill>
        </p:spPr>
        <p:txBody>
          <a:bodyPr/>
          <a:lstStyle/>
          <a:p>
            <a:endParaRPr lang="he-IL"/>
          </a:p>
        </p:txBody>
      </p:sp>
      <p:sp>
        <p:nvSpPr>
          <p:cNvPr id="19" name="TextBox 19"/>
          <p:cNvSpPr txBox="1"/>
          <p:nvPr/>
        </p:nvSpPr>
        <p:spPr>
          <a:xfrm>
            <a:off x="10812804" y="666750"/>
            <a:ext cx="6762027" cy="2330573"/>
          </a:xfrm>
          <a:prstGeom prst="rect">
            <a:avLst/>
          </a:prstGeom>
        </p:spPr>
        <p:txBody>
          <a:bodyPr lIns="0" tIns="0" rIns="0" bIns="0" rtlCol="0" anchor="t">
            <a:spAutoFit/>
          </a:bodyPr>
          <a:lstStyle/>
          <a:p>
            <a:pPr algn="r" rtl="1">
              <a:lnSpc>
                <a:spcPts val="8363"/>
              </a:lnSpc>
            </a:pPr>
            <a:r>
              <a:rPr lang="he-IL" sz="8199" b="1" spc="-213">
                <a:solidFill>
                  <a:srgbClr val="FF8700"/>
                </a:solidFill>
                <a:latin typeface="Calibri (MS) Bold"/>
                <a:ea typeface="Calibri (MS) Bold"/>
                <a:cs typeface="Calibri (MS) Bold"/>
                <a:sym typeface="Calibri (MS) Bold"/>
                <a:rtl/>
              </a:rPr>
              <a:t>חדשות </a:t>
            </a:r>
          </a:p>
          <a:p>
            <a:pPr algn="r" rtl="1">
              <a:lnSpc>
                <a:spcPts val="8363"/>
              </a:lnSpc>
            </a:pPr>
            <a:r>
              <a:rPr lang="he-IL" sz="8199" b="1" spc="-213">
                <a:solidFill>
                  <a:srgbClr val="FFFFFF"/>
                </a:solidFill>
                <a:latin typeface="Calibri (MS) Bold"/>
                <a:ea typeface="Calibri (MS) Bold"/>
                <a:cs typeface="Calibri (MS) Bold"/>
                <a:sym typeface="Calibri (MS) Bold"/>
                <a:rtl/>
              </a:rPr>
              <a:t>ואירועים </a:t>
            </a:r>
          </a:p>
        </p:txBody>
      </p:sp>
      <p:sp>
        <p:nvSpPr>
          <p:cNvPr id="20" name="TextBox 20"/>
          <p:cNvSpPr txBox="1"/>
          <p:nvPr/>
        </p:nvSpPr>
        <p:spPr>
          <a:xfrm>
            <a:off x="15407834" y="4451864"/>
            <a:ext cx="2471267" cy="1383273"/>
          </a:xfrm>
          <a:prstGeom prst="rect">
            <a:avLst/>
          </a:prstGeom>
        </p:spPr>
        <p:txBody>
          <a:bodyPr lIns="0" tIns="0" rIns="0" bIns="0" rtlCol="0" anchor="t">
            <a:spAutoFit/>
          </a:bodyPr>
          <a:lstStyle/>
          <a:p>
            <a:pPr algn="r" rtl="1">
              <a:lnSpc>
                <a:spcPts val="2697"/>
              </a:lnSpc>
            </a:pPr>
            <a:r>
              <a:rPr lang="he-IL" sz="2699">
                <a:solidFill>
                  <a:srgbClr val="000000"/>
                </a:solidFill>
                <a:latin typeface="Calibri (MS)"/>
                <a:ea typeface="Calibri (MS)"/>
                <a:cs typeface="Calibri (MS)"/>
                <a:sym typeface="Calibri (MS)"/>
                <a:rtl/>
              </a:rPr>
              <a:t>ניוזלטר מס’ </a:t>
            </a:r>
            <a:r>
              <a:rPr lang="en-US" sz="2699">
                <a:solidFill>
                  <a:srgbClr val="000000"/>
                </a:solidFill>
                <a:latin typeface="Calibri (MS)"/>
                <a:ea typeface="Calibri (MS)"/>
                <a:cs typeface="Calibri (MS)"/>
                <a:sym typeface="Calibri (MS)"/>
              </a:rPr>
              <a:t>1</a:t>
            </a:r>
            <a:r>
              <a:rPr lang="ar-EG" sz="2699">
                <a:solidFill>
                  <a:srgbClr val="000000"/>
                </a:solidFill>
                <a:latin typeface="Calibri (MS)"/>
                <a:ea typeface="Calibri (MS)"/>
                <a:cs typeface="Calibri (MS)"/>
                <a:sym typeface="Calibri (MS)"/>
                <a:rtl/>
              </a:rPr>
              <a:t> </a:t>
            </a:r>
          </a:p>
          <a:p>
            <a:pPr algn="r" rtl="1">
              <a:lnSpc>
                <a:spcPts val="2697"/>
              </a:lnSpc>
            </a:pPr>
            <a:r>
              <a:rPr lang="he-IL" sz="2699">
                <a:solidFill>
                  <a:srgbClr val="000000"/>
                </a:solidFill>
                <a:latin typeface="Calibri (MS)"/>
                <a:ea typeface="Calibri (MS)"/>
                <a:cs typeface="Calibri (MS)"/>
                <a:sym typeface="Calibri (MS)"/>
                <a:rtl/>
              </a:rPr>
              <a:t>ינואר </a:t>
            </a:r>
            <a:r>
              <a:rPr lang="en-US" sz="2699">
                <a:solidFill>
                  <a:srgbClr val="000000"/>
                </a:solidFill>
                <a:latin typeface="Calibri (MS)"/>
                <a:ea typeface="Calibri (MS)"/>
                <a:cs typeface="Calibri (MS)"/>
                <a:sym typeface="Calibri (MS)"/>
              </a:rPr>
              <a:t>2025</a:t>
            </a:r>
          </a:p>
          <a:p>
            <a:pPr algn="l">
              <a:lnSpc>
                <a:spcPts val="2497"/>
              </a:lnSpc>
            </a:pPr>
            <a:endParaRPr lang="en-US" sz="2699">
              <a:solidFill>
                <a:srgbClr val="000000"/>
              </a:solidFill>
              <a:latin typeface="Calibri (MS)"/>
              <a:ea typeface="Calibri (MS)"/>
              <a:cs typeface="Calibri (MS)"/>
              <a:sym typeface="Calibri (MS)"/>
            </a:endParaRPr>
          </a:p>
          <a:p>
            <a:pPr algn="r" rtl="1">
              <a:lnSpc>
                <a:spcPts val="2698"/>
              </a:lnSpc>
            </a:pPr>
            <a:r>
              <a:rPr lang="he-IL" sz="2699" b="1" u="sng">
                <a:solidFill>
                  <a:srgbClr val="0F55F1"/>
                </a:solidFill>
                <a:latin typeface="Calibri (MS) Bold"/>
                <a:ea typeface="Calibri (MS) Bold"/>
                <a:cs typeface="Calibri (MS) Bold"/>
                <a:sym typeface="Calibri (MS) Bold"/>
                <a:hlinkClick r:id="rId4" tooltip="https://mailchi.mp/88ec3a37fc3f/southup-newsletter-jan-2025"/>
                <a:rtl/>
              </a:rPr>
              <a:t>להורדה</a:t>
            </a:r>
          </a:p>
        </p:txBody>
      </p:sp>
      <p:sp>
        <p:nvSpPr>
          <p:cNvPr id="21" name="TextBox 21"/>
          <p:cNvSpPr txBox="1"/>
          <p:nvPr/>
        </p:nvSpPr>
        <p:spPr>
          <a:xfrm>
            <a:off x="11420189" y="4451864"/>
            <a:ext cx="2471267" cy="1383273"/>
          </a:xfrm>
          <a:prstGeom prst="rect">
            <a:avLst/>
          </a:prstGeom>
        </p:spPr>
        <p:txBody>
          <a:bodyPr lIns="0" tIns="0" rIns="0" bIns="0" rtlCol="0" anchor="t">
            <a:spAutoFit/>
          </a:bodyPr>
          <a:lstStyle/>
          <a:p>
            <a:pPr algn="r" rtl="1">
              <a:lnSpc>
                <a:spcPts val="2697"/>
              </a:lnSpc>
            </a:pPr>
            <a:r>
              <a:rPr lang="he-IL" sz="2699">
                <a:solidFill>
                  <a:srgbClr val="000000"/>
                </a:solidFill>
                <a:latin typeface="Calibri (MS)"/>
                <a:ea typeface="Calibri (MS)"/>
                <a:cs typeface="Calibri (MS)"/>
                <a:sym typeface="Calibri (MS)"/>
                <a:rtl/>
              </a:rPr>
              <a:t>ניוזלטר מס’ </a:t>
            </a:r>
            <a:r>
              <a:rPr lang="en-US" sz="2699">
                <a:solidFill>
                  <a:srgbClr val="000000"/>
                </a:solidFill>
                <a:latin typeface="Calibri (MS)"/>
                <a:ea typeface="Calibri (MS)"/>
                <a:cs typeface="Calibri (MS)"/>
                <a:sym typeface="Calibri (MS)"/>
              </a:rPr>
              <a:t>2</a:t>
            </a:r>
          </a:p>
          <a:p>
            <a:pPr algn="r" rtl="1">
              <a:lnSpc>
                <a:spcPts val="2697"/>
              </a:lnSpc>
            </a:pPr>
            <a:r>
              <a:rPr lang="he-IL" sz="2699">
                <a:solidFill>
                  <a:srgbClr val="000000"/>
                </a:solidFill>
                <a:latin typeface="Calibri (MS)"/>
                <a:ea typeface="Calibri (MS)"/>
                <a:cs typeface="Calibri (MS)"/>
                <a:sym typeface="Calibri (MS)"/>
                <a:rtl/>
              </a:rPr>
              <a:t>יאפריל </a:t>
            </a:r>
            <a:r>
              <a:rPr lang="en-US" sz="2699">
                <a:solidFill>
                  <a:srgbClr val="000000"/>
                </a:solidFill>
                <a:latin typeface="Calibri (MS)"/>
                <a:ea typeface="Calibri (MS)"/>
                <a:cs typeface="Calibri (MS)"/>
                <a:sym typeface="Calibri (MS)"/>
              </a:rPr>
              <a:t>2025</a:t>
            </a:r>
          </a:p>
          <a:p>
            <a:pPr algn="l">
              <a:lnSpc>
                <a:spcPts val="2497"/>
              </a:lnSpc>
            </a:pPr>
            <a:endParaRPr lang="en-US" sz="2699">
              <a:solidFill>
                <a:srgbClr val="000000"/>
              </a:solidFill>
              <a:latin typeface="Calibri (MS)"/>
              <a:ea typeface="Calibri (MS)"/>
              <a:cs typeface="Calibri (MS)"/>
              <a:sym typeface="Calibri (MS)"/>
            </a:endParaRPr>
          </a:p>
          <a:p>
            <a:pPr algn="r" rtl="1">
              <a:lnSpc>
                <a:spcPts val="2698"/>
              </a:lnSpc>
            </a:pPr>
            <a:r>
              <a:rPr lang="he-IL" sz="2699" b="1" u="sng">
                <a:solidFill>
                  <a:srgbClr val="0F55F1"/>
                </a:solidFill>
                <a:latin typeface="Calibri (MS) Bold"/>
                <a:ea typeface="Calibri (MS) Bold"/>
                <a:cs typeface="Calibri (MS) Bold"/>
                <a:sym typeface="Calibri (MS) Bold"/>
                <a:hlinkClick r:id="rId5" tooltip="https://mailchi.mp/0363f4ed156e/southup-newsletter-jan-17613554"/>
                <a:rtl/>
              </a:rPr>
              <a:t>להורדה</a:t>
            </a:r>
          </a:p>
        </p:txBody>
      </p:sp>
      <p:sp>
        <p:nvSpPr>
          <p:cNvPr id="22" name="TextBox 22"/>
          <p:cNvSpPr txBox="1"/>
          <p:nvPr/>
        </p:nvSpPr>
        <p:spPr>
          <a:xfrm>
            <a:off x="7548747" y="4456056"/>
            <a:ext cx="2471267" cy="1383273"/>
          </a:xfrm>
          <a:prstGeom prst="rect">
            <a:avLst/>
          </a:prstGeom>
        </p:spPr>
        <p:txBody>
          <a:bodyPr lIns="0" tIns="0" rIns="0" bIns="0" rtlCol="0" anchor="t">
            <a:spAutoFit/>
          </a:bodyPr>
          <a:lstStyle/>
          <a:p>
            <a:pPr algn="r" rtl="1">
              <a:lnSpc>
                <a:spcPts val="2697"/>
              </a:lnSpc>
            </a:pPr>
            <a:r>
              <a:rPr lang="he-IL" sz="2699">
                <a:solidFill>
                  <a:srgbClr val="000000"/>
                </a:solidFill>
                <a:latin typeface="Calibri (MS)"/>
                <a:ea typeface="Calibri (MS)"/>
                <a:cs typeface="Calibri (MS)"/>
                <a:sym typeface="Calibri (MS)"/>
                <a:rtl/>
              </a:rPr>
              <a:t>ניוזלטר מס’ </a:t>
            </a:r>
            <a:r>
              <a:rPr lang="en-US" sz="2699">
                <a:solidFill>
                  <a:srgbClr val="000000"/>
                </a:solidFill>
                <a:latin typeface="Calibri (MS)"/>
                <a:ea typeface="Calibri (MS)"/>
                <a:cs typeface="Calibri (MS)"/>
                <a:sym typeface="Calibri (MS)"/>
              </a:rPr>
              <a:t>3</a:t>
            </a:r>
          </a:p>
          <a:p>
            <a:pPr algn="r" rtl="1">
              <a:lnSpc>
                <a:spcPts val="2697"/>
              </a:lnSpc>
            </a:pPr>
            <a:r>
              <a:rPr lang="he-IL" sz="2699">
                <a:solidFill>
                  <a:srgbClr val="000000"/>
                </a:solidFill>
                <a:latin typeface="Calibri (MS)"/>
                <a:ea typeface="Calibri (MS)"/>
                <a:cs typeface="Calibri (MS)"/>
                <a:sym typeface="Calibri (MS)"/>
                <a:rtl/>
              </a:rPr>
              <a:t>יולי </a:t>
            </a:r>
            <a:r>
              <a:rPr lang="en-US" sz="2699">
                <a:solidFill>
                  <a:srgbClr val="000000"/>
                </a:solidFill>
                <a:latin typeface="Calibri (MS)"/>
                <a:ea typeface="Calibri (MS)"/>
                <a:cs typeface="Calibri (MS)"/>
                <a:sym typeface="Calibri (MS)"/>
              </a:rPr>
              <a:t>2025</a:t>
            </a:r>
          </a:p>
          <a:p>
            <a:pPr algn="l">
              <a:lnSpc>
                <a:spcPts val="2497"/>
              </a:lnSpc>
            </a:pPr>
            <a:endParaRPr lang="en-US" sz="2699">
              <a:solidFill>
                <a:srgbClr val="000000"/>
              </a:solidFill>
              <a:latin typeface="Calibri (MS)"/>
              <a:ea typeface="Calibri (MS)"/>
              <a:cs typeface="Calibri (MS)"/>
              <a:sym typeface="Calibri (MS)"/>
            </a:endParaRPr>
          </a:p>
          <a:p>
            <a:pPr algn="r" rtl="1">
              <a:lnSpc>
                <a:spcPts val="2698"/>
              </a:lnSpc>
            </a:pPr>
            <a:r>
              <a:rPr lang="he-IL" sz="2699" b="1" u="sng">
                <a:solidFill>
                  <a:srgbClr val="0F55F1"/>
                </a:solidFill>
                <a:latin typeface="Calibri (MS) Bold"/>
                <a:ea typeface="Calibri (MS) Bold"/>
                <a:cs typeface="Calibri (MS) Bold"/>
                <a:sym typeface="Calibri (MS) Bold"/>
                <a:hlinkClick r:id="rId6" tooltip="https://mailchi.mp/3374abd174db/southup-newsletter-jan-17615889"/>
                <a:rtl/>
              </a:rPr>
              <a:t>להורדה</a:t>
            </a:r>
          </a:p>
        </p:txBody>
      </p:sp>
      <p:sp>
        <p:nvSpPr>
          <p:cNvPr id="23" name="TextBox 23"/>
          <p:cNvSpPr txBox="1"/>
          <p:nvPr/>
        </p:nvSpPr>
        <p:spPr>
          <a:xfrm>
            <a:off x="4098770" y="4456056"/>
            <a:ext cx="2471267" cy="1383273"/>
          </a:xfrm>
          <a:prstGeom prst="rect">
            <a:avLst/>
          </a:prstGeom>
        </p:spPr>
        <p:txBody>
          <a:bodyPr lIns="0" tIns="0" rIns="0" bIns="0" rtlCol="0" anchor="t">
            <a:spAutoFit/>
          </a:bodyPr>
          <a:lstStyle/>
          <a:p>
            <a:pPr algn="r" rtl="1">
              <a:lnSpc>
                <a:spcPts val="2697"/>
              </a:lnSpc>
            </a:pPr>
            <a:r>
              <a:rPr lang="he-IL" sz="2699">
                <a:solidFill>
                  <a:srgbClr val="000000"/>
                </a:solidFill>
                <a:latin typeface="Calibri (MS)"/>
                <a:ea typeface="Calibri (MS)"/>
                <a:cs typeface="Calibri (MS)"/>
                <a:sym typeface="Calibri (MS)"/>
                <a:hlinkClick r:id="rId7" tooltip="https://drive.google.com/file/d/1sdxzvuWBxSBYqv-jyUi3rWVzdwAJAHip/view?usp=sharing"/>
                <a:rtl/>
              </a:rPr>
              <a:t>ניוזלטר מס’ </a:t>
            </a:r>
            <a:r>
              <a:rPr lang="en-US" sz="2699">
                <a:solidFill>
                  <a:srgbClr val="000000"/>
                </a:solidFill>
                <a:latin typeface="Calibri (MS)"/>
                <a:ea typeface="Calibri (MS)"/>
                <a:cs typeface="Calibri (MS)"/>
                <a:sym typeface="Calibri (MS)"/>
                <a:hlinkClick r:id="rId7" tooltip="https://drive.google.com/file/d/1sdxzvuWBxSBYqv-jyUi3rWVzdwAJAHip/view?usp=sharing"/>
              </a:rPr>
              <a:t>4</a:t>
            </a:r>
          </a:p>
          <a:p>
            <a:pPr algn="r" rtl="1">
              <a:lnSpc>
                <a:spcPts val="2697"/>
              </a:lnSpc>
            </a:pPr>
            <a:r>
              <a:rPr lang="he-IL" sz="2699">
                <a:solidFill>
                  <a:srgbClr val="000000"/>
                </a:solidFill>
                <a:latin typeface="Calibri (MS)"/>
                <a:ea typeface="Calibri (MS)"/>
                <a:cs typeface="Calibri (MS)"/>
                <a:sym typeface="Calibri (MS)"/>
                <a:hlinkClick r:id="rId7" tooltip="https://drive.google.com/file/d/1sdxzvuWBxSBYqv-jyUi3rWVzdwAJAHip/view?usp=sharing"/>
                <a:rtl/>
              </a:rPr>
              <a:t>ידצמבר </a:t>
            </a:r>
            <a:r>
              <a:rPr lang="en-US" sz="2699">
                <a:solidFill>
                  <a:srgbClr val="000000"/>
                </a:solidFill>
                <a:latin typeface="Calibri (MS)"/>
                <a:ea typeface="Calibri (MS)"/>
                <a:cs typeface="Calibri (MS)"/>
                <a:sym typeface="Calibri (MS)"/>
                <a:hlinkClick r:id="rId7" tooltip="https://drive.google.com/file/d/1sdxzvuWBxSBYqv-jyUi3rWVzdwAJAHip/view?usp=sharing"/>
              </a:rPr>
              <a:t>2025</a:t>
            </a:r>
          </a:p>
          <a:p>
            <a:pPr algn="l">
              <a:lnSpc>
                <a:spcPts val="2497"/>
              </a:lnSpc>
            </a:pPr>
            <a:endParaRPr lang="en-US" sz="2699">
              <a:solidFill>
                <a:srgbClr val="000000"/>
              </a:solidFill>
              <a:latin typeface="Calibri (MS)"/>
              <a:ea typeface="Calibri (MS)"/>
              <a:cs typeface="Calibri (MS)"/>
              <a:sym typeface="Calibri (MS)"/>
              <a:hlinkClick r:id="rId7" tooltip="https://drive.google.com/file/d/1sdxzvuWBxSBYqv-jyUi3rWVzdwAJAHip/view?usp=sharing"/>
            </a:endParaRPr>
          </a:p>
          <a:p>
            <a:pPr algn="r" rtl="1">
              <a:lnSpc>
                <a:spcPts val="2698"/>
              </a:lnSpc>
            </a:pPr>
            <a:r>
              <a:rPr lang="he-IL" sz="2699" b="1">
                <a:solidFill>
                  <a:srgbClr val="0F55F1"/>
                </a:solidFill>
                <a:latin typeface="Calibri (MS) Bold"/>
                <a:ea typeface="Calibri (MS) Bold"/>
                <a:cs typeface="Calibri (MS) Bold"/>
                <a:sym typeface="Calibri (MS) Bold"/>
                <a:hlinkClick r:id="rId7" tooltip="https://drive.google.com/file/d/1sdxzvuWBxSBYqv-jyUi3rWVzdwAJAHip/view?usp=sharing"/>
                <a:rtl/>
              </a:rPr>
              <a:t>להורדה</a:t>
            </a:r>
          </a:p>
        </p:txBody>
      </p:sp>
      <p:sp>
        <p:nvSpPr>
          <p:cNvPr id="24" name="TextBox 24"/>
          <p:cNvSpPr txBox="1"/>
          <p:nvPr/>
        </p:nvSpPr>
        <p:spPr>
          <a:xfrm>
            <a:off x="646428" y="4456056"/>
            <a:ext cx="2471267" cy="1364223"/>
          </a:xfrm>
          <a:prstGeom prst="rect">
            <a:avLst/>
          </a:prstGeom>
        </p:spPr>
        <p:txBody>
          <a:bodyPr lIns="0" tIns="0" rIns="0" bIns="0" rtlCol="0" anchor="t">
            <a:spAutoFit/>
          </a:bodyPr>
          <a:lstStyle/>
          <a:p>
            <a:pPr algn="r" rtl="1">
              <a:lnSpc>
                <a:spcPts val="2697"/>
              </a:lnSpc>
            </a:pPr>
            <a:r>
              <a:rPr lang="he-IL" sz="2699">
                <a:solidFill>
                  <a:srgbClr val="000000"/>
                </a:solidFill>
                <a:latin typeface="Calibri (MS)"/>
                <a:ea typeface="Calibri (MS)"/>
                <a:cs typeface="Calibri (MS)"/>
                <a:sym typeface="Calibri (MS)"/>
                <a:hlinkClick r:id="rId7" tooltip="https://drive.google.com/file/d/1sdxzvuWBxSBYqv-jyUi3rWVzdwAJAHip/view?usp=sharing"/>
                <a:rtl/>
              </a:rPr>
              <a:t>ניוזלטר מס’ </a:t>
            </a:r>
            <a:r>
              <a:rPr lang="en-US" sz="2699">
                <a:solidFill>
                  <a:srgbClr val="000000"/>
                </a:solidFill>
                <a:latin typeface="Calibri (MS)"/>
                <a:ea typeface="Calibri (MS)"/>
                <a:cs typeface="Calibri (MS)"/>
                <a:sym typeface="Calibri (MS)"/>
              </a:rPr>
              <a:t>5</a:t>
            </a:r>
          </a:p>
          <a:p>
            <a:pPr algn="l">
              <a:lnSpc>
                <a:spcPts val="2497"/>
              </a:lnSpc>
            </a:pPr>
            <a:r>
              <a:rPr lang="he-IL" sz="2499">
                <a:solidFill>
                  <a:srgbClr val="000000"/>
                </a:solidFill>
                <a:latin typeface="Calibri (MS)"/>
                <a:ea typeface="Calibri (MS)"/>
                <a:cs typeface="Calibri (MS)"/>
                <a:sym typeface="Calibri (MS)"/>
                <a:hlinkClick r:id="rId7" tooltip="https://drive.google.com/file/d/1sdxzvuWBxSBYqv-jyUi3rWVzdwAJAHip/view?usp=sharing"/>
                <a:rtl/>
              </a:rPr>
              <a:t>אפריך </a:t>
            </a:r>
            <a:r>
              <a:rPr lang="en-US" sz="2499">
                <a:solidFill>
                  <a:srgbClr val="000000"/>
                </a:solidFill>
                <a:latin typeface="Calibri (MS)"/>
                <a:ea typeface="Calibri (MS)"/>
                <a:cs typeface="Calibri (MS)"/>
                <a:sym typeface="Calibri (MS)"/>
                <a:hlinkClick r:id="rId7" tooltip="https://drive.google.com/file/d/1sdxzvuWBxSBYqv-jyUi3rWVzdwAJAHip/view?usp=sharing"/>
              </a:rPr>
              <a:t>2026 </a:t>
            </a:r>
          </a:p>
          <a:p>
            <a:pPr algn="l">
              <a:lnSpc>
                <a:spcPts val="2497"/>
              </a:lnSpc>
            </a:pPr>
            <a:endParaRPr lang="en-US" sz="2499">
              <a:solidFill>
                <a:srgbClr val="000000"/>
              </a:solidFill>
              <a:latin typeface="Calibri (MS)"/>
              <a:ea typeface="Calibri (MS)"/>
              <a:cs typeface="Calibri (MS)"/>
              <a:sym typeface="Calibri (MS)"/>
              <a:hlinkClick r:id="rId7" tooltip="https://drive.google.com/file/d/1sdxzvuWBxSBYqv-jyUi3rWVzdwAJAHip/view?usp=sharing"/>
            </a:endParaRPr>
          </a:p>
          <a:p>
            <a:pPr algn="r" rtl="1">
              <a:lnSpc>
                <a:spcPts val="2698"/>
              </a:lnSpc>
            </a:pPr>
            <a:r>
              <a:rPr lang="he-IL" sz="2699" b="1" u="sng">
                <a:solidFill>
                  <a:srgbClr val="0F55F1"/>
                </a:solidFill>
                <a:latin typeface="Calibri (MS) Bold"/>
                <a:ea typeface="Calibri (MS) Bold"/>
                <a:cs typeface="Calibri (MS) Bold"/>
                <a:sym typeface="Calibri (MS) Bold"/>
                <a:hlinkClick r:id="rId8" tooltip="https://drive.google.com/file/d/1bcNBxTnqgv6HmqUVrRwnwEC8WZ8XYUdP/view?usp=sharing"/>
                <a:rtl/>
              </a:rPr>
              <a:t>להורדה</a:t>
            </a:r>
          </a:p>
        </p:txBody>
      </p:sp>
      <p:grpSp>
        <p:nvGrpSpPr>
          <p:cNvPr id="25" name="Group 25"/>
          <p:cNvGrpSpPr/>
          <p:nvPr/>
        </p:nvGrpSpPr>
        <p:grpSpPr>
          <a:xfrm>
            <a:off x="1020155" y="9438183"/>
            <a:ext cx="2097540" cy="655808"/>
            <a:chOff x="0" y="0"/>
            <a:chExt cx="552438" cy="172723"/>
          </a:xfrm>
        </p:grpSpPr>
        <p:sp>
          <p:nvSpPr>
            <p:cNvPr id="26" name="Freeform 26"/>
            <p:cNvSpPr/>
            <p:nvPr/>
          </p:nvSpPr>
          <p:spPr>
            <a:xfrm>
              <a:off x="0" y="0"/>
              <a:ext cx="552438" cy="172723"/>
            </a:xfrm>
            <a:custGeom>
              <a:avLst/>
              <a:gdLst/>
              <a:ahLst/>
              <a:cxnLst/>
              <a:rect l="l" t="t" r="r" b="b"/>
              <a:pathLst>
                <a:path w="552438" h="172723">
                  <a:moveTo>
                    <a:pt x="86362" y="0"/>
                  </a:moveTo>
                  <a:lnTo>
                    <a:pt x="466077" y="0"/>
                  </a:lnTo>
                  <a:cubicBezTo>
                    <a:pt x="513773" y="0"/>
                    <a:pt x="552438" y="38665"/>
                    <a:pt x="552438" y="86362"/>
                  </a:cubicBezTo>
                  <a:lnTo>
                    <a:pt x="552438" y="86362"/>
                  </a:lnTo>
                  <a:cubicBezTo>
                    <a:pt x="552438" y="134058"/>
                    <a:pt x="513773" y="172723"/>
                    <a:pt x="466077" y="172723"/>
                  </a:cubicBezTo>
                  <a:lnTo>
                    <a:pt x="86362" y="172723"/>
                  </a:lnTo>
                  <a:cubicBezTo>
                    <a:pt x="38665" y="172723"/>
                    <a:pt x="0" y="134058"/>
                    <a:pt x="0" y="86362"/>
                  </a:cubicBezTo>
                  <a:lnTo>
                    <a:pt x="0" y="86362"/>
                  </a:lnTo>
                  <a:cubicBezTo>
                    <a:pt x="0" y="38665"/>
                    <a:pt x="38665" y="0"/>
                    <a:pt x="86362" y="0"/>
                  </a:cubicBezTo>
                  <a:close/>
                </a:path>
              </a:pathLst>
            </a:custGeom>
            <a:solidFill>
              <a:srgbClr val="FF8C0A"/>
            </a:solidFill>
            <a:ln w="19050" cap="rnd">
              <a:solidFill>
                <a:srgbClr val="EFE3E3"/>
              </a:solidFill>
              <a:prstDash val="sysDot"/>
              <a:round/>
            </a:ln>
          </p:spPr>
          <p:txBody>
            <a:bodyPr/>
            <a:lstStyle/>
            <a:p>
              <a:endParaRPr lang="he-IL"/>
            </a:p>
          </p:txBody>
        </p:sp>
        <p:sp>
          <p:nvSpPr>
            <p:cNvPr id="27" name="TextBox 27"/>
            <p:cNvSpPr txBox="1"/>
            <p:nvPr/>
          </p:nvSpPr>
          <p:spPr>
            <a:xfrm>
              <a:off x="0" y="-47625"/>
              <a:ext cx="552438" cy="220348"/>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הירשמו לניולזטר </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9050"/>
            <a:ext cx="18783463" cy="4196514"/>
            <a:chOff x="0" y="0"/>
            <a:chExt cx="4947085" cy="1105255"/>
          </a:xfrm>
        </p:grpSpPr>
        <p:sp>
          <p:nvSpPr>
            <p:cNvPr id="3" name="Freeform 3"/>
            <p:cNvSpPr/>
            <p:nvPr/>
          </p:nvSpPr>
          <p:spPr>
            <a:xfrm>
              <a:off x="0" y="0"/>
              <a:ext cx="4947085" cy="1105255"/>
            </a:xfrm>
            <a:custGeom>
              <a:avLst/>
              <a:gdLst/>
              <a:ahLst/>
              <a:cxnLst/>
              <a:rect l="l" t="t" r="r" b="b"/>
              <a:pathLst>
                <a:path w="4947085" h="1105255">
                  <a:moveTo>
                    <a:pt x="0" y="0"/>
                  </a:moveTo>
                  <a:lnTo>
                    <a:pt x="4947085" y="0"/>
                  </a:lnTo>
                  <a:lnTo>
                    <a:pt x="4947085" y="1105255"/>
                  </a:lnTo>
                  <a:lnTo>
                    <a:pt x="0" y="1105255"/>
                  </a:lnTo>
                  <a:close/>
                </a:path>
              </a:pathLst>
            </a:custGeom>
            <a:solidFill>
              <a:srgbClr val="483F2B"/>
            </a:solidFill>
          </p:spPr>
          <p:txBody>
            <a:bodyPr/>
            <a:lstStyle/>
            <a:p>
              <a:endParaRPr lang="he-IL"/>
            </a:p>
          </p:txBody>
        </p:sp>
        <p:sp>
          <p:nvSpPr>
            <p:cNvPr id="4" name="TextBox 4"/>
            <p:cNvSpPr txBox="1"/>
            <p:nvPr/>
          </p:nvSpPr>
          <p:spPr>
            <a:xfrm>
              <a:off x="0" y="-47625"/>
              <a:ext cx="4947085" cy="115288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098613" y="3140889"/>
            <a:ext cx="2205073" cy="498268"/>
            <a:chOff x="0" y="0"/>
            <a:chExt cx="580760" cy="131231"/>
          </a:xfrm>
        </p:grpSpPr>
        <p:sp>
          <p:nvSpPr>
            <p:cNvPr id="6" name="Freeform 6"/>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solidFill>
              <a:srgbClr val="FF8C0A"/>
            </a:solidFill>
            <a:ln w="19050" cap="rnd">
              <a:solidFill>
                <a:srgbClr val="EFE3E3"/>
              </a:solidFill>
              <a:prstDash val="sysDot"/>
              <a:round/>
            </a:ln>
          </p:spPr>
          <p:txBody>
            <a:bodyPr/>
            <a:lstStyle/>
            <a:p>
              <a:endParaRPr lang="he-IL"/>
            </a:p>
          </p:txBody>
        </p:sp>
        <p:sp>
          <p:nvSpPr>
            <p:cNvPr id="7" name="TextBox 7"/>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אירועים בחממה</a:t>
              </a:r>
            </a:p>
          </p:txBody>
        </p:sp>
      </p:grpSp>
      <p:grpSp>
        <p:nvGrpSpPr>
          <p:cNvPr id="8" name="Group 8"/>
          <p:cNvGrpSpPr/>
          <p:nvPr/>
        </p:nvGrpSpPr>
        <p:grpSpPr>
          <a:xfrm>
            <a:off x="5162250" y="3121839"/>
            <a:ext cx="2205073" cy="498268"/>
            <a:chOff x="0" y="0"/>
            <a:chExt cx="580760" cy="131231"/>
          </a:xfrm>
        </p:grpSpPr>
        <p:sp>
          <p:nvSpPr>
            <p:cNvPr id="9" name="Freeform 9"/>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10" name="TextBox 10"/>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en-US" sz="1899">
                  <a:solidFill>
                    <a:srgbClr val="000000"/>
                  </a:solidFill>
                  <a:latin typeface="Arimo"/>
                  <a:ea typeface="Arimo"/>
                  <a:cs typeface="Arimo"/>
                  <a:sym typeface="Arimo"/>
                </a:rPr>
                <a:t>SouthUp</a:t>
              </a:r>
              <a:r>
                <a:rPr lang="he-IL" sz="1899">
                  <a:solidFill>
                    <a:srgbClr val="000000"/>
                  </a:solidFill>
                  <a:latin typeface="Arimo"/>
                  <a:ea typeface="Arimo"/>
                  <a:cs typeface="Arimo"/>
                  <a:sym typeface="Arimo"/>
                  <a:rtl/>
                </a:rPr>
                <a:t> בתקשורת</a:t>
              </a:r>
            </a:p>
          </p:txBody>
        </p:sp>
      </p:grpSp>
      <p:grpSp>
        <p:nvGrpSpPr>
          <p:cNvPr id="11" name="Group 11"/>
          <p:cNvGrpSpPr/>
          <p:nvPr/>
        </p:nvGrpSpPr>
        <p:grpSpPr>
          <a:xfrm>
            <a:off x="2102062" y="3121839"/>
            <a:ext cx="2205073" cy="498268"/>
            <a:chOff x="0" y="0"/>
            <a:chExt cx="580760" cy="131231"/>
          </a:xfrm>
        </p:grpSpPr>
        <p:sp>
          <p:nvSpPr>
            <p:cNvPr id="12" name="Freeform 12"/>
            <p:cNvSpPr/>
            <p:nvPr/>
          </p:nvSpPr>
          <p:spPr>
            <a:xfrm>
              <a:off x="0" y="0"/>
              <a:ext cx="580760" cy="131231"/>
            </a:xfrm>
            <a:custGeom>
              <a:avLst/>
              <a:gdLst/>
              <a:ahLst/>
              <a:cxnLst/>
              <a:rect l="l" t="t" r="r" b="b"/>
              <a:pathLst>
                <a:path w="580760" h="131231">
                  <a:moveTo>
                    <a:pt x="65616" y="0"/>
                  </a:moveTo>
                  <a:lnTo>
                    <a:pt x="515145" y="0"/>
                  </a:lnTo>
                  <a:cubicBezTo>
                    <a:pt x="532547" y="0"/>
                    <a:pt x="549236" y="6913"/>
                    <a:pt x="561542" y="19218"/>
                  </a:cubicBezTo>
                  <a:cubicBezTo>
                    <a:pt x="573847" y="31524"/>
                    <a:pt x="580760" y="48213"/>
                    <a:pt x="580760" y="65616"/>
                  </a:cubicBezTo>
                  <a:lnTo>
                    <a:pt x="580760" y="65616"/>
                  </a:lnTo>
                  <a:cubicBezTo>
                    <a:pt x="580760" y="101854"/>
                    <a:pt x="551383" y="131231"/>
                    <a:pt x="515145" y="131231"/>
                  </a:cubicBezTo>
                  <a:lnTo>
                    <a:pt x="65616" y="131231"/>
                  </a:lnTo>
                  <a:cubicBezTo>
                    <a:pt x="29377" y="131231"/>
                    <a:pt x="0" y="101854"/>
                    <a:pt x="0" y="65616"/>
                  </a:cubicBezTo>
                  <a:lnTo>
                    <a:pt x="0" y="65616"/>
                  </a:lnTo>
                  <a:cubicBezTo>
                    <a:pt x="0" y="29377"/>
                    <a:pt x="29377" y="0"/>
                    <a:pt x="65616" y="0"/>
                  </a:cubicBezTo>
                  <a:close/>
                </a:path>
              </a:pathLst>
            </a:custGeom>
            <a:ln w="19050" cap="rnd">
              <a:solidFill>
                <a:srgbClr val="EFE3E3"/>
              </a:solidFill>
              <a:prstDash val="sysDot"/>
              <a:round/>
            </a:ln>
          </p:spPr>
          <p:txBody>
            <a:bodyPr/>
            <a:lstStyle/>
            <a:p>
              <a:endParaRPr lang="he-IL"/>
            </a:p>
          </p:txBody>
        </p:sp>
        <p:sp>
          <p:nvSpPr>
            <p:cNvPr id="13" name="TextBox 13"/>
            <p:cNvSpPr txBox="1"/>
            <p:nvPr/>
          </p:nvSpPr>
          <p:spPr>
            <a:xfrm>
              <a:off x="0" y="-47625"/>
              <a:ext cx="580760" cy="178856"/>
            </a:xfrm>
            <a:prstGeom prst="rect">
              <a:avLst/>
            </a:prstGeom>
          </p:spPr>
          <p:txBody>
            <a:bodyPr lIns="50800" tIns="50800" rIns="50800" bIns="50800" rtlCol="0" anchor="ctr"/>
            <a:lstStyle/>
            <a:p>
              <a:pPr algn="ctr" rtl="1">
                <a:lnSpc>
                  <a:spcPts val="2659"/>
                </a:lnSpc>
              </a:pPr>
              <a:r>
                <a:rPr lang="he-IL" sz="1899">
                  <a:solidFill>
                    <a:srgbClr val="000000"/>
                  </a:solidFill>
                  <a:latin typeface="Arimo"/>
                  <a:ea typeface="Arimo"/>
                  <a:cs typeface="Arimo"/>
                  <a:sym typeface="Arimo"/>
                  <a:rtl/>
                </a:rPr>
                <a:t>הניולזטר שלנו</a:t>
              </a:r>
            </a:p>
          </p:txBody>
        </p:sp>
      </p:grpSp>
      <p:sp>
        <p:nvSpPr>
          <p:cNvPr id="14" name="Freeform 14"/>
          <p:cNvSpPr/>
          <p:nvPr/>
        </p:nvSpPr>
        <p:spPr>
          <a:xfrm>
            <a:off x="13966339" y="4925199"/>
            <a:ext cx="3608492" cy="3898019"/>
          </a:xfrm>
          <a:custGeom>
            <a:avLst/>
            <a:gdLst/>
            <a:ahLst/>
            <a:cxnLst/>
            <a:rect l="l" t="t" r="r" b="b"/>
            <a:pathLst>
              <a:path w="3608492" h="3898019">
                <a:moveTo>
                  <a:pt x="0" y="0"/>
                </a:moveTo>
                <a:lnTo>
                  <a:pt x="3608492" y="0"/>
                </a:lnTo>
                <a:lnTo>
                  <a:pt x="3608492" y="3898019"/>
                </a:lnTo>
                <a:lnTo>
                  <a:pt x="0" y="3898019"/>
                </a:lnTo>
                <a:lnTo>
                  <a:pt x="0" y="0"/>
                </a:lnTo>
                <a:close/>
              </a:path>
            </a:pathLst>
          </a:custGeom>
          <a:blipFill>
            <a:blip r:embed="rId2"/>
            <a:stretch>
              <a:fillRect/>
            </a:stretch>
          </a:blipFill>
        </p:spPr>
        <p:txBody>
          <a:bodyPr/>
          <a:lstStyle/>
          <a:p>
            <a:endParaRPr lang="he-IL"/>
          </a:p>
        </p:txBody>
      </p:sp>
      <p:sp>
        <p:nvSpPr>
          <p:cNvPr id="15" name="Freeform 15"/>
          <p:cNvSpPr/>
          <p:nvPr/>
        </p:nvSpPr>
        <p:spPr>
          <a:xfrm>
            <a:off x="6901433" y="5143500"/>
            <a:ext cx="4980597" cy="3561127"/>
          </a:xfrm>
          <a:custGeom>
            <a:avLst/>
            <a:gdLst/>
            <a:ahLst/>
            <a:cxnLst/>
            <a:rect l="l" t="t" r="r" b="b"/>
            <a:pathLst>
              <a:path w="4980597" h="3561127">
                <a:moveTo>
                  <a:pt x="0" y="0"/>
                </a:moveTo>
                <a:lnTo>
                  <a:pt x="4980597" y="0"/>
                </a:lnTo>
                <a:lnTo>
                  <a:pt x="4980597" y="3561127"/>
                </a:lnTo>
                <a:lnTo>
                  <a:pt x="0" y="3561127"/>
                </a:lnTo>
                <a:lnTo>
                  <a:pt x="0" y="0"/>
                </a:lnTo>
                <a:close/>
              </a:path>
            </a:pathLst>
          </a:custGeom>
          <a:blipFill>
            <a:blip r:embed="rId3"/>
            <a:stretch>
              <a:fillRect/>
            </a:stretch>
          </a:blipFill>
        </p:spPr>
        <p:txBody>
          <a:bodyPr/>
          <a:lstStyle/>
          <a:p>
            <a:endParaRPr lang="he-IL"/>
          </a:p>
        </p:txBody>
      </p:sp>
      <p:sp>
        <p:nvSpPr>
          <p:cNvPr id="16" name="TextBox 16"/>
          <p:cNvSpPr txBox="1"/>
          <p:nvPr/>
        </p:nvSpPr>
        <p:spPr>
          <a:xfrm>
            <a:off x="10812804" y="666750"/>
            <a:ext cx="6762027" cy="2330573"/>
          </a:xfrm>
          <a:prstGeom prst="rect">
            <a:avLst/>
          </a:prstGeom>
        </p:spPr>
        <p:txBody>
          <a:bodyPr lIns="0" tIns="0" rIns="0" bIns="0" rtlCol="0" anchor="t">
            <a:spAutoFit/>
          </a:bodyPr>
          <a:lstStyle/>
          <a:p>
            <a:pPr algn="r" rtl="1">
              <a:lnSpc>
                <a:spcPts val="8363"/>
              </a:lnSpc>
            </a:pPr>
            <a:r>
              <a:rPr lang="he-IL" sz="8199" b="1" spc="-213">
                <a:solidFill>
                  <a:srgbClr val="FF8700"/>
                </a:solidFill>
                <a:latin typeface="Calibri (MS) Bold"/>
                <a:ea typeface="Calibri (MS) Bold"/>
                <a:cs typeface="Calibri (MS) Bold"/>
                <a:sym typeface="Calibri (MS) Bold"/>
                <a:rtl/>
              </a:rPr>
              <a:t>חדשות </a:t>
            </a:r>
          </a:p>
          <a:p>
            <a:pPr algn="r" rtl="1">
              <a:lnSpc>
                <a:spcPts val="8363"/>
              </a:lnSpc>
            </a:pPr>
            <a:r>
              <a:rPr lang="he-IL" sz="8199" b="1" spc="-213">
                <a:solidFill>
                  <a:srgbClr val="FFFFFF"/>
                </a:solidFill>
                <a:latin typeface="Calibri (MS) Bold"/>
                <a:ea typeface="Calibri (MS) Bold"/>
                <a:cs typeface="Calibri (MS) Bold"/>
                <a:sym typeface="Calibri (MS) Bold"/>
                <a:rtl/>
              </a:rPr>
              <a:t>ואירועים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339658"/>
            <a:ext cx="16943716" cy="6604000"/>
          </a:xfrm>
          <a:prstGeom prst="rect">
            <a:avLst/>
          </a:prstGeom>
        </p:spPr>
        <p:txBody>
          <a:bodyPr lIns="0" tIns="0" rIns="0" bIns="0" rtlCol="0" anchor="t">
            <a:spAutoFit/>
          </a:bodyPr>
          <a:lstStyle/>
          <a:p>
            <a:pPr algn="r" rtl="1">
              <a:lnSpc>
                <a:spcPts val="3499"/>
              </a:lnSpc>
              <a:spcBef>
                <a:spcPct val="0"/>
              </a:spcBef>
            </a:pPr>
            <a:r>
              <a:rPr lang="he-IL" sz="2499" b="1">
                <a:solidFill>
                  <a:srgbClr val="000000"/>
                </a:solidFill>
                <a:latin typeface="Calibri (MS) Bold"/>
                <a:ea typeface="Calibri (MS) Bold"/>
                <a:cs typeface="Calibri (MS) Bold"/>
                <a:sym typeface="Calibri (MS) Bold"/>
                <a:rtl/>
              </a:rPr>
              <a:t>קרן ההון סיכון </a:t>
            </a:r>
            <a:r>
              <a:rPr lang="en-US" sz="2499" b="1">
                <a:solidFill>
                  <a:srgbClr val="000000"/>
                </a:solidFill>
                <a:latin typeface="Calibri (MS) Bold"/>
                <a:ea typeface="Calibri (MS) Bold"/>
                <a:cs typeface="Calibri (MS) Bold"/>
                <a:sym typeface="Calibri (MS) Bold"/>
              </a:rPr>
              <a:t>Ofir-SouthUp Ventuers</a:t>
            </a:r>
            <a:r>
              <a:rPr lang="he-IL" sz="2499" b="1">
                <a:solidFill>
                  <a:srgbClr val="000000"/>
                </a:solidFill>
                <a:latin typeface="Calibri (MS) Bold"/>
                <a:ea typeface="Calibri (MS) Bold"/>
                <a:cs typeface="Calibri (MS) Bold"/>
                <a:sym typeface="Calibri (MS) Bold"/>
                <a:rtl/>
              </a:rPr>
              <a:t> הוקמה על ידי </a:t>
            </a:r>
            <a:r>
              <a:rPr lang="en-US" sz="2499" b="1">
                <a:solidFill>
                  <a:srgbClr val="000000"/>
                </a:solidFill>
                <a:latin typeface="Calibri (MS) Bold"/>
                <a:ea typeface="Calibri (MS) Bold"/>
                <a:cs typeface="Calibri (MS) Bold"/>
                <a:sym typeface="Calibri (MS) Bold"/>
              </a:rPr>
              <a:t>SouthUp</a:t>
            </a:r>
            <a:r>
              <a:rPr lang="he-IL" sz="2499" b="1">
                <a:solidFill>
                  <a:srgbClr val="000000"/>
                </a:solidFill>
                <a:latin typeface="Calibri (MS) Bold"/>
                <a:ea typeface="Calibri (MS) Bold"/>
                <a:cs typeface="Calibri (MS) Bold"/>
                <a:sym typeface="Calibri (MS) Bold"/>
                <a:rtl/>
              </a:rPr>
              <a:t> במטרה להשקיע בחברות סטארט-אפ הפועלות בנגב המערבי.</a:t>
            </a:r>
          </a:p>
          <a:p>
            <a:pPr algn="r" rtl="1">
              <a:lnSpc>
                <a:spcPts val="3499"/>
              </a:lnSpc>
              <a:spcBef>
                <a:spcPct val="0"/>
              </a:spcBef>
            </a:pPr>
            <a:endParaRPr lang="he-IL" sz="2499" b="1">
              <a:solidFill>
                <a:srgbClr val="000000"/>
              </a:solidFill>
              <a:latin typeface="Calibri (MS) Bold"/>
              <a:ea typeface="Calibri (MS) Bold"/>
              <a:cs typeface="Calibri (MS) Bold"/>
              <a:sym typeface="Calibri (MS) Bold"/>
              <a:rtl/>
            </a:endParaRPr>
          </a:p>
          <a:p>
            <a:pPr algn="r" rtl="1">
              <a:lnSpc>
                <a:spcPts val="3499"/>
              </a:lnSpc>
              <a:spcBef>
                <a:spcPct val="0"/>
              </a:spcBef>
            </a:pPr>
            <a:r>
              <a:rPr lang="he-IL" sz="2499">
                <a:solidFill>
                  <a:srgbClr val="000000"/>
                </a:solidFill>
                <a:latin typeface="Calibri (MS)"/>
                <a:ea typeface="Calibri (MS)"/>
                <a:cs typeface="Calibri (MS)"/>
                <a:sym typeface="Calibri (MS)"/>
                <a:rtl/>
              </a:rPr>
              <a:t>הקרן מיועדת לחברות סטארט אפ בתחומי פעילות שונים בשלבי </a:t>
            </a:r>
            <a:r>
              <a:rPr lang="en-US" sz="2499">
                <a:solidFill>
                  <a:srgbClr val="000000"/>
                </a:solidFill>
                <a:latin typeface="Calibri (MS)"/>
                <a:ea typeface="Calibri (MS)"/>
                <a:cs typeface="Calibri (MS)"/>
                <a:sym typeface="Calibri (MS)"/>
              </a:rPr>
              <a:t>Pre-seed, Seed</a:t>
            </a:r>
            <a:r>
              <a:rPr lang="he-IL" sz="2499">
                <a:solidFill>
                  <a:srgbClr val="000000"/>
                </a:solidFill>
                <a:latin typeface="Calibri (MS)"/>
                <a:ea typeface="Calibri (MS)"/>
                <a:cs typeface="Calibri (MS)"/>
                <a:sym typeface="Calibri (MS)"/>
                <a:rtl/>
              </a:rPr>
              <a:t> ו-</a:t>
            </a:r>
            <a:r>
              <a:rPr lang="en-US" sz="2499">
                <a:solidFill>
                  <a:srgbClr val="000000"/>
                </a:solidFill>
                <a:latin typeface="Calibri (MS)"/>
                <a:ea typeface="Calibri (MS)"/>
                <a:cs typeface="Calibri (MS)"/>
                <a:sym typeface="Calibri (MS)"/>
              </a:rPr>
              <a:t>A Round</a:t>
            </a:r>
            <a:r>
              <a:rPr lang="he-IL" sz="2499">
                <a:solidFill>
                  <a:srgbClr val="000000"/>
                </a:solidFill>
                <a:latin typeface="Calibri (MS)"/>
                <a:ea typeface="Calibri (MS)"/>
                <a:cs typeface="Calibri (MS)"/>
                <a:sym typeface="Calibri (MS)"/>
                <a:rtl/>
              </a:rPr>
              <a:t> ומשלימה בכך את תוספת מענק רשות החדשנות אשר עומדת על היקף מוגדל של </a:t>
            </a:r>
            <a:r>
              <a:rPr lang="en-US" sz="2499">
                <a:solidFill>
                  <a:srgbClr val="000000"/>
                </a:solidFill>
                <a:latin typeface="Calibri (MS)"/>
                <a:ea typeface="Calibri (MS)"/>
                <a:cs typeface="Calibri (MS)"/>
                <a:sym typeface="Calibri (MS)"/>
              </a:rPr>
              <a:t>72%</a:t>
            </a:r>
            <a:r>
              <a:rPr lang="he-IL" sz="2499">
                <a:solidFill>
                  <a:srgbClr val="000000"/>
                </a:solidFill>
                <a:latin typeface="Calibri (MS)"/>
                <a:ea typeface="Calibri (MS)"/>
                <a:cs typeface="Calibri (MS)"/>
                <a:sym typeface="Calibri (MS)"/>
                <a:rtl/>
              </a:rPr>
              <a:t> מתקציב המו"פ (איזור פיתוח א’). הקרן פתוחה לחברות הפועלות בנגב המערבי — בתוך </a:t>
            </a:r>
            <a:r>
              <a:rPr lang="en-US" sz="2499">
                <a:solidFill>
                  <a:srgbClr val="000000"/>
                </a:solidFill>
                <a:latin typeface="Calibri (MS)"/>
                <a:ea typeface="Calibri (MS)"/>
                <a:cs typeface="Calibri (MS)"/>
                <a:sym typeface="Calibri (MS)"/>
              </a:rPr>
              <a:t>SouthUp</a:t>
            </a:r>
            <a:r>
              <a:rPr lang="he-IL" sz="2499">
                <a:solidFill>
                  <a:srgbClr val="000000"/>
                </a:solidFill>
                <a:latin typeface="Calibri (MS)"/>
                <a:ea typeface="Calibri (MS)"/>
                <a:cs typeface="Calibri (MS)"/>
                <a:sym typeface="Calibri (MS)"/>
                <a:rtl/>
              </a:rPr>
              <a:t>, מחוצה לה, וכן לחברות המתכננות להעתיק את פעילותן לאזור.</a:t>
            </a:r>
          </a:p>
          <a:p>
            <a:pPr algn="r" rtl="1">
              <a:lnSpc>
                <a:spcPts val="3499"/>
              </a:lnSpc>
              <a:spcBef>
                <a:spcPct val="0"/>
              </a:spcBef>
            </a:pPr>
            <a:endParaRPr lang="he-IL" sz="2499">
              <a:solidFill>
                <a:srgbClr val="000000"/>
              </a:solidFill>
              <a:latin typeface="Calibri (MS)"/>
              <a:ea typeface="Calibri (MS)"/>
              <a:cs typeface="Calibri (MS)"/>
              <a:sym typeface="Calibri (MS)"/>
              <a:rtl/>
            </a:endParaRPr>
          </a:p>
          <a:p>
            <a:pPr algn="r" rtl="1">
              <a:lnSpc>
                <a:spcPts val="3499"/>
              </a:lnSpc>
              <a:spcBef>
                <a:spcPct val="0"/>
              </a:spcBef>
            </a:pPr>
            <a:r>
              <a:rPr lang="he-IL" sz="2499">
                <a:solidFill>
                  <a:srgbClr val="000000"/>
                </a:solidFill>
                <a:latin typeface="Calibri (MS)"/>
                <a:ea typeface="Calibri (MS)"/>
                <a:cs typeface="Calibri (MS)"/>
                <a:sym typeface="Calibri (MS)"/>
                <a:rtl/>
              </a:rPr>
              <a:t>את הקרן מוביל צוות בעל ניסיון רב המשלב בין יזמים ובעלי תפקידים בכירים מהאזור יחד עם מומחי הון סיכון ומשפט מסחרי בינלאומי עתיר ניסיון. יו”ר הקרן הוא ד”ר עמי אפלבאום, אשר שימש כיו”ר רשות החדשנות ולפני כן מילא שורה ארוכה של תפקידי ניהול בתאגידים אמריקאיים טכנולוגיים מובילים. ולצידו איתי הורשטוק, שעמד בראש מספר קרנות הון סיכון ישראליות ואמריקאיות. </a:t>
            </a:r>
          </a:p>
          <a:p>
            <a:pPr algn="r" rtl="1">
              <a:lnSpc>
                <a:spcPts val="3499"/>
              </a:lnSpc>
              <a:spcBef>
                <a:spcPct val="0"/>
              </a:spcBef>
            </a:pPr>
            <a:r>
              <a:rPr lang="he-IL" sz="2499">
                <a:solidFill>
                  <a:srgbClr val="000000"/>
                </a:solidFill>
                <a:latin typeface="Calibri (MS)"/>
                <a:ea typeface="Calibri (MS)"/>
                <a:cs typeface="Calibri (MS)"/>
                <a:sym typeface="Calibri (MS)"/>
                <a:rtl/>
              </a:rPr>
              <a:t>חברי דירקטוריון מונה אישים בכירים הנחשבים מעמודי התווך של תעשיית ההייטק הישראלית. </a:t>
            </a:r>
          </a:p>
          <a:p>
            <a:pPr algn="r" rtl="1">
              <a:lnSpc>
                <a:spcPts val="3499"/>
              </a:lnSpc>
              <a:spcBef>
                <a:spcPct val="0"/>
              </a:spcBef>
            </a:pPr>
            <a:endParaRPr lang="he-IL" sz="2499">
              <a:solidFill>
                <a:srgbClr val="000000"/>
              </a:solidFill>
              <a:latin typeface="Calibri (MS)"/>
              <a:ea typeface="Calibri (MS)"/>
              <a:cs typeface="Calibri (MS)"/>
              <a:sym typeface="Calibri (MS)"/>
              <a:rtl/>
            </a:endParaRPr>
          </a:p>
          <a:p>
            <a:pPr algn="r" rtl="1">
              <a:lnSpc>
                <a:spcPts val="3499"/>
              </a:lnSpc>
              <a:spcBef>
                <a:spcPct val="0"/>
              </a:spcBef>
            </a:pPr>
            <a:r>
              <a:rPr lang="he-IL" sz="2499">
                <a:solidFill>
                  <a:srgbClr val="000000"/>
                </a:solidFill>
                <a:latin typeface="Calibri (MS)"/>
                <a:ea typeface="Calibri (MS)"/>
                <a:cs typeface="Calibri (MS)"/>
                <a:sym typeface="Calibri (MS)"/>
                <a:rtl/>
              </a:rPr>
              <a:t>הקרן נקראת על שמו של ראש מועצת שער הנגב, אופיר ליבשטיין ז"ל, שפעל ללא לאות לעודד יזמות וחדשנות בנגב המערבי ונפל בהגנה על קיבוצו כפר עזה ב - </a:t>
            </a:r>
            <a:r>
              <a:rPr lang="en-US" sz="2499">
                <a:solidFill>
                  <a:srgbClr val="000000"/>
                </a:solidFill>
                <a:latin typeface="Calibri (MS)"/>
                <a:ea typeface="Calibri (MS)"/>
                <a:cs typeface="Calibri (MS)"/>
                <a:sym typeface="Calibri (MS)"/>
              </a:rPr>
              <a:t>7</a:t>
            </a:r>
            <a:r>
              <a:rPr lang="he-IL" sz="2499">
                <a:solidFill>
                  <a:srgbClr val="000000"/>
                </a:solidFill>
                <a:latin typeface="Calibri (MS)"/>
                <a:ea typeface="Calibri (MS)"/>
                <a:cs typeface="Calibri (MS)"/>
                <a:sym typeface="Calibri (MS)"/>
                <a:rtl/>
              </a:rPr>
              <a:t> באוקטובר.</a:t>
            </a:r>
          </a:p>
          <a:p>
            <a:pPr algn="r" rtl="1">
              <a:lnSpc>
                <a:spcPts val="3499"/>
              </a:lnSpc>
              <a:spcBef>
                <a:spcPct val="0"/>
              </a:spcBef>
            </a:pPr>
            <a:endParaRPr lang="he-IL" sz="2499">
              <a:solidFill>
                <a:srgbClr val="000000"/>
              </a:solidFill>
              <a:latin typeface="Calibri (MS)"/>
              <a:ea typeface="Calibri (MS)"/>
              <a:cs typeface="Calibri (MS)"/>
              <a:sym typeface="Calibri (MS)"/>
              <a:rtl/>
            </a:endParaRPr>
          </a:p>
          <a:p>
            <a:pPr algn="r" rtl="1">
              <a:lnSpc>
                <a:spcPts val="3499"/>
              </a:lnSpc>
              <a:spcBef>
                <a:spcPct val="0"/>
              </a:spcBef>
            </a:pPr>
            <a:r>
              <a:rPr lang="he-IL" sz="2499">
                <a:solidFill>
                  <a:srgbClr val="000000"/>
                </a:solidFill>
                <a:latin typeface="Calibri (MS)"/>
                <a:ea typeface="Calibri (MS)"/>
                <a:cs typeface="Calibri (MS)"/>
                <a:sym typeface="Calibri (MS)"/>
                <a:rtl/>
              </a:rPr>
              <a:t>לאתר </a:t>
            </a:r>
            <a:r>
              <a:rPr lang="en-US" sz="2499">
                <a:solidFill>
                  <a:srgbClr val="000000"/>
                </a:solidFill>
                <a:latin typeface="Calibri (MS)"/>
                <a:ea typeface="Calibri (MS)"/>
                <a:cs typeface="Calibri (MS)"/>
                <a:sym typeface="Calibri (MS)"/>
              </a:rPr>
              <a:t>Ofir-SouthUp Venturs</a:t>
            </a:r>
            <a:r>
              <a:rPr lang="he-IL" sz="2499">
                <a:solidFill>
                  <a:srgbClr val="000000"/>
                </a:solidFill>
                <a:latin typeface="Calibri (MS)"/>
                <a:ea typeface="Calibri (MS)"/>
                <a:cs typeface="Calibri (MS)"/>
                <a:sym typeface="Calibri (MS)"/>
                <a:rtl/>
              </a:rPr>
              <a:t> - לחץ </a:t>
            </a:r>
            <a:r>
              <a:rPr lang="he-IL" sz="2499" u="sng">
                <a:solidFill>
                  <a:srgbClr val="000000"/>
                </a:solidFill>
                <a:latin typeface="Calibri (MS)"/>
                <a:ea typeface="Calibri (MS)"/>
                <a:cs typeface="Calibri (MS)"/>
                <a:sym typeface="Calibri (MS)"/>
                <a:hlinkClick r:id="rId2" tooltip="https://ofirsouthup.vc"/>
                <a:rtl/>
              </a:rPr>
              <a:t>כאן </a:t>
            </a:r>
          </a:p>
        </p:txBody>
      </p:sp>
      <p:grpSp>
        <p:nvGrpSpPr>
          <p:cNvPr id="3" name="Group 3"/>
          <p:cNvGrpSpPr/>
          <p:nvPr/>
        </p:nvGrpSpPr>
        <p:grpSpPr>
          <a:xfrm>
            <a:off x="0" y="0"/>
            <a:ext cx="18783463" cy="3331253"/>
            <a:chOff x="0" y="0"/>
            <a:chExt cx="4947085" cy="877367"/>
          </a:xfrm>
        </p:grpSpPr>
        <p:sp>
          <p:nvSpPr>
            <p:cNvPr id="4" name="Freeform 4"/>
            <p:cNvSpPr/>
            <p:nvPr/>
          </p:nvSpPr>
          <p:spPr>
            <a:xfrm>
              <a:off x="0" y="0"/>
              <a:ext cx="4947085" cy="877367"/>
            </a:xfrm>
            <a:custGeom>
              <a:avLst/>
              <a:gdLst/>
              <a:ahLst/>
              <a:cxnLst/>
              <a:rect l="l" t="t" r="r" b="b"/>
              <a:pathLst>
                <a:path w="4947085" h="877367">
                  <a:moveTo>
                    <a:pt x="0" y="0"/>
                  </a:moveTo>
                  <a:lnTo>
                    <a:pt x="4947085" y="0"/>
                  </a:lnTo>
                  <a:lnTo>
                    <a:pt x="4947085" y="877367"/>
                  </a:lnTo>
                  <a:lnTo>
                    <a:pt x="0" y="877367"/>
                  </a:lnTo>
                  <a:close/>
                </a:path>
              </a:pathLst>
            </a:custGeom>
            <a:solidFill>
              <a:srgbClr val="483F2B"/>
            </a:solidFill>
          </p:spPr>
          <p:txBody>
            <a:bodyPr/>
            <a:lstStyle/>
            <a:p>
              <a:endParaRPr lang="he-IL"/>
            </a:p>
          </p:txBody>
        </p:sp>
        <p:sp>
          <p:nvSpPr>
            <p:cNvPr id="5" name="TextBox 5"/>
            <p:cNvSpPr txBox="1"/>
            <p:nvPr/>
          </p:nvSpPr>
          <p:spPr>
            <a:xfrm>
              <a:off x="0" y="-47625"/>
              <a:ext cx="4947085" cy="92499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557127" y="589302"/>
            <a:ext cx="11216523" cy="2124074"/>
          </a:xfrm>
          <a:prstGeom prst="rect">
            <a:avLst/>
          </a:prstGeom>
        </p:spPr>
        <p:txBody>
          <a:bodyPr lIns="0" tIns="0" rIns="0" bIns="0" rtlCol="0" anchor="t">
            <a:spAutoFit/>
          </a:bodyPr>
          <a:lstStyle/>
          <a:p>
            <a:pPr algn="just" rtl="1">
              <a:lnSpc>
                <a:spcPts val="7649"/>
              </a:lnSpc>
            </a:pPr>
            <a:r>
              <a:rPr lang="he-IL" sz="7499" b="1" spc="-194">
                <a:solidFill>
                  <a:srgbClr val="FF8700"/>
                </a:solidFill>
                <a:latin typeface="Calibri (MS) Bold"/>
                <a:ea typeface="Calibri (MS) Bold"/>
                <a:cs typeface="Calibri (MS) Bold"/>
                <a:sym typeface="Calibri (MS) Bold"/>
                <a:rtl/>
              </a:rPr>
              <a:t>קרן ההשקעות </a:t>
            </a:r>
          </a:p>
          <a:p>
            <a:pPr algn="just">
              <a:lnSpc>
                <a:spcPts val="7649"/>
              </a:lnSpc>
            </a:pPr>
            <a:r>
              <a:rPr lang="en-US" sz="7499" b="1" spc="-194">
                <a:solidFill>
                  <a:srgbClr val="FFFFFF"/>
                </a:solidFill>
                <a:latin typeface="Calibri (MS) Bold"/>
                <a:ea typeface="Calibri (MS) Bold"/>
                <a:cs typeface="Calibri (MS) Bold"/>
                <a:sym typeface="Calibri (MS) Bold"/>
              </a:rPr>
              <a:t>Ofir-SouthUp Ventures</a:t>
            </a:r>
          </a:p>
        </p:txBody>
      </p:sp>
      <p:grpSp>
        <p:nvGrpSpPr>
          <p:cNvPr id="7" name="Group 7"/>
          <p:cNvGrpSpPr/>
          <p:nvPr/>
        </p:nvGrpSpPr>
        <p:grpSpPr>
          <a:xfrm>
            <a:off x="394507" y="417941"/>
            <a:ext cx="6365188" cy="938864"/>
            <a:chOff x="0" y="0"/>
            <a:chExt cx="5453971" cy="804460"/>
          </a:xfrm>
        </p:grpSpPr>
        <p:sp>
          <p:nvSpPr>
            <p:cNvPr id="8" name="Freeform 8"/>
            <p:cNvSpPr/>
            <p:nvPr/>
          </p:nvSpPr>
          <p:spPr>
            <a:xfrm>
              <a:off x="0" y="0"/>
              <a:ext cx="5454015" cy="804418"/>
            </a:xfrm>
            <a:custGeom>
              <a:avLst/>
              <a:gdLst/>
              <a:ahLst/>
              <a:cxnLst/>
              <a:rect l="l" t="t" r="r" b="b"/>
              <a:pathLst>
                <a:path w="5454015" h="804418">
                  <a:moveTo>
                    <a:pt x="0" y="0"/>
                  </a:moveTo>
                  <a:lnTo>
                    <a:pt x="5454015" y="0"/>
                  </a:lnTo>
                  <a:lnTo>
                    <a:pt x="5454015" y="804418"/>
                  </a:lnTo>
                  <a:lnTo>
                    <a:pt x="0" y="804418"/>
                  </a:lnTo>
                  <a:lnTo>
                    <a:pt x="0" y="0"/>
                  </a:lnTo>
                  <a:close/>
                </a:path>
              </a:pathLst>
            </a:custGeom>
            <a:blipFill>
              <a:blip r:embed="rId3"/>
              <a:stretch>
                <a:fillRect t="-317" b="-323"/>
              </a:stretch>
            </a:blipFill>
          </p:spPr>
          <p:txBody>
            <a:bodyPr/>
            <a:lstStyle/>
            <a:p>
              <a:endParaRPr lang="he-IL"/>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2052</Words>
  <Application>Microsoft Office PowerPoint</Application>
  <PresentationFormat>מותאם אישית</PresentationFormat>
  <Paragraphs>410</Paragraphs>
  <Slides>18</Slides>
  <Notes>4</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18</vt:i4>
      </vt:variant>
    </vt:vector>
  </HeadingPairs>
  <TitlesOfParts>
    <vt:vector size="28" baseType="lpstr">
      <vt:lpstr>Arial</vt:lpstr>
      <vt:lpstr>Caldina Bold</vt:lpstr>
      <vt:lpstr>Open Sans Bold</vt:lpstr>
      <vt:lpstr>Calibri (MS)</vt:lpstr>
      <vt:lpstr>Calibri (MS) Bold</vt:lpstr>
      <vt:lpstr>Caldina</vt:lpstr>
      <vt:lpstr>Arimo</vt:lpstr>
      <vt:lpstr>Calibri</vt:lpstr>
      <vt:lpstr>Arimo Bold</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version of the SU website </dc:title>
  <cp:lastModifiedBy>Gil Kraiem</cp:lastModifiedBy>
  <cp:revision>1</cp:revision>
  <dcterms:created xsi:type="dcterms:W3CDTF">2006-08-16T00:00:00Z</dcterms:created>
  <dcterms:modified xsi:type="dcterms:W3CDTF">2026-05-24T10:00:37Z</dcterms:modified>
  <dc:identifier>DAHII_CRq4A</dc:identifier>
</cp:coreProperties>
</file>